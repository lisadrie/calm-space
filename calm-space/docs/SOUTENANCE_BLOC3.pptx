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75" r:id="rId26"/>
    <p:sldId id="260" r:id="rId6"/>
    <p:sldId id="261" r:id="rId7"/>
    <p:sldId id="262" r:id="rId8"/>
    <p:sldId id="263" r:id="rId9"/>
    <p:sldId id="264" r:id="rId10"/>
    <p:sldId id="265" r:id="rId11"/>
    <p:sldId id="266" r:id="rId12"/>
    <p:sldId id="274" r:id="rId25"/>
    <p:sldId id="267" r:id="rId13"/>
    <p:sldId id="276" r:id="rId27"/>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4.xml"/><Relationship Id="rId14" Type="http://schemas.openxmlformats.org/officeDocument/2006/relationships/slide" Target="slides/slide16.xml"/><Relationship Id="rId15" Type="http://schemas.openxmlformats.org/officeDocument/2006/relationships/slide" Target="slides/slide17.xml"/><Relationship Id="rId16" Type="http://schemas.openxmlformats.org/officeDocument/2006/relationships/slide" Target="slides/slide18.xml"/><Relationship Id="rId17" Type="http://schemas.openxmlformats.org/officeDocument/2006/relationships/slide" Target="slides/slide19.xml"/><Relationship Id="rId18" Type="http://schemas.openxmlformats.org/officeDocument/2006/relationships/slide" Target="slides/slide20.xml"/><Relationship Id="rId19" Type="http://schemas.openxmlformats.org/officeDocument/2006/relationships/slide" Target="slides/slide21.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slide" Target="slides/slide13.xml"/><Relationship Id="rId26" Type="http://schemas.openxmlformats.org/officeDocument/2006/relationships/slide" Target="slides/slide5.xml"/><Relationship Id="rId27"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présenter : Lisa Drie, Renoir&amp;Aline. Rappeler que ce Bloc 3 porte sur le déploiement, la maintenance et la sécurisation de CalmSpace, application de gestion du stress pour le Ministère.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Annoncer le plan. Insister : une chaîne complète du code jusqu’à la production sécurisée, avec planning, budget et perspectives.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clé à marteler : les émotions et le stress sont des DONNÉES DE SANTÉ, donc sensibles au sens de l’article 9 du RGPD. Cela justifie une sécurisation renforcée. Les 3 livrables du Bloc 3 sont à droite.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Expliquer : 3 conteneurs isolés qui communiquent sur un réseau privé Docker. Reproductible : une commande, la base s’initialise seule. C’est l’environnement de TEST réellement configuré. La production réutiliserait la même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Montrer le dépôt : les branches, la Pull Request fusionnée, l'historique des commits. Conventional Commits = le type de changement est lisible dès le message (feat, fix, ci, docs), ce qui permet de filtrer l'historique et de rédiger une note de livraison. Secrets : le fichier .env est git-ignoré — si la clé JWT fuitait, n'importe qui pourrait forger un jeton valide. La règle une branche par ticket Jira s'appliquera en phase de maintenance.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Dérouler le schéma de gauche à droite : du code local jusqu’aux conteneurs qui tournent. Insister sur l’étape 3 — c’est l’automatisation qui garantit qu’aucune régression ne passe — et sur la boucle du bas : un test rouge bloque la 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étape : je développe en local, je lance les tests sur ma machine, puis je valide mon travail par un commit sur une branche dédiée. La branche master n’est jamais modifiée directement.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J’envoie ma branche sur GitHub avec git push, puis j’ouvre une Pull Request : c’est la demande officielle de fusion vers master, qui permet la relecture du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chaque push ou Pull Request, GitHub Actions lance automatiquement deux jobs en parallèle : le backend (analyse de code et 43 tests) et le frontend (compilation). Le résultat conditionne la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 point de contrôle : si tout est au vert, la fusion vers master est autorisée. Si un seul test échoue, GitHub bloque la fusion. C’est ce qui garantit qu’aucune régression n’arrive sur la branche principale.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déploiement se fait avec une seule commande : Docker construit et démarre les 3 conteneurs sur un réseau privé, et la base initialise son schéma automatiquement. C’est ce qui rend l’environnement reproductible.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délais (SLA) reprennent exactement le cahier des charges. Bien préciser : Jira est un outil INTERNE client/prestataire ; l’utilisateur final passe par un formulaire de contact, il n’accède pas à Jira.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 pas lire les six cartes : annoncer la méthode (11 risques notés probabilité × impact sur la grille OWASP) puis citer deux ou trois mesures concrètes du code. Terminer sur la ligne du bas : ce qui est déjà en place et ce qui reste à faire en production.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Prestation réalisée en 1 mois. Présenter les acteurs : côté prestataire Renoir&amp;Aline, côté client le référent DSI et le DPO. Puis dérouler les 4 semaines : cadrage et environnement, automatisation, maintenance, sécurisation, et la livraison avec recette client. Terminer sur les indicateurs du bas : 3 livrables, 43 tests, 0 vulnérabilité.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Détail de l'enveloppe : 142 jours-hommes, trois profils, un TJM par profil. Ne pas lire la table ligne à ligne — donner les trois masses : environ deux tiers de développement et de tests, un cinquième d'analyse et de pilotage, le reste en déploiement et sécurisation. Préciser que le Bloc 3 (déploiement, sécurisation, documentation) représente 20 jours, soit 11 500 €, ce qui correspond au mois de prestation du planning.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projet ne s’arrête pas à la livraison : maintenance corrective et évolutive, veille continue, et évolutions futures (production, montée en charge, mobile). Relier au plan de maintenance.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Enchaîner les 3 démonstrations en direct. Préparer les onglets à l’avance : GitHub (PR), le terminal Docker + navigateur, Jira. Avoir des captures de secours au cas où.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Résumer les 3 apports. Terminer sur la sécurité des données de santé (le point le plus valorisé). Remercier et inviter aux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de synthèse : à gauche, la chaîne réellement en place (PR relue -&gt; GitHub Actions -&gt; images Docker -&gt; recette puis production). À droite, la question qu'on nous posera : « et si ça casse ? ». Insister sur les 4 filets de sécurité : la CI rouge bloque la fusion, git revert ramène master à l'état stable, les images Docker permettent de relancer la version précédente, et la sauvegarde PostgreSQL couvre les données.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environnements. Le développement ne passe pas par Docker (npm run dev) ; la recette et la production, si. Insister sur la colonne du milieu : c'est le seul environnement réellement configuré, et c'est celui de la démonstration. Le schéma SQL n'est joué qu'au tout premier démarrage, quand le volume PostgreSQL est vide. La production est décrite comme cible : hébergeur UE certifié HDS (données de santé), nom de domaine, HTTPS, secrets injectés en variables d'environnement, sauvegardes et supervision.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Bien séparer les deux : un incident se corrige sous SLA et c'est compris dans le forfait ; une évolution passe par une analyse, un chiffrage et l'accord du client. C'est la distinction que le jury attend sur la maintenance.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C29"/>
        </a:solidFill>
      </p:bgPr>
    </p:bg>
    <p:spTree>
      <p:nvGrpSpPr>
        <p:cNvPr id="1" name=""/>
        <p:cNvGrpSpPr/>
        <p:nvPr/>
      </p:nvGrpSpPr>
      <p:grpSpPr>
        <a:xfrm>
          <a:off x="0" y="0"/>
          <a:ext cx="0" cy="0"/>
          <a:chOff x="0" y="0"/>
          <a:chExt cx="0" cy="0"/>
        </a:xfrm>
      </p:grpSpPr>
      <p:sp>
        <p:nvSpPr>
          <p:cNvPr id="2" name="Shape 0"/>
          <p:cNvSpPr/>
          <p:nvPr/>
        </p:nvSpPr>
        <p:spPr>
          <a:xfrm>
            <a:off x="8732520" y="0"/>
            <a:ext cx="3456432" cy="3977640"/>
          </a:xfrm>
          <a:prstGeom prst="rect">
            <a:avLst/>
          </a:prstGeom>
          <a:solidFill>
            <a:srgbClr val="13301F"/>
          </a:solidFill>
          <a:ln w="12700">
            <a:solidFill>
              <a:srgbClr val="13301F"/>
            </a:solidFill>
            <a:prstDash val="solid"/>
          </a:ln>
        </p:spPr>
      </p:sp>
      <p:sp>
        <p:nvSpPr>
          <p:cNvPr id="3" name="Shape 1"/>
          <p:cNvSpPr/>
          <p:nvPr/>
        </p:nvSpPr>
        <p:spPr>
          <a:xfrm>
            <a:off x="8732520" y="3977640"/>
            <a:ext cx="3456432" cy="2880360"/>
          </a:xfrm>
          <a:prstGeom prst="rect">
            <a:avLst/>
          </a:prstGeom>
          <a:solidFill>
            <a:srgbClr val="C3612D"/>
          </a:solidFill>
          <a:ln w="12700">
            <a:solidFill>
              <a:srgbClr val="C3612D"/>
            </a:solidFill>
            <a:prstDash val="solid"/>
          </a:ln>
        </p:spPr>
      </p:sp>
      <p:sp>
        <p:nvSpPr>
          <p:cNvPr id="4" name="Text 2"/>
          <p:cNvSpPr/>
          <p:nvPr/>
        </p:nvSpPr>
        <p:spPr>
          <a:xfrm>
            <a:off x="640080" y="1051560"/>
            <a:ext cx="7772400" cy="1097280"/>
          </a:xfrm>
          <a:prstGeom prst="rect">
            <a:avLst/>
          </a:prstGeom>
          <a:noFill/>
          <a:ln/>
        </p:spPr>
        <p:txBody>
          <a:bodyPr wrap="square" lIns="0" tIns="0" rIns="0" bIns="0" rtlCol="0" anchor="ctr"/>
          <a:lstStyle/>
          <a:p>
            <a:pPr indent="0" marL="0">
              <a:buNone/>
            </a:pPr>
            <a:r>
              <a:rPr lang="en-US" sz="4600" b="1" dirty="0">
                <a:solidFill>
                  <a:srgbClr val="FFFFFF"/>
                </a:solidFill>
                <a:latin typeface="Calibri" pitchFamily="34" charset="0"/>
                <a:ea typeface="Calibri" pitchFamily="34" charset="-122"/>
                <a:cs typeface="Calibri" pitchFamily="34" charset="-120"/>
              </a:rPr>
              <a:t>PROJET CESIZEN</a:t>
            </a:r>
            <a:endParaRPr lang="en-US" sz="4600" dirty="0"/>
          </a:p>
        </p:txBody>
      </p:sp>
      <p:sp>
        <p:nvSpPr>
          <p:cNvPr id="5" name="Text 3"/>
          <p:cNvSpPr/>
          <p:nvPr/>
        </p:nvSpPr>
        <p:spPr>
          <a:xfrm>
            <a:off x="658368" y="2331720"/>
            <a:ext cx="7315200" cy="640080"/>
          </a:xfrm>
          <a:prstGeom prst="rect">
            <a:avLst/>
          </a:prstGeom>
          <a:noFill/>
          <a:ln/>
        </p:spPr>
        <p:txBody>
          <a:bodyPr wrap="square" lIns="0" tIns="0" rIns="0" bIns="0" rtlCol="0" anchor="ctr"/>
          <a:lstStyle/>
          <a:p>
            <a:pPr indent="0" marL="0">
              <a:buNone/>
            </a:pPr>
            <a:r>
              <a:rPr lang="en-US" sz="2900" i="1" dirty="0">
                <a:solidFill>
                  <a:srgbClr val="C3612D"/>
                </a:solidFill>
                <a:latin typeface="Calibri" pitchFamily="34" charset="0"/>
                <a:ea typeface="Calibri" pitchFamily="34" charset="-122"/>
                <a:cs typeface="Calibri" pitchFamily="34" charset="-120"/>
              </a:rPr>
              <a:t>CalmSpace — Bloc 3</a:t>
            </a:r>
            <a:endParaRPr lang="en-US" sz="2900" dirty="0"/>
          </a:p>
        </p:txBody>
      </p:sp>
      <p:sp>
        <p:nvSpPr>
          <p:cNvPr id="6" name="Text 4"/>
          <p:cNvSpPr/>
          <p:nvPr/>
        </p:nvSpPr>
        <p:spPr>
          <a:xfrm>
            <a:off x="658368" y="3200400"/>
            <a:ext cx="7315200" cy="731520"/>
          </a:xfrm>
          <a:prstGeom prst="rect">
            <a:avLst/>
          </a:prstGeom>
          <a:noFill/>
          <a:ln/>
        </p:spPr>
        <p:txBody>
          <a:bodyPr wrap="square" lIns="0" tIns="0" rIns="0" bIns="0" rtlCol="0" anchor="ctr"/>
          <a:lstStyle/>
          <a:p>
            <a:pPr indent="0" marL="0">
              <a:buNone/>
            </a:pPr>
            <a:r>
              <a:rPr lang="en-US" sz="1800" dirty="0">
                <a:solidFill>
                  <a:srgbClr val="D9D2C7"/>
                </a:solidFill>
                <a:latin typeface="Calibri" pitchFamily="34" charset="0"/>
                <a:ea typeface="Calibri" pitchFamily="34" charset="-122"/>
                <a:cs typeface="Calibri" pitchFamily="34" charset="-120"/>
              </a:rPr>
              <a:t>Déployer et sécuriser les applications informatiques</a:t>
            </a:r>
            <a:endParaRPr lang="en-US" sz="1800" dirty="0"/>
          </a:p>
        </p:txBody>
      </p:sp>
      <p:sp>
        <p:nvSpPr>
          <p:cNvPr id="7" name="Shape 5"/>
          <p:cNvSpPr/>
          <p:nvPr/>
        </p:nvSpPr>
        <p:spPr>
          <a:xfrm>
            <a:off x="676656" y="4434840"/>
            <a:ext cx="822960" cy="54864"/>
          </a:xfrm>
          <a:prstGeom prst="rect">
            <a:avLst/>
          </a:prstGeom>
          <a:solidFill>
            <a:srgbClr val="C3612D"/>
          </a:solidFill>
          <a:ln w="12700">
            <a:solidFill>
              <a:srgbClr val="C3612D"/>
            </a:solidFill>
            <a:prstDash val="solid"/>
          </a:ln>
        </p:spPr>
      </p:sp>
      <p:sp>
        <p:nvSpPr>
          <p:cNvPr id="8" name="Text 6"/>
          <p:cNvSpPr/>
          <p:nvPr/>
        </p:nvSpPr>
        <p:spPr>
          <a:xfrm>
            <a:off x="640080" y="4709160"/>
            <a:ext cx="640080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RENOIR&amp;ALINE</a:t>
            </a:r>
            <a:endParaRPr lang="en-US" sz="1500" dirty="0"/>
          </a:p>
        </p:txBody>
      </p:sp>
      <p:sp>
        <p:nvSpPr>
          <p:cNvPr id="9" name="Text 7"/>
          <p:cNvSpPr/>
          <p:nvPr/>
        </p:nvSpPr>
        <p:spPr>
          <a:xfrm>
            <a:off x="658368" y="5074920"/>
            <a:ext cx="6400800" cy="274320"/>
          </a:xfrm>
          <a:prstGeom prst="rect">
            <a:avLst/>
          </a:prstGeom>
          <a:noFill/>
          <a:ln/>
        </p:spPr>
        <p:txBody>
          <a:bodyPr wrap="square" lIns="0" tIns="0" rIns="0" bIns="0" rtlCol="0" anchor="ctr"/>
          <a:lstStyle/>
          <a:p>
            <a:pPr indent="0" marL="0">
              <a:buNone/>
            </a:pPr>
            <a:r>
              <a:rPr lang="en-US" sz="1000" spc="300" kern="0" dirty="0">
                <a:solidFill>
                  <a:srgbClr val="8AA595"/>
                </a:solidFill>
                <a:latin typeface="Calibri" pitchFamily="34" charset="0"/>
                <a:ea typeface="Calibri" pitchFamily="34" charset="-122"/>
                <a:cs typeface="Calibri" pitchFamily="34" charset="-120"/>
              </a:rPr>
              <a:t>CONSTRUCTEUR DE SITE WEB</a:t>
            </a:r>
            <a:endParaRPr lang="en-US" sz="1000" dirty="0"/>
          </a:p>
        </p:txBody>
      </p:sp>
      <p:sp>
        <p:nvSpPr>
          <p:cNvPr id="10" name="Text 8"/>
          <p:cNvSpPr/>
          <p:nvPr/>
        </p:nvSpPr>
        <p:spPr>
          <a:xfrm>
            <a:off x="658368" y="6035040"/>
            <a:ext cx="7315200" cy="274320"/>
          </a:xfrm>
          <a:prstGeom prst="rect">
            <a:avLst/>
          </a:prstGeom>
          <a:noFill/>
          <a:ln/>
        </p:spPr>
        <p:txBody>
          <a:bodyPr wrap="square" lIns="0" tIns="0" rIns="0" bIns="0" rtlCol="0" anchor="ctr"/>
          <a:lstStyle/>
          <a:p>
            <a:pPr indent="0" marL="0">
              <a:buNone/>
            </a:pPr>
            <a:r>
              <a:rPr lang="en-US" sz="900" spc="200" kern="0" dirty="0">
                <a:solidFill>
                  <a:srgbClr val="6E8A78"/>
                </a:solidFill>
                <a:latin typeface="Calibri" pitchFamily="34" charset="0"/>
                <a:ea typeface="Calibri" pitchFamily="34" charset="-122"/>
                <a:cs typeface="Calibri" pitchFamily="34" charset="-120"/>
              </a:rPr>
              <a:t>MINISTÈRE DE LA SANTÉ ET DE LA PRÉVENTION</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ECE6"/>
        </a:solidFill>
      </p:bgPr>
    </p:bg>
    <p:spTree>
      <p:nvGrpSpPr>
        <p:cNvPr id="1" name=""/>
        <p:cNvGrpSpPr/>
        <p:nvPr/>
      </p:nvGrpSpPr>
      <p:grpSpPr>
        <a:xfrm>
          <a:off x="0" y="0"/>
          <a:ext cx="0" cy="0"/>
          <a:chOff x="0" y="0"/>
          <a:chExt cx="0" cy="0"/>
        </a:xfrm>
      </p:grpSpPr>
      <p:sp>
        <p:nvSpPr>
          <p:cNvPr id="2" name="Text 0"/>
          <p:cNvSpPr/>
          <p:nvPr/>
        </p:nvSpPr>
        <p:spPr>
          <a:xfrm>
            <a:off x="640080" y="457200"/>
            <a:ext cx="10058400" cy="822960"/>
          </a:xfrm>
          <a:prstGeom prst="rect">
            <a:avLst/>
          </a:prstGeom>
          <a:noFill/>
          <a:ln/>
        </p:spPr>
        <p:txBody>
          <a:bodyPr wrap="square" lIns="0" tIns="0" rIns="0" bIns="0" rtlCol="0" anchor="ctr"/>
          <a:lstStyle/>
          <a:p>
            <a:pPr indent="0" marL="0">
              <a:buNone/>
            </a:pPr>
            <a:r>
              <a:rPr lang="en-US" sz="3600" b="1" dirty="0">
                <a:solidFill>
                  <a:srgbClr val="1A3C29"/>
                </a:solidFill>
                <a:latin typeface="Calibri" pitchFamily="34" charset="0"/>
                <a:ea typeface="Calibri" pitchFamily="34" charset="-122"/>
                <a:cs typeface="Calibri" pitchFamily="34" charset="-120"/>
              </a:rPr>
              <a:t>Sommaire</a:t>
            </a:r>
            <a:endParaRPr lang="en-US" sz="3600" dirty="0"/>
          </a:p>
        </p:txBody>
      </p:sp>
      <p:sp>
        <p:nvSpPr>
          <p:cNvPr id="3" name="Shape 1"/>
          <p:cNvSpPr/>
          <p:nvPr/>
        </p:nvSpPr>
        <p:spPr>
          <a:xfrm>
            <a:off x="640080" y="1554480"/>
            <a:ext cx="82296" cy="4297680"/>
          </a:xfrm>
          <a:prstGeom prst="rect">
            <a:avLst/>
          </a:prstGeom>
          <a:solidFill>
            <a:srgbClr val="C3612D"/>
          </a:solidFill>
          <a:ln w="12700">
            <a:solidFill>
              <a:srgbClr val="C3612D"/>
            </a:solidFill>
            <a:prstDash val="solid"/>
          </a:ln>
        </p:spPr>
      </p:sp>
      <p:sp>
        <p:nvSpPr>
          <p:cNvPr id="4" name="Shape 2"/>
          <p:cNvSpPr/>
          <p:nvPr/>
        </p:nvSpPr>
        <p:spPr>
          <a:xfrm>
            <a:off x="914400" y="1554480"/>
            <a:ext cx="4846320" cy="713232"/>
          </a:xfrm>
          <a:prstGeom prst="roundRect">
            <a:avLst>
              <a:gd name="adj" fmla="val 7692"/>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5" name="Text 3"/>
          <p:cNvSpPr/>
          <p:nvPr/>
        </p:nvSpPr>
        <p:spPr>
          <a:xfrm>
            <a:off x="1143000" y="1554480"/>
            <a:ext cx="4480560" cy="713232"/>
          </a:xfrm>
          <a:prstGeom prst="rect">
            <a:avLst/>
          </a:prstGeom>
          <a:noFill/>
          <a:ln/>
        </p:spPr>
        <p:txBody>
          <a:bodyPr wrap="square" lIns="0" tIns="0" rIns="0" bIns="0" rtlCol="0" anchor="ctr"/>
          <a:lstStyle/>
          <a:p>
            <a:pPr indent="0" marL="0">
              <a:buNone/>
            </a:pPr>
            <a:r>
              <a:rPr lang="en-US" sz="1400" b="1" dirty="0">
                <a:solidFill>
                  <a:srgbClr val="C3612D"/>
                </a:solidFill>
                <a:latin typeface="Calibri" pitchFamily="34" charset="0"/>
                <a:ea typeface="Calibri" pitchFamily="34" charset="-122"/>
                <a:cs typeface="Calibri" pitchFamily="34" charset="-120"/>
              </a:rPr>
              <a:t>01  —  </a:t>
            </a:r>
            <a:pPr indent="0" marL="0">
              <a:buNone/>
            </a:pPr>
            <a:r>
              <a:rPr lang="en-US" sz="1400" b="1" dirty="0">
                <a:solidFill>
                  <a:srgbClr val="1A3C29"/>
                </a:solidFill>
                <a:latin typeface="Calibri" pitchFamily="34" charset="0"/>
                <a:ea typeface="Calibri" pitchFamily="34" charset="-122"/>
                <a:cs typeface="Calibri" pitchFamily="34" charset="-120"/>
              </a:rPr>
              <a:t>Contexte &amp; enjeux</a:t>
            </a:r>
            <a:endParaRPr lang="en-US" sz="1400" dirty="0"/>
          </a:p>
        </p:txBody>
      </p:sp>
      <p:sp>
        <p:nvSpPr>
          <p:cNvPr id="6" name="Shape 4"/>
          <p:cNvSpPr/>
          <p:nvPr/>
        </p:nvSpPr>
        <p:spPr>
          <a:xfrm>
            <a:off x="914400" y="2450592"/>
            <a:ext cx="4846320" cy="713232"/>
          </a:xfrm>
          <a:prstGeom prst="roundRect">
            <a:avLst>
              <a:gd name="adj" fmla="val 7692"/>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7" name="Text 5"/>
          <p:cNvSpPr/>
          <p:nvPr/>
        </p:nvSpPr>
        <p:spPr>
          <a:xfrm>
            <a:off x="1143000" y="2450592"/>
            <a:ext cx="4480560" cy="713232"/>
          </a:xfrm>
          <a:prstGeom prst="rect">
            <a:avLst/>
          </a:prstGeom>
          <a:noFill/>
          <a:ln/>
        </p:spPr>
        <p:txBody>
          <a:bodyPr wrap="square" lIns="0" tIns="0" rIns="0" bIns="0" rtlCol="0" anchor="ctr"/>
          <a:lstStyle/>
          <a:p>
            <a:pPr indent="0" marL="0">
              <a:buNone/>
            </a:pPr>
            <a:r>
              <a:rPr lang="en-US" sz="1400" b="1" dirty="0">
                <a:solidFill>
                  <a:srgbClr val="C3612D"/>
                </a:solidFill>
                <a:latin typeface="Calibri" pitchFamily="34" charset="0"/>
                <a:ea typeface="Calibri" pitchFamily="34" charset="-122"/>
                <a:cs typeface="Calibri" pitchFamily="34" charset="-120"/>
              </a:rPr>
              <a:t>02  —  </a:t>
            </a:r>
            <a:pPr indent="0" marL="0">
              <a:buNone/>
            </a:pPr>
            <a:r>
              <a:rPr lang="en-US" sz="1400" dirty="0">
                <a:solidFill>
                  <a:srgbClr val="1A3C29"/>
                </a:solidFill>
                <a:latin typeface="Calibri" pitchFamily="34" charset="0"/>
                <a:ea typeface="Calibri" pitchFamily="34" charset="-122"/>
                <a:cs typeface="Calibri" pitchFamily="34" charset="-120"/>
              </a:rPr>
              <a:t>Environnement de déploiement</a:t>
            </a:r>
            <a:endParaRPr lang="en-US" sz="1400" dirty="0"/>
          </a:p>
        </p:txBody>
      </p:sp>
      <p:sp>
        <p:nvSpPr>
          <p:cNvPr id="8" name="Shape 6"/>
          <p:cNvSpPr/>
          <p:nvPr/>
        </p:nvSpPr>
        <p:spPr>
          <a:xfrm>
            <a:off x="914400" y="3346704"/>
            <a:ext cx="4846320" cy="713232"/>
          </a:xfrm>
          <a:prstGeom prst="roundRect">
            <a:avLst>
              <a:gd name="adj" fmla="val 7692"/>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9" name="Text 7"/>
          <p:cNvSpPr/>
          <p:nvPr/>
        </p:nvSpPr>
        <p:spPr>
          <a:xfrm>
            <a:off x="1143000" y="3346704"/>
            <a:ext cx="4480560" cy="713232"/>
          </a:xfrm>
          <a:prstGeom prst="rect">
            <a:avLst/>
          </a:prstGeom>
          <a:noFill/>
          <a:ln/>
        </p:spPr>
        <p:txBody>
          <a:bodyPr wrap="square" lIns="0" tIns="0" rIns="0" bIns="0" rtlCol="0" anchor="ctr"/>
          <a:lstStyle/>
          <a:p>
            <a:pPr indent="0" marL="0">
              <a:buNone/>
            </a:pPr>
            <a:r>
              <a:rPr lang="en-US" sz="1400" b="1" dirty="0">
                <a:solidFill>
                  <a:srgbClr val="C3612D"/>
                </a:solidFill>
                <a:latin typeface="Calibri" pitchFamily="34" charset="0"/>
                <a:ea typeface="Calibri" pitchFamily="34" charset="-122"/>
                <a:cs typeface="Calibri" pitchFamily="34" charset="-120"/>
              </a:rPr>
              <a:t>03  —  </a:t>
            </a:r>
            <a:pPr indent="0" marL="0">
              <a:buNone/>
            </a:pPr>
            <a:r>
              <a:rPr lang="en-US" sz="1400" dirty="0">
                <a:solidFill>
                  <a:srgbClr val="1A3C29"/>
                </a:solidFill>
                <a:latin typeface="Calibri" pitchFamily="34" charset="0"/>
                <a:ea typeface="Calibri" pitchFamily="34" charset="-122"/>
                <a:cs typeface="Calibri" pitchFamily="34" charset="-120"/>
              </a:rPr>
              <a:t>Versioning &amp; intégration continue</a:t>
            </a:r>
            <a:endParaRPr lang="en-US" sz="1400" dirty="0"/>
          </a:p>
        </p:txBody>
      </p:sp>
      <p:sp>
        <p:nvSpPr>
          <p:cNvPr id="10" name="Shape 8"/>
          <p:cNvSpPr/>
          <p:nvPr/>
        </p:nvSpPr>
        <p:spPr>
          <a:xfrm>
            <a:off x="914400" y="4242816"/>
            <a:ext cx="4846320" cy="713232"/>
          </a:xfrm>
          <a:prstGeom prst="roundRect">
            <a:avLst>
              <a:gd name="adj" fmla="val 7692"/>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11" name="Text 9"/>
          <p:cNvSpPr/>
          <p:nvPr/>
        </p:nvSpPr>
        <p:spPr>
          <a:xfrm>
            <a:off x="1143000" y="4242816"/>
            <a:ext cx="4480560" cy="713232"/>
          </a:xfrm>
          <a:prstGeom prst="rect">
            <a:avLst/>
          </a:prstGeom>
          <a:noFill/>
          <a:ln/>
        </p:spPr>
        <p:txBody>
          <a:bodyPr wrap="square" lIns="0" tIns="0" rIns="0" bIns="0" rtlCol="0" anchor="ctr"/>
          <a:lstStyle/>
          <a:p>
            <a:pPr indent="0" marL="0">
              <a:buNone/>
            </a:pPr>
            <a:r>
              <a:rPr lang="en-US" sz="1400" b="1" dirty="0">
                <a:solidFill>
                  <a:srgbClr val="C3612D"/>
                </a:solidFill>
                <a:latin typeface="Calibri" pitchFamily="34" charset="0"/>
                <a:ea typeface="Calibri" pitchFamily="34" charset="-122"/>
                <a:cs typeface="Calibri" pitchFamily="34" charset="-120"/>
              </a:rPr>
              <a:t>04  —  </a:t>
            </a:r>
            <a:pPr indent="0" marL="0">
              <a:buNone/>
            </a:pPr>
            <a:r>
              <a:rPr lang="en-US" sz="1400" dirty="0">
                <a:solidFill>
                  <a:srgbClr val="1A3C29"/>
                </a:solidFill>
                <a:latin typeface="Calibri" pitchFamily="34" charset="0"/>
                <a:ea typeface="Calibri" pitchFamily="34" charset="-122"/>
                <a:cs typeface="Calibri" pitchFamily="34" charset="-120"/>
              </a:rPr>
              <a:t>Maintenance &amp; ticketing</a:t>
            </a:r>
            <a:endParaRPr lang="en-US" sz="1400" dirty="0"/>
          </a:p>
        </p:txBody>
      </p:sp>
      <p:sp>
        <p:nvSpPr>
          <p:cNvPr id="12" name="Shape 10"/>
          <p:cNvSpPr/>
          <p:nvPr/>
        </p:nvSpPr>
        <p:spPr>
          <a:xfrm>
            <a:off x="914400" y="5138928"/>
            <a:ext cx="4846320" cy="713232"/>
          </a:xfrm>
          <a:prstGeom prst="roundRect">
            <a:avLst>
              <a:gd name="adj" fmla="val 7692"/>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13" name="Text 11"/>
          <p:cNvSpPr/>
          <p:nvPr/>
        </p:nvSpPr>
        <p:spPr>
          <a:xfrm>
            <a:off x="1143000" y="5138928"/>
            <a:ext cx="4480560" cy="713232"/>
          </a:xfrm>
          <a:prstGeom prst="rect">
            <a:avLst/>
          </a:prstGeom>
          <a:noFill/>
          <a:ln/>
        </p:spPr>
        <p:txBody>
          <a:bodyPr wrap="square" lIns="0" tIns="0" rIns="0" bIns="0" rtlCol="0" anchor="ctr"/>
          <a:lstStyle/>
          <a:p>
            <a:pPr indent="0" marL="0">
              <a:buNone/>
            </a:pPr>
            <a:r>
              <a:rPr lang="en-US" sz="1400" b="1" dirty="0">
                <a:solidFill>
                  <a:srgbClr val="C3612D"/>
                </a:solidFill>
                <a:latin typeface="Calibri" pitchFamily="34" charset="0"/>
                <a:ea typeface="Calibri" pitchFamily="34" charset="-122"/>
                <a:cs typeface="Calibri" pitchFamily="34" charset="-120"/>
              </a:rPr>
              <a:t>05  —  </a:t>
            </a:r>
            <a:pPr indent="0" marL="0">
              <a:buNone/>
            </a:pPr>
            <a:r>
              <a:rPr lang="en-US" sz="1400" dirty="0">
                <a:solidFill>
                  <a:srgbClr val="1A3C29"/>
                </a:solidFill>
                <a:latin typeface="Calibri" pitchFamily="34" charset="0"/>
                <a:ea typeface="Calibri" pitchFamily="34" charset="-122"/>
                <a:cs typeface="Calibri" pitchFamily="34" charset="-120"/>
              </a:rPr>
              <a:t>Sécurisation &amp; RGPD</a:t>
            </a:r>
            <a:endParaRPr lang="en-US" sz="1400" dirty="0"/>
          </a:p>
        </p:txBody>
      </p:sp>
      <p:sp>
        <p:nvSpPr>
          <p:cNvPr id="14" name="Shape 12"/>
          <p:cNvSpPr/>
          <p:nvPr/>
        </p:nvSpPr>
        <p:spPr>
          <a:xfrm>
            <a:off x="6400800" y="1554480"/>
            <a:ext cx="4846320" cy="713232"/>
          </a:xfrm>
          <a:prstGeom prst="roundRect">
            <a:avLst>
              <a:gd name="adj" fmla="val 7692"/>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15" name="Text 13"/>
          <p:cNvSpPr/>
          <p:nvPr/>
        </p:nvSpPr>
        <p:spPr>
          <a:xfrm>
            <a:off x="6629400" y="1554480"/>
            <a:ext cx="4480560" cy="713232"/>
          </a:xfrm>
          <a:prstGeom prst="rect">
            <a:avLst/>
          </a:prstGeom>
          <a:noFill/>
          <a:ln/>
        </p:spPr>
        <p:txBody>
          <a:bodyPr wrap="square" lIns="0" tIns="0" rIns="0" bIns="0" rtlCol="0" anchor="ctr"/>
          <a:lstStyle/>
          <a:p>
            <a:pPr indent="0" marL="0">
              <a:buNone/>
            </a:pPr>
            <a:r>
              <a:rPr lang="en-US" sz="1400" b="1" dirty="0">
                <a:solidFill>
                  <a:srgbClr val="C3612D"/>
                </a:solidFill>
                <a:latin typeface="Calibri" pitchFamily="34" charset="0"/>
                <a:ea typeface="Calibri" pitchFamily="34" charset="-122"/>
                <a:cs typeface="Calibri" pitchFamily="34" charset="-120"/>
              </a:rPr>
              <a:t>06  —  </a:t>
            </a:r>
            <a:pPr indent="0" marL="0">
              <a:buNone/>
            </a:pPr>
            <a:r>
              <a:rPr lang="en-US" sz="1400" dirty="0">
                <a:solidFill>
                  <a:srgbClr val="1A3C29"/>
                </a:solidFill>
                <a:latin typeface="Calibri" pitchFamily="34" charset="0"/>
                <a:ea typeface="Calibri" pitchFamily="34" charset="-122"/>
                <a:cs typeface="Calibri" pitchFamily="34" charset="-120"/>
              </a:rPr>
              <a:t>Planning &amp; budget</a:t>
            </a:r>
            <a:endParaRPr lang="en-US" sz="1400" dirty="0"/>
          </a:p>
        </p:txBody>
      </p:sp>
      <p:sp>
        <p:nvSpPr>
          <p:cNvPr id="16" name="Shape 14"/>
          <p:cNvSpPr/>
          <p:nvPr/>
        </p:nvSpPr>
        <p:spPr>
          <a:xfrm>
            <a:off x="6400800" y="2450592"/>
            <a:ext cx="4846320" cy="713232"/>
          </a:xfrm>
          <a:prstGeom prst="roundRect">
            <a:avLst>
              <a:gd name="adj" fmla="val 7692"/>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17" name="Text 15"/>
          <p:cNvSpPr/>
          <p:nvPr/>
        </p:nvSpPr>
        <p:spPr>
          <a:xfrm>
            <a:off x="6629400" y="2450592"/>
            <a:ext cx="4480560" cy="713232"/>
          </a:xfrm>
          <a:prstGeom prst="rect">
            <a:avLst/>
          </a:prstGeom>
          <a:noFill/>
          <a:ln/>
        </p:spPr>
        <p:txBody>
          <a:bodyPr wrap="square" lIns="0" tIns="0" rIns="0" bIns="0" rtlCol="0" anchor="ctr"/>
          <a:lstStyle/>
          <a:p>
            <a:pPr indent="0" marL="0">
              <a:buNone/>
            </a:pPr>
            <a:r>
              <a:rPr lang="en-US" sz="1400" b="1" dirty="0">
                <a:solidFill>
                  <a:srgbClr val="C3612D"/>
                </a:solidFill>
                <a:latin typeface="Calibri" pitchFamily="34" charset="0"/>
                <a:ea typeface="Calibri" pitchFamily="34" charset="-122"/>
                <a:cs typeface="Calibri" pitchFamily="34" charset="-120"/>
              </a:rPr>
              <a:t>07  —  </a:t>
            </a:r>
            <a:pPr indent="0" marL="0">
              <a:buNone/>
            </a:pPr>
            <a:r>
              <a:rPr lang="en-US" sz="1400" dirty="0">
                <a:solidFill>
                  <a:srgbClr val="1A3C29"/>
                </a:solidFill>
                <a:latin typeface="Calibri" pitchFamily="34" charset="0"/>
                <a:ea typeface="Calibri" pitchFamily="34" charset="-122"/>
                <a:cs typeface="Calibri" pitchFamily="34" charset="-120"/>
              </a:rPr>
              <a:t>Perspectives — l’après</a:t>
            </a:r>
            <a:endParaRPr lang="en-US" sz="1400" dirty="0"/>
          </a:p>
        </p:txBody>
      </p:sp>
      <p:sp>
        <p:nvSpPr>
          <p:cNvPr id="18" name="Shape 16"/>
          <p:cNvSpPr/>
          <p:nvPr/>
        </p:nvSpPr>
        <p:spPr>
          <a:xfrm>
            <a:off x="6400800" y="3346704"/>
            <a:ext cx="4846320" cy="713232"/>
          </a:xfrm>
          <a:prstGeom prst="roundRect">
            <a:avLst>
              <a:gd name="adj" fmla="val 7692"/>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19" name="Text 17"/>
          <p:cNvSpPr/>
          <p:nvPr/>
        </p:nvSpPr>
        <p:spPr>
          <a:xfrm>
            <a:off x="6629400" y="3346704"/>
            <a:ext cx="4480560" cy="713232"/>
          </a:xfrm>
          <a:prstGeom prst="rect">
            <a:avLst/>
          </a:prstGeom>
          <a:noFill/>
          <a:ln/>
        </p:spPr>
        <p:txBody>
          <a:bodyPr wrap="square" lIns="0" tIns="0" rIns="0" bIns="0" rtlCol="0" anchor="ctr"/>
          <a:lstStyle/>
          <a:p>
            <a:pPr indent="0" marL="0">
              <a:buNone/>
            </a:pPr>
            <a:r>
              <a:rPr lang="en-US" sz="1400" b="1" dirty="0">
                <a:solidFill>
                  <a:srgbClr val="C3612D"/>
                </a:solidFill>
                <a:latin typeface="Calibri" pitchFamily="34" charset="0"/>
                <a:ea typeface="Calibri" pitchFamily="34" charset="-122"/>
                <a:cs typeface="Calibri" pitchFamily="34" charset="-120"/>
              </a:rPr>
              <a:t>08  —  </a:t>
            </a:r>
            <a:pPr indent="0" marL="0">
              <a:buNone/>
            </a:pPr>
            <a:r>
              <a:rPr lang="en-US" sz="1400" dirty="0">
                <a:solidFill>
                  <a:srgbClr val="1A3C29"/>
                </a:solidFill>
                <a:latin typeface="Calibri" pitchFamily="34" charset="0"/>
                <a:ea typeface="Calibri" pitchFamily="34" charset="-122"/>
                <a:cs typeface="Calibri" pitchFamily="34" charset="-120"/>
              </a:rPr>
              <a:t>Démonstration</a:t>
            </a:r>
            <a:endParaRPr lang="en-US" sz="1400" dirty="0"/>
          </a:p>
        </p:txBody>
      </p:sp>
      <p:sp>
        <p:nvSpPr>
          <p:cNvPr id="20" name="Shape 18"/>
          <p:cNvSpPr/>
          <p:nvPr/>
        </p:nvSpPr>
        <p:spPr>
          <a:xfrm>
            <a:off x="6400800" y="4242816"/>
            <a:ext cx="4846320" cy="713232"/>
          </a:xfrm>
          <a:prstGeom prst="roundRect">
            <a:avLst>
              <a:gd name="adj" fmla="val 7692"/>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21" name="Text 19"/>
          <p:cNvSpPr/>
          <p:nvPr/>
        </p:nvSpPr>
        <p:spPr>
          <a:xfrm>
            <a:off x="6629400" y="4242816"/>
            <a:ext cx="4480560" cy="713232"/>
          </a:xfrm>
          <a:prstGeom prst="rect">
            <a:avLst/>
          </a:prstGeom>
          <a:noFill/>
          <a:ln/>
        </p:spPr>
        <p:txBody>
          <a:bodyPr wrap="square" lIns="0" tIns="0" rIns="0" bIns="0" rtlCol="0" anchor="ctr"/>
          <a:lstStyle/>
          <a:p>
            <a:pPr indent="0" marL="0">
              <a:buNone/>
            </a:pPr>
            <a:r>
              <a:rPr lang="en-US" sz="1400" b="1" dirty="0">
                <a:solidFill>
                  <a:srgbClr val="C3612D"/>
                </a:solidFill>
                <a:latin typeface="Calibri" pitchFamily="34" charset="0"/>
                <a:ea typeface="Calibri" pitchFamily="34" charset="-122"/>
                <a:cs typeface="Calibri" pitchFamily="34" charset="-120"/>
              </a:rPr>
              <a:t>09  —  </a:t>
            </a:r>
            <a:pPr indent="0" marL="0">
              <a:buNone/>
            </a:pPr>
            <a:r>
              <a:rPr lang="en-US" sz="1400" dirty="0">
                <a:solidFill>
                  <a:srgbClr val="1A3C29"/>
                </a:solidFill>
                <a:latin typeface="Calibri" pitchFamily="34" charset="0"/>
                <a:ea typeface="Calibri" pitchFamily="34" charset="-122"/>
                <a:cs typeface="Calibri" pitchFamily="34" charset="-120"/>
              </a:rPr>
              <a:t>Conclusion</a:t>
            </a:r>
            <a:endParaRPr lang="en-US" sz="1400" dirty="0"/>
          </a:p>
        </p:txBody>
      </p:sp>
      <p:sp>
        <p:nvSpPr>
          <p:cNvPr id="22" name="Shape 20"/>
          <p:cNvSpPr/>
          <p:nvPr/>
        </p:nvSpPr>
        <p:spPr>
          <a:xfrm>
            <a:off x="0" y="6355080"/>
            <a:ext cx="12188952" cy="502920"/>
          </a:xfrm>
          <a:prstGeom prst="rect">
            <a:avLst/>
          </a:prstGeom>
          <a:solidFill>
            <a:srgbClr val="1A3C29"/>
          </a:solidFill>
          <a:ln w="12700">
            <a:solidFill>
              <a:srgbClr val="1A3C29"/>
            </a:solidFill>
            <a:prstDash val="solid"/>
          </a:ln>
        </p:spPr>
      </p:sp>
      <p:sp>
        <p:nvSpPr>
          <p:cNvPr id="23" name="Text 21"/>
          <p:cNvSpPr/>
          <p:nvPr/>
        </p:nvSpPr>
        <p:spPr>
          <a:xfrm>
            <a:off x="502920" y="6382512"/>
            <a:ext cx="4572000" cy="237744"/>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RENOIR&amp;ALINE</a:t>
            </a:r>
            <a:endParaRPr lang="en-US" sz="1000" dirty="0"/>
          </a:p>
        </p:txBody>
      </p:sp>
      <p:sp>
        <p:nvSpPr>
          <p:cNvPr id="24" name="Text 22"/>
          <p:cNvSpPr/>
          <p:nvPr/>
        </p:nvSpPr>
        <p:spPr>
          <a:xfrm>
            <a:off x="502920" y="6601968"/>
            <a:ext cx="4572000" cy="182880"/>
          </a:xfrm>
          <a:prstGeom prst="rect">
            <a:avLst/>
          </a:prstGeom>
          <a:noFill/>
          <a:ln/>
        </p:spPr>
        <p:txBody>
          <a:bodyPr wrap="square" lIns="0" tIns="0" rIns="0" bIns="0" rtlCol="0" anchor="ctr"/>
          <a:lstStyle/>
          <a:p>
            <a:pPr indent="0" marL="0">
              <a:buNone/>
            </a:pPr>
            <a:r>
              <a:rPr lang="en-US" sz="700" spc="200" kern="0" dirty="0">
                <a:solidFill>
                  <a:srgbClr val="8AA595"/>
                </a:solidFill>
                <a:latin typeface="Calibri" pitchFamily="34" charset="0"/>
                <a:ea typeface="Calibri" pitchFamily="34" charset="-122"/>
                <a:cs typeface="Calibri" pitchFamily="34" charset="-120"/>
              </a:rPr>
              <a:t>CONSTRUCTEUR DE SITE WEB</a:t>
            </a:r>
            <a:endParaRPr lang="en-US" sz="700" dirty="0"/>
          </a:p>
        </p:txBody>
      </p:sp>
      <p:sp>
        <p:nvSpPr>
          <p:cNvPr id="25" name="Text 23"/>
          <p:cNvSpPr/>
          <p:nvPr/>
        </p:nvSpPr>
        <p:spPr>
          <a:xfrm>
            <a:off x="10241280" y="6419088"/>
            <a:ext cx="1417320" cy="365760"/>
          </a:xfrm>
          <a:prstGeom prst="rect">
            <a:avLst/>
          </a:prstGeom>
          <a:noFill/>
          <a:ln/>
        </p:spPr>
        <p:txBody>
          <a:bodyPr wrap="square" lIns="0" tIns="0" rIns="0" bIns="0" rtlCol="0" anchor="ctr"/>
          <a:lstStyle/>
          <a:p>
            <a:pPr algn="r" indent="0" marL="0">
              <a:buNone/>
            </a:pPr>
            <a:r>
              <a:rPr lang="en-US" sz="1000" b="1" dirty="0">
                <a:solidFill>
                  <a:srgbClr val="FFFFFF"/>
                </a:solidFill>
                <a:latin typeface="Calibri" pitchFamily="34" charset="0"/>
                <a:ea typeface="Calibri" pitchFamily="34" charset="-122"/>
                <a:cs typeface="Calibri" pitchFamily="34" charset="-120"/>
              </a:rPr>
              <a:t>Page 2/21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ECE6"/>
        </a:solidFill>
      </p:bgPr>
    </p:bg>
    <p:spTree>
      <p:nvGrpSpPr>
        <p:cNvPr id="1" name=""/>
        <p:cNvGrpSpPr/>
        <p:nvPr/>
      </p:nvGrpSpPr>
      <p:grpSpPr>
        <a:xfrm>
          <a:off x="0" y="0"/>
          <a:ext cx="0" cy="0"/>
          <a:chOff x="0" y="0"/>
          <a:chExt cx="0" cy="0"/>
        </a:xfrm>
      </p:grpSpPr>
      <p:sp>
        <p:nvSpPr>
          <p:cNvPr id="2" name="Text 0"/>
          <p:cNvSpPr/>
          <p:nvPr/>
        </p:nvSpPr>
        <p:spPr>
          <a:xfrm>
            <a:off x="640080" y="384048"/>
            <a:ext cx="10881360" cy="292608"/>
          </a:xfrm>
          <a:prstGeom prst="rect">
            <a:avLst/>
          </a:prstGeom>
          <a:noFill/>
          <a:ln/>
        </p:spPr>
        <p:txBody>
          <a:bodyPr wrap="square" lIns="0" tIns="0" rIns="0" bIns="0" rtlCol="0" anchor="ctr"/>
          <a:lstStyle/>
          <a:p>
            <a:pPr indent="0" marL="0">
              <a:buNone/>
            </a:pPr>
            <a:r>
              <a:rPr lang="en-US" sz="1300" b="1" dirty="0">
                <a:solidFill>
                  <a:srgbClr val="C3612D"/>
                </a:solidFill>
                <a:latin typeface="Calibri" pitchFamily="34" charset="0"/>
                <a:ea typeface="Calibri" pitchFamily="34" charset="-122"/>
                <a:cs typeface="Calibri" pitchFamily="34" charset="-120"/>
              </a:rPr>
              <a:t>Introduction</a:t>
            </a:r>
            <a:endParaRPr lang="en-US" sz="1300" dirty="0"/>
          </a:p>
        </p:txBody>
      </p:sp>
      <p:sp>
        <p:nvSpPr>
          <p:cNvPr id="3" name="Text 1"/>
          <p:cNvSpPr/>
          <p:nvPr/>
        </p:nvSpPr>
        <p:spPr>
          <a:xfrm>
            <a:off x="640080" y="713232"/>
            <a:ext cx="10881360" cy="822960"/>
          </a:xfrm>
          <a:prstGeom prst="rect">
            <a:avLst/>
          </a:prstGeom>
          <a:noFill/>
          <a:ln/>
        </p:spPr>
        <p:txBody>
          <a:bodyPr wrap="square" lIns="0" tIns="0" rIns="0" bIns="0" rtlCol="0" anchor="ctr"/>
          <a:lstStyle/>
          <a:p>
            <a:pPr indent="0" marL="0">
              <a:buNone/>
            </a:pPr>
            <a:r>
              <a:rPr lang="en-US" sz="3400" b="1" dirty="0">
                <a:solidFill>
                  <a:srgbClr val="1A3C29"/>
                </a:solidFill>
                <a:latin typeface="Calibri" pitchFamily="34" charset="0"/>
                <a:ea typeface="Calibri" pitchFamily="34" charset="-122"/>
                <a:cs typeface="Calibri" pitchFamily="34" charset="-120"/>
              </a:rPr>
              <a:t>Contexte &amp; livrables</a:t>
            </a:r>
            <a:endParaRPr lang="en-US" sz="3400" dirty="0"/>
          </a:p>
        </p:txBody>
      </p:sp>
      <p:sp>
        <p:nvSpPr>
          <p:cNvPr id="4" name="Shape 2"/>
          <p:cNvSpPr/>
          <p:nvPr/>
        </p:nvSpPr>
        <p:spPr>
          <a:xfrm>
            <a:off x="640080" y="1783080"/>
            <a:ext cx="5029200" cy="4251960"/>
          </a:xfrm>
          <a:prstGeom prst="roundRect">
            <a:avLst>
              <a:gd name="adj" fmla="val 1290"/>
            </a:avLst>
          </a:prstGeom>
          <a:solidFill>
            <a:srgbClr val="1A3C29"/>
          </a:solidFill>
          <a:ln w="12700">
            <a:solidFill>
              <a:srgbClr val="1A3C29"/>
            </a:solidFill>
            <a:prstDash val="solid"/>
          </a:ln>
          <a:effectLst>
            <a:outerShdw sx="100000" sy="100000" kx="0" ky="0" algn="bl" rotWithShape="0" blurRad="88900" dist="38100" dir="5400000">
              <a:srgbClr val="000000">
                <a:alpha val="12000"/>
              </a:srgbClr>
            </a:outerShdw>
          </a:effectLst>
        </p:spPr>
      </p:sp>
      <p:sp>
        <p:nvSpPr>
          <p:cNvPr id="5" name="Text 3"/>
          <p:cNvSpPr/>
          <p:nvPr/>
        </p:nvSpPr>
        <p:spPr>
          <a:xfrm>
            <a:off x="640080" y="1965960"/>
            <a:ext cx="502920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CONTEXTE</a:t>
            </a:r>
            <a:endParaRPr lang="en-US" sz="1600" dirty="0"/>
          </a:p>
        </p:txBody>
      </p:sp>
      <p:sp>
        <p:nvSpPr>
          <p:cNvPr id="6" name="Text 4"/>
          <p:cNvSpPr/>
          <p:nvPr/>
        </p:nvSpPr>
        <p:spPr>
          <a:xfrm>
            <a:off x="914400" y="2514600"/>
            <a:ext cx="4480560" cy="256032"/>
          </a:xfrm>
          <a:prstGeom prst="rect">
            <a:avLst/>
          </a:prstGeom>
          <a:noFill/>
          <a:ln/>
        </p:spPr>
        <p:txBody>
          <a:bodyPr wrap="square" lIns="0" tIns="0" rIns="0" bIns="0" rtlCol="0" anchor="ctr"/>
          <a:lstStyle/>
          <a:p>
            <a:pPr indent="0" marL="0">
              <a:buNone/>
            </a:pPr>
            <a:r>
              <a:rPr lang="en-US" sz="1300" b="1" dirty="0">
                <a:solidFill>
                  <a:srgbClr val="C3612D"/>
                </a:solidFill>
                <a:latin typeface="Calibri" pitchFamily="34" charset="0"/>
                <a:ea typeface="Calibri" pitchFamily="34" charset="-122"/>
                <a:cs typeface="Calibri" pitchFamily="34" charset="-120"/>
              </a:rPr>
              <a:t>Projet :</a:t>
            </a:r>
            <a:endParaRPr lang="en-US" sz="1300" dirty="0"/>
          </a:p>
        </p:txBody>
      </p:sp>
      <p:sp>
        <p:nvSpPr>
          <p:cNvPr id="7" name="Text 5"/>
          <p:cNvSpPr/>
          <p:nvPr/>
        </p:nvSpPr>
        <p:spPr>
          <a:xfrm>
            <a:off x="914400" y="2770632"/>
            <a:ext cx="4572000" cy="411480"/>
          </a:xfrm>
          <a:prstGeom prst="rect">
            <a:avLst/>
          </a:prstGeom>
          <a:noFill/>
          <a:ln/>
        </p:spPr>
        <p:txBody>
          <a:bodyPr wrap="square" lIns="0" tIns="0" rIns="0" bIns="0" rtlCol="0" anchor="ctr"/>
          <a:lstStyle/>
          <a:p>
            <a:pPr indent="0" marL="0">
              <a:buNone/>
            </a:pPr>
            <a:r>
              <a:rPr lang="en-US" sz="1250" dirty="0">
                <a:solidFill>
                  <a:srgbClr val="D9D2C7"/>
                </a:solidFill>
                <a:latin typeface="Calibri" pitchFamily="34" charset="0"/>
                <a:ea typeface="Calibri" pitchFamily="34" charset="-122"/>
                <a:cs typeface="Calibri" pitchFamily="34" charset="-120"/>
              </a:rPr>
              <a:t>CESIZen — CalmSpace</a:t>
            </a:r>
            <a:endParaRPr lang="en-US" sz="1250" dirty="0"/>
          </a:p>
        </p:txBody>
      </p:sp>
      <p:sp>
        <p:nvSpPr>
          <p:cNvPr id="8" name="Text 6"/>
          <p:cNvSpPr/>
          <p:nvPr/>
        </p:nvSpPr>
        <p:spPr>
          <a:xfrm>
            <a:off x="914400" y="3209544"/>
            <a:ext cx="4480560" cy="256032"/>
          </a:xfrm>
          <a:prstGeom prst="rect">
            <a:avLst/>
          </a:prstGeom>
          <a:noFill/>
          <a:ln/>
        </p:spPr>
        <p:txBody>
          <a:bodyPr wrap="square" lIns="0" tIns="0" rIns="0" bIns="0" rtlCol="0" anchor="ctr"/>
          <a:lstStyle/>
          <a:p>
            <a:pPr indent="0" marL="0">
              <a:buNone/>
            </a:pPr>
            <a:r>
              <a:rPr lang="en-US" sz="1300" b="1" dirty="0">
                <a:solidFill>
                  <a:srgbClr val="C3612D"/>
                </a:solidFill>
                <a:latin typeface="Calibri" pitchFamily="34" charset="0"/>
                <a:ea typeface="Calibri" pitchFamily="34" charset="-122"/>
                <a:cs typeface="Calibri" pitchFamily="34" charset="-120"/>
              </a:rPr>
              <a:t>Client :</a:t>
            </a:r>
            <a:endParaRPr lang="en-US" sz="1300" dirty="0"/>
          </a:p>
        </p:txBody>
      </p:sp>
      <p:sp>
        <p:nvSpPr>
          <p:cNvPr id="9" name="Text 7"/>
          <p:cNvSpPr/>
          <p:nvPr/>
        </p:nvSpPr>
        <p:spPr>
          <a:xfrm>
            <a:off x="914400" y="3465576"/>
            <a:ext cx="4572000" cy="411480"/>
          </a:xfrm>
          <a:prstGeom prst="rect">
            <a:avLst/>
          </a:prstGeom>
          <a:noFill/>
          <a:ln/>
        </p:spPr>
        <p:txBody>
          <a:bodyPr wrap="square" lIns="0" tIns="0" rIns="0" bIns="0" rtlCol="0" anchor="ctr"/>
          <a:lstStyle/>
          <a:p>
            <a:pPr indent="0" marL="0">
              <a:buNone/>
            </a:pPr>
            <a:r>
              <a:rPr lang="en-US" sz="1250" dirty="0">
                <a:solidFill>
                  <a:srgbClr val="D9D2C7"/>
                </a:solidFill>
                <a:latin typeface="Calibri" pitchFamily="34" charset="0"/>
                <a:ea typeface="Calibri" pitchFamily="34" charset="-122"/>
                <a:cs typeface="Calibri" pitchFamily="34" charset="-120"/>
              </a:rPr>
              <a:t>Ministère des Solidarités et de la Santé</a:t>
            </a:r>
            <a:endParaRPr lang="en-US" sz="1250" dirty="0"/>
          </a:p>
        </p:txBody>
      </p:sp>
      <p:sp>
        <p:nvSpPr>
          <p:cNvPr id="10" name="Text 8"/>
          <p:cNvSpPr/>
          <p:nvPr/>
        </p:nvSpPr>
        <p:spPr>
          <a:xfrm>
            <a:off x="914400" y="3904488"/>
            <a:ext cx="4480560" cy="256032"/>
          </a:xfrm>
          <a:prstGeom prst="rect">
            <a:avLst/>
          </a:prstGeom>
          <a:noFill/>
          <a:ln/>
        </p:spPr>
        <p:txBody>
          <a:bodyPr wrap="square" lIns="0" tIns="0" rIns="0" bIns="0" rtlCol="0" anchor="ctr"/>
          <a:lstStyle/>
          <a:p>
            <a:pPr indent="0" marL="0">
              <a:buNone/>
            </a:pPr>
            <a:r>
              <a:rPr lang="en-US" sz="1300" b="1" dirty="0">
                <a:solidFill>
                  <a:srgbClr val="C3612D"/>
                </a:solidFill>
                <a:latin typeface="Calibri" pitchFamily="34" charset="0"/>
                <a:ea typeface="Calibri" pitchFamily="34" charset="-122"/>
                <a:cs typeface="Calibri" pitchFamily="34" charset="-120"/>
              </a:rPr>
              <a:t>Application :</a:t>
            </a:r>
            <a:endParaRPr lang="en-US" sz="1300" dirty="0"/>
          </a:p>
        </p:txBody>
      </p:sp>
      <p:sp>
        <p:nvSpPr>
          <p:cNvPr id="11" name="Text 9"/>
          <p:cNvSpPr/>
          <p:nvPr/>
        </p:nvSpPr>
        <p:spPr>
          <a:xfrm>
            <a:off x="914400" y="4160520"/>
            <a:ext cx="4572000" cy="411480"/>
          </a:xfrm>
          <a:prstGeom prst="rect">
            <a:avLst/>
          </a:prstGeom>
          <a:noFill/>
          <a:ln/>
        </p:spPr>
        <p:txBody>
          <a:bodyPr wrap="square" lIns="0" tIns="0" rIns="0" bIns="0" rtlCol="0" anchor="ctr"/>
          <a:lstStyle/>
          <a:p>
            <a:pPr indent="0" marL="0">
              <a:buNone/>
            </a:pPr>
            <a:r>
              <a:rPr lang="en-US" sz="1250" dirty="0">
                <a:solidFill>
                  <a:srgbClr val="D9D2C7"/>
                </a:solidFill>
                <a:latin typeface="Calibri" pitchFamily="34" charset="0"/>
                <a:ea typeface="Calibri" pitchFamily="34" charset="-122"/>
                <a:cs typeface="Calibri" pitchFamily="34" charset="-120"/>
              </a:rPr>
              <a:t>Web (React) + Mobile + API (Express) + PostgreSQL</a:t>
            </a:r>
            <a:endParaRPr lang="en-US" sz="1250" dirty="0"/>
          </a:p>
        </p:txBody>
      </p:sp>
      <p:sp>
        <p:nvSpPr>
          <p:cNvPr id="12" name="Text 10"/>
          <p:cNvSpPr/>
          <p:nvPr/>
        </p:nvSpPr>
        <p:spPr>
          <a:xfrm>
            <a:off x="914400" y="4599432"/>
            <a:ext cx="4480560" cy="256032"/>
          </a:xfrm>
          <a:prstGeom prst="rect">
            <a:avLst/>
          </a:prstGeom>
          <a:noFill/>
          <a:ln/>
        </p:spPr>
        <p:txBody>
          <a:bodyPr wrap="square" lIns="0" tIns="0" rIns="0" bIns="0" rtlCol="0" anchor="ctr"/>
          <a:lstStyle/>
          <a:p>
            <a:pPr indent="0" marL="0">
              <a:buNone/>
            </a:pPr>
            <a:r>
              <a:rPr lang="en-US" sz="1300" b="1" dirty="0">
                <a:solidFill>
                  <a:srgbClr val="C3612D"/>
                </a:solidFill>
                <a:latin typeface="Calibri" pitchFamily="34" charset="0"/>
                <a:ea typeface="Calibri" pitchFamily="34" charset="-122"/>
                <a:cs typeface="Calibri" pitchFamily="34" charset="-120"/>
              </a:rPr>
              <a:t>Données :</a:t>
            </a:r>
            <a:endParaRPr lang="en-US" sz="1300" dirty="0"/>
          </a:p>
        </p:txBody>
      </p:sp>
      <p:sp>
        <p:nvSpPr>
          <p:cNvPr id="13" name="Text 11"/>
          <p:cNvSpPr/>
          <p:nvPr/>
        </p:nvSpPr>
        <p:spPr>
          <a:xfrm>
            <a:off x="914400" y="4855464"/>
            <a:ext cx="4572000" cy="411480"/>
          </a:xfrm>
          <a:prstGeom prst="rect">
            <a:avLst/>
          </a:prstGeom>
          <a:noFill/>
          <a:ln/>
        </p:spPr>
        <p:txBody>
          <a:bodyPr wrap="square" lIns="0" tIns="0" rIns="0" bIns="0" rtlCol="0" anchor="ctr"/>
          <a:lstStyle/>
          <a:p>
            <a:pPr indent="0" marL="0">
              <a:buNone/>
            </a:pPr>
            <a:r>
              <a:rPr lang="en-US" sz="1250" dirty="0">
                <a:solidFill>
                  <a:srgbClr val="D9D2C7"/>
                </a:solidFill>
                <a:latin typeface="Calibri" pitchFamily="34" charset="0"/>
                <a:ea typeface="Calibri" pitchFamily="34" charset="-122"/>
                <a:cs typeface="Calibri" pitchFamily="34" charset="-120"/>
              </a:rPr>
              <a:t>Émotions &amp; stress = données de santé (sensibles)</a:t>
            </a:r>
            <a:endParaRPr lang="en-US" sz="1250" dirty="0"/>
          </a:p>
        </p:txBody>
      </p:sp>
      <p:sp>
        <p:nvSpPr>
          <p:cNvPr id="14" name="Text 12"/>
          <p:cNvSpPr/>
          <p:nvPr/>
        </p:nvSpPr>
        <p:spPr>
          <a:xfrm>
            <a:off x="914400" y="5294376"/>
            <a:ext cx="4480560" cy="256032"/>
          </a:xfrm>
          <a:prstGeom prst="rect">
            <a:avLst/>
          </a:prstGeom>
          <a:noFill/>
          <a:ln/>
        </p:spPr>
        <p:txBody>
          <a:bodyPr wrap="square" lIns="0" tIns="0" rIns="0" bIns="0" rtlCol="0" anchor="ctr"/>
          <a:lstStyle/>
          <a:p>
            <a:pPr indent="0" marL="0">
              <a:buNone/>
            </a:pPr>
            <a:r>
              <a:rPr lang="en-US" sz="1300" b="1" dirty="0">
                <a:solidFill>
                  <a:srgbClr val="C3612D"/>
                </a:solidFill>
                <a:latin typeface="Calibri" pitchFamily="34" charset="0"/>
                <a:ea typeface="Calibri" pitchFamily="34" charset="-122"/>
                <a:cs typeface="Calibri" pitchFamily="34" charset="-120"/>
              </a:rPr>
              <a:t>Activité :</a:t>
            </a:r>
            <a:endParaRPr lang="en-US" sz="1300" dirty="0"/>
          </a:p>
        </p:txBody>
      </p:sp>
      <p:sp>
        <p:nvSpPr>
          <p:cNvPr id="15" name="Text 13"/>
          <p:cNvSpPr/>
          <p:nvPr/>
        </p:nvSpPr>
        <p:spPr>
          <a:xfrm>
            <a:off x="914400" y="5550408"/>
            <a:ext cx="4572000" cy="411480"/>
          </a:xfrm>
          <a:prstGeom prst="rect">
            <a:avLst/>
          </a:prstGeom>
          <a:noFill/>
          <a:ln/>
        </p:spPr>
        <p:txBody>
          <a:bodyPr wrap="square" lIns="0" tIns="0" rIns="0" bIns="0" rtlCol="0" anchor="ctr"/>
          <a:lstStyle/>
          <a:p>
            <a:pPr indent="0" marL="0">
              <a:buNone/>
            </a:pPr>
            <a:r>
              <a:rPr lang="en-US" sz="1250" dirty="0">
                <a:solidFill>
                  <a:srgbClr val="D9D2C7"/>
                </a:solidFill>
                <a:latin typeface="Calibri" pitchFamily="34" charset="0"/>
                <a:ea typeface="Calibri" pitchFamily="34" charset="-122"/>
                <a:cs typeface="Calibri" pitchFamily="34" charset="-120"/>
              </a:rPr>
              <a:t>Bloc 3 — déploiement &amp; sécurisation</a:t>
            </a:r>
            <a:endParaRPr lang="en-US" sz="1250" dirty="0"/>
          </a:p>
        </p:txBody>
      </p:sp>
      <p:sp>
        <p:nvSpPr>
          <p:cNvPr id="16" name="Shape 14"/>
          <p:cNvSpPr/>
          <p:nvPr/>
        </p:nvSpPr>
        <p:spPr>
          <a:xfrm>
            <a:off x="6080760" y="1783080"/>
            <a:ext cx="5440680" cy="1280160"/>
          </a:xfrm>
          <a:prstGeom prst="roundRect">
            <a:avLst>
              <a:gd name="adj" fmla="val 4286"/>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17" name="Shape 15"/>
          <p:cNvSpPr/>
          <p:nvPr/>
        </p:nvSpPr>
        <p:spPr>
          <a:xfrm>
            <a:off x="6080760" y="1783080"/>
            <a:ext cx="118872" cy="1280160"/>
          </a:xfrm>
          <a:prstGeom prst="rect">
            <a:avLst/>
          </a:prstGeom>
          <a:solidFill>
            <a:srgbClr val="C3612D"/>
          </a:solidFill>
          <a:ln w="12700">
            <a:solidFill>
              <a:srgbClr val="C3612D"/>
            </a:solidFill>
            <a:prstDash val="solid"/>
          </a:ln>
        </p:spPr>
      </p:sp>
      <p:sp>
        <p:nvSpPr>
          <p:cNvPr id="18" name="Text 16"/>
          <p:cNvSpPr/>
          <p:nvPr/>
        </p:nvSpPr>
        <p:spPr>
          <a:xfrm>
            <a:off x="6400800" y="1984248"/>
            <a:ext cx="4937760" cy="365760"/>
          </a:xfrm>
          <a:prstGeom prst="rect">
            <a:avLst/>
          </a:prstGeom>
          <a:noFill/>
          <a:ln/>
        </p:spPr>
        <p:txBody>
          <a:bodyPr wrap="square" lIns="0" tIns="0" rIns="0" bIns="0" rtlCol="0" anchor="ctr"/>
          <a:lstStyle/>
          <a:p>
            <a:pPr indent="0" marL="0">
              <a:buNone/>
            </a:pPr>
            <a:r>
              <a:rPr lang="en-US" sz="1700" b="1" dirty="0">
                <a:solidFill>
                  <a:srgbClr val="1A3C29"/>
                </a:solidFill>
                <a:latin typeface="Calibri" pitchFamily="34" charset="0"/>
                <a:ea typeface="Calibri" pitchFamily="34" charset="-122"/>
                <a:cs typeface="Calibri" pitchFamily="34" charset="-120"/>
              </a:rPr>
              <a:t>Plan de déploiement</a:t>
            </a:r>
            <a:endParaRPr lang="en-US" sz="1700" dirty="0"/>
          </a:p>
        </p:txBody>
      </p:sp>
      <p:sp>
        <p:nvSpPr>
          <p:cNvPr id="19" name="Text 17"/>
          <p:cNvSpPr/>
          <p:nvPr/>
        </p:nvSpPr>
        <p:spPr>
          <a:xfrm>
            <a:off x="6400800" y="2441448"/>
            <a:ext cx="4937760" cy="457200"/>
          </a:xfrm>
          <a:prstGeom prst="rect">
            <a:avLst/>
          </a:prstGeom>
          <a:noFill/>
          <a:ln/>
        </p:spPr>
        <p:txBody>
          <a:bodyPr wrap="square" lIns="0" tIns="0" rIns="0" bIns="0" rtlCol="0" anchor="ctr"/>
          <a:lstStyle/>
          <a:p>
            <a:pPr indent="0" marL="0">
              <a:buNone/>
            </a:pPr>
            <a:r>
              <a:rPr lang="en-US" sz="1250" dirty="0">
                <a:solidFill>
                  <a:srgbClr val="5F5F5F"/>
                </a:solidFill>
                <a:latin typeface="Calibri" pitchFamily="34" charset="0"/>
                <a:ea typeface="Calibri" pitchFamily="34" charset="-122"/>
                <a:cs typeface="Calibri" pitchFamily="34" charset="-120"/>
              </a:rPr>
              <a:t>Environnements, Docker, intégration continue</a:t>
            </a:r>
            <a:endParaRPr lang="en-US" sz="1250" dirty="0"/>
          </a:p>
        </p:txBody>
      </p:sp>
      <p:sp>
        <p:nvSpPr>
          <p:cNvPr id="20" name="Shape 18"/>
          <p:cNvSpPr/>
          <p:nvPr/>
        </p:nvSpPr>
        <p:spPr>
          <a:xfrm>
            <a:off x="6080760" y="3200400"/>
            <a:ext cx="5440680" cy="1280160"/>
          </a:xfrm>
          <a:prstGeom prst="roundRect">
            <a:avLst>
              <a:gd name="adj" fmla="val 4286"/>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21" name="Shape 19"/>
          <p:cNvSpPr/>
          <p:nvPr/>
        </p:nvSpPr>
        <p:spPr>
          <a:xfrm>
            <a:off x="6080760" y="3200400"/>
            <a:ext cx="118872" cy="1280160"/>
          </a:xfrm>
          <a:prstGeom prst="rect">
            <a:avLst/>
          </a:prstGeom>
          <a:solidFill>
            <a:srgbClr val="296E4A"/>
          </a:solidFill>
          <a:ln w="12700">
            <a:solidFill>
              <a:srgbClr val="296E4A"/>
            </a:solidFill>
            <a:prstDash val="solid"/>
          </a:ln>
        </p:spPr>
      </p:sp>
      <p:sp>
        <p:nvSpPr>
          <p:cNvPr id="22" name="Text 20"/>
          <p:cNvSpPr/>
          <p:nvPr/>
        </p:nvSpPr>
        <p:spPr>
          <a:xfrm>
            <a:off x="6400800" y="3401568"/>
            <a:ext cx="4937760" cy="365760"/>
          </a:xfrm>
          <a:prstGeom prst="rect">
            <a:avLst/>
          </a:prstGeom>
          <a:noFill/>
          <a:ln/>
        </p:spPr>
        <p:txBody>
          <a:bodyPr wrap="square" lIns="0" tIns="0" rIns="0" bIns="0" rtlCol="0" anchor="ctr"/>
          <a:lstStyle/>
          <a:p>
            <a:pPr indent="0" marL="0">
              <a:buNone/>
            </a:pPr>
            <a:r>
              <a:rPr lang="en-US" sz="1700" b="1" dirty="0">
                <a:solidFill>
                  <a:srgbClr val="1A3C29"/>
                </a:solidFill>
                <a:latin typeface="Calibri" pitchFamily="34" charset="0"/>
                <a:ea typeface="Calibri" pitchFamily="34" charset="-122"/>
                <a:cs typeface="Calibri" pitchFamily="34" charset="-120"/>
              </a:rPr>
              <a:t>Plan de maintenance</a:t>
            </a:r>
            <a:endParaRPr lang="en-US" sz="1700" dirty="0"/>
          </a:p>
        </p:txBody>
      </p:sp>
      <p:sp>
        <p:nvSpPr>
          <p:cNvPr id="23" name="Text 21"/>
          <p:cNvSpPr/>
          <p:nvPr/>
        </p:nvSpPr>
        <p:spPr>
          <a:xfrm>
            <a:off x="6400800" y="3858768"/>
            <a:ext cx="4937760" cy="457200"/>
          </a:xfrm>
          <a:prstGeom prst="rect">
            <a:avLst/>
          </a:prstGeom>
          <a:noFill/>
          <a:ln/>
        </p:spPr>
        <p:txBody>
          <a:bodyPr wrap="square" lIns="0" tIns="0" rIns="0" bIns="0" rtlCol="0" anchor="ctr"/>
          <a:lstStyle/>
          <a:p>
            <a:pPr indent="0" marL="0">
              <a:buNone/>
            </a:pPr>
            <a:r>
              <a:rPr lang="en-US" sz="1250" dirty="0">
                <a:solidFill>
                  <a:srgbClr val="5F5F5F"/>
                </a:solidFill>
                <a:latin typeface="Calibri" pitchFamily="34" charset="0"/>
                <a:ea typeface="Calibri" pitchFamily="34" charset="-122"/>
                <a:cs typeface="Calibri" pitchFamily="34" charset="-120"/>
              </a:rPr>
              <a:t>Ticketing Jira, niveaux de sévérité, veille</a:t>
            </a:r>
            <a:endParaRPr lang="en-US" sz="1250" dirty="0"/>
          </a:p>
        </p:txBody>
      </p:sp>
      <p:sp>
        <p:nvSpPr>
          <p:cNvPr id="24" name="Shape 22"/>
          <p:cNvSpPr/>
          <p:nvPr/>
        </p:nvSpPr>
        <p:spPr>
          <a:xfrm>
            <a:off x="6080760" y="4617720"/>
            <a:ext cx="5440680" cy="1280160"/>
          </a:xfrm>
          <a:prstGeom prst="roundRect">
            <a:avLst>
              <a:gd name="adj" fmla="val 4286"/>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25" name="Shape 23"/>
          <p:cNvSpPr/>
          <p:nvPr/>
        </p:nvSpPr>
        <p:spPr>
          <a:xfrm>
            <a:off x="6080760" y="4617720"/>
            <a:ext cx="118872" cy="1280160"/>
          </a:xfrm>
          <a:prstGeom prst="rect">
            <a:avLst/>
          </a:prstGeom>
          <a:solidFill>
            <a:srgbClr val="1A3C29"/>
          </a:solidFill>
          <a:ln w="12700">
            <a:solidFill>
              <a:srgbClr val="1A3C29"/>
            </a:solidFill>
            <a:prstDash val="solid"/>
          </a:ln>
        </p:spPr>
      </p:sp>
      <p:sp>
        <p:nvSpPr>
          <p:cNvPr id="26" name="Text 24"/>
          <p:cNvSpPr/>
          <p:nvPr/>
        </p:nvSpPr>
        <p:spPr>
          <a:xfrm>
            <a:off x="6400800" y="4818888"/>
            <a:ext cx="4937760" cy="365760"/>
          </a:xfrm>
          <a:prstGeom prst="rect">
            <a:avLst/>
          </a:prstGeom>
          <a:noFill/>
          <a:ln/>
        </p:spPr>
        <p:txBody>
          <a:bodyPr wrap="square" lIns="0" tIns="0" rIns="0" bIns="0" rtlCol="0" anchor="ctr"/>
          <a:lstStyle/>
          <a:p>
            <a:pPr indent="0" marL="0">
              <a:buNone/>
            </a:pPr>
            <a:r>
              <a:rPr lang="en-US" sz="1700" b="1" dirty="0">
                <a:solidFill>
                  <a:srgbClr val="1A3C29"/>
                </a:solidFill>
                <a:latin typeface="Calibri" pitchFamily="34" charset="0"/>
                <a:ea typeface="Calibri" pitchFamily="34" charset="-122"/>
                <a:cs typeface="Calibri" pitchFamily="34" charset="-120"/>
              </a:rPr>
              <a:t>Plan de sécurisation</a:t>
            </a:r>
            <a:endParaRPr lang="en-US" sz="1700" dirty="0"/>
          </a:p>
        </p:txBody>
      </p:sp>
      <p:sp>
        <p:nvSpPr>
          <p:cNvPr id="27" name="Text 25"/>
          <p:cNvSpPr/>
          <p:nvPr/>
        </p:nvSpPr>
        <p:spPr>
          <a:xfrm>
            <a:off x="6400800" y="5276088"/>
            <a:ext cx="4937760" cy="457200"/>
          </a:xfrm>
          <a:prstGeom prst="rect">
            <a:avLst/>
          </a:prstGeom>
          <a:noFill/>
          <a:ln/>
        </p:spPr>
        <p:txBody>
          <a:bodyPr wrap="square" lIns="0" tIns="0" rIns="0" bIns="0" rtlCol="0" anchor="ctr"/>
          <a:lstStyle/>
          <a:p>
            <a:pPr indent="0" marL="0">
              <a:buNone/>
            </a:pPr>
            <a:r>
              <a:rPr lang="en-US" sz="1250" dirty="0">
                <a:solidFill>
                  <a:srgbClr val="5F5F5F"/>
                </a:solidFill>
                <a:latin typeface="Calibri" pitchFamily="34" charset="0"/>
                <a:ea typeface="Calibri" pitchFamily="34" charset="-122"/>
                <a:cs typeface="Calibri" pitchFamily="34" charset="-120"/>
              </a:rPr>
              <a:t>Analyse des risques, RGPD, gestion de crise</a:t>
            </a:r>
            <a:endParaRPr lang="en-US" sz="1250" dirty="0"/>
          </a:p>
        </p:txBody>
      </p:sp>
      <p:sp>
        <p:nvSpPr>
          <p:cNvPr id="28" name="Shape 26"/>
          <p:cNvSpPr/>
          <p:nvPr/>
        </p:nvSpPr>
        <p:spPr>
          <a:xfrm>
            <a:off x="0" y="6355080"/>
            <a:ext cx="12188952" cy="502920"/>
          </a:xfrm>
          <a:prstGeom prst="rect">
            <a:avLst/>
          </a:prstGeom>
          <a:solidFill>
            <a:srgbClr val="1A3C29"/>
          </a:solidFill>
          <a:ln w="12700">
            <a:solidFill>
              <a:srgbClr val="1A3C29"/>
            </a:solidFill>
            <a:prstDash val="solid"/>
          </a:ln>
        </p:spPr>
      </p:sp>
      <p:sp>
        <p:nvSpPr>
          <p:cNvPr id="29" name="Text 27"/>
          <p:cNvSpPr/>
          <p:nvPr/>
        </p:nvSpPr>
        <p:spPr>
          <a:xfrm>
            <a:off x="502920" y="6382512"/>
            <a:ext cx="4572000" cy="237744"/>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RENOIR&amp;ALINE</a:t>
            </a:r>
            <a:endParaRPr lang="en-US" sz="1000" dirty="0"/>
          </a:p>
        </p:txBody>
      </p:sp>
      <p:sp>
        <p:nvSpPr>
          <p:cNvPr id="30" name="Text 28"/>
          <p:cNvSpPr/>
          <p:nvPr/>
        </p:nvSpPr>
        <p:spPr>
          <a:xfrm>
            <a:off x="502920" y="6601968"/>
            <a:ext cx="4572000" cy="182880"/>
          </a:xfrm>
          <a:prstGeom prst="rect">
            <a:avLst/>
          </a:prstGeom>
          <a:noFill/>
          <a:ln/>
        </p:spPr>
        <p:txBody>
          <a:bodyPr wrap="square" lIns="0" tIns="0" rIns="0" bIns="0" rtlCol="0" anchor="ctr"/>
          <a:lstStyle/>
          <a:p>
            <a:pPr indent="0" marL="0">
              <a:buNone/>
            </a:pPr>
            <a:r>
              <a:rPr lang="en-US" sz="700" spc="200" kern="0" dirty="0">
                <a:solidFill>
                  <a:srgbClr val="8AA595"/>
                </a:solidFill>
                <a:latin typeface="Calibri" pitchFamily="34" charset="0"/>
                <a:ea typeface="Calibri" pitchFamily="34" charset="-122"/>
                <a:cs typeface="Calibri" pitchFamily="34" charset="-120"/>
              </a:rPr>
              <a:t>CONSTRUCTEUR DE SITE WEB</a:t>
            </a:r>
            <a:endParaRPr lang="en-US" sz="700" dirty="0"/>
          </a:p>
        </p:txBody>
      </p:sp>
      <p:sp>
        <p:nvSpPr>
          <p:cNvPr id="31" name="Text 29"/>
          <p:cNvSpPr/>
          <p:nvPr/>
        </p:nvSpPr>
        <p:spPr>
          <a:xfrm>
            <a:off x="10241280" y="6419088"/>
            <a:ext cx="1417320" cy="365760"/>
          </a:xfrm>
          <a:prstGeom prst="rect">
            <a:avLst/>
          </a:prstGeom>
          <a:noFill/>
          <a:ln/>
        </p:spPr>
        <p:txBody>
          <a:bodyPr wrap="square" lIns="0" tIns="0" rIns="0" bIns="0" rtlCol="0" anchor="ctr"/>
          <a:lstStyle/>
          <a:p>
            <a:pPr algn="r" indent="0" marL="0">
              <a:buNone/>
            </a:pPr>
            <a:r>
              <a:rPr lang="en-US" sz="1000" b="1" dirty="0">
                <a:solidFill>
                  <a:srgbClr val="FFFFFF"/>
                </a:solidFill>
                <a:latin typeface="Calibri" pitchFamily="34" charset="0"/>
                <a:ea typeface="Calibri" pitchFamily="34" charset="-122"/>
                <a:cs typeface="Calibri" pitchFamily="34" charset="-120"/>
              </a:rPr>
              <a:t>Page 3/21</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ECE6"/>
        </a:solidFill>
      </p:bgPr>
    </p:bg>
    <p:spTree>
      <p:nvGrpSpPr>
        <p:cNvPr id="1" name=""/>
        <p:cNvGrpSpPr/>
        <p:nvPr/>
      </p:nvGrpSpPr>
      <p:grpSpPr>
        <a:xfrm>
          <a:off x="0" y="0"/>
          <a:ext cx="0" cy="0"/>
          <a:chOff x="0" y="0"/>
          <a:chExt cx="0" cy="0"/>
        </a:xfrm>
      </p:grpSpPr>
      <p:sp>
        <p:nvSpPr>
          <p:cNvPr id="2" name="Text 0"/>
          <p:cNvSpPr/>
          <p:nvPr/>
        </p:nvSpPr>
        <p:spPr>
          <a:xfrm>
            <a:off x="640080" y="384048"/>
            <a:ext cx="10881360" cy="292608"/>
          </a:xfrm>
          <a:prstGeom prst="rect">
            <a:avLst/>
          </a:prstGeom>
          <a:noFill/>
          <a:ln/>
        </p:spPr>
        <p:txBody>
          <a:bodyPr wrap="square" lIns="0" tIns="0" rIns="0" bIns="0" rtlCol="0" anchor="ctr"/>
          <a:lstStyle/>
          <a:p>
            <a:pPr indent="0" marL="0">
              <a:buNone/>
            </a:pPr>
            <a:r>
              <a:rPr lang="en-US" sz="1300" b="1" dirty="0">
                <a:solidFill>
                  <a:srgbClr val="C3612D"/>
                </a:solidFill>
                <a:latin typeface="Calibri" pitchFamily="34" charset="0"/>
                <a:ea typeface="Calibri" pitchFamily="34" charset="-122"/>
                <a:cs typeface="Calibri" pitchFamily="34" charset="-120"/>
              </a:rPr>
              <a:t>Déploiement</a:t>
            </a:r>
            <a:endParaRPr lang="en-US" sz="1300" dirty="0"/>
          </a:p>
        </p:txBody>
      </p:sp>
      <p:sp>
        <p:nvSpPr>
          <p:cNvPr id="3" name="Text 1"/>
          <p:cNvSpPr/>
          <p:nvPr/>
        </p:nvSpPr>
        <p:spPr>
          <a:xfrm>
            <a:off x="640080" y="713232"/>
            <a:ext cx="10881360" cy="822960"/>
          </a:xfrm>
          <a:prstGeom prst="rect">
            <a:avLst/>
          </a:prstGeom>
          <a:noFill/>
          <a:ln/>
        </p:spPr>
        <p:txBody>
          <a:bodyPr wrap="square" lIns="0" tIns="0" rIns="0" bIns="0" rtlCol="0" anchor="ctr"/>
          <a:lstStyle/>
          <a:p>
            <a:pPr indent="0" marL="0">
              <a:buNone/>
            </a:pPr>
            <a:r>
              <a:rPr lang="en-US" sz="3400" b="1" dirty="0">
                <a:solidFill>
                  <a:srgbClr val="1A3C29"/>
                </a:solidFill>
                <a:latin typeface="Calibri" pitchFamily="34" charset="0"/>
                <a:ea typeface="Calibri" pitchFamily="34" charset="-122"/>
                <a:cs typeface="Calibri" pitchFamily="34" charset="-120"/>
              </a:rPr>
              <a:t>Environnement Docker</a:t>
            </a:r>
            <a:endParaRPr lang="en-US" sz="3400" dirty="0"/>
          </a:p>
        </p:txBody>
      </p:sp>
      <p:sp>
        <p:nvSpPr>
          <p:cNvPr id="4" name="Shape 2"/>
          <p:cNvSpPr/>
          <p:nvPr/>
        </p:nvSpPr>
        <p:spPr>
          <a:xfrm>
            <a:off x="640080" y="1828800"/>
            <a:ext cx="3429000" cy="2148840"/>
          </a:xfrm>
          <a:prstGeom prst="roundRect">
            <a:avLst>
              <a:gd name="adj" fmla="val 2553"/>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5" name="Shape 3"/>
          <p:cNvSpPr/>
          <p:nvPr/>
        </p:nvSpPr>
        <p:spPr>
          <a:xfrm>
            <a:off x="1938528" y="2057400"/>
            <a:ext cx="822960" cy="822960"/>
          </a:xfrm>
          <a:prstGeom prst="ellipse">
            <a:avLst/>
          </a:prstGeom>
          <a:solidFill>
            <a:srgbClr val="C3612D"/>
          </a:solidFill>
          <a:ln w="12700">
            <a:solidFill>
              <a:srgbClr val="C3612D"/>
            </a:solidFill>
            <a:prstDash val="solid"/>
          </a:ln>
        </p:spPr>
      </p:sp>
      <p:sp>
        <p:nvSpPr>
          <p:cNvPr id="6" name="Text 4"/>
          <p:cNvSpPr/>
          <p:nvPr/>
        </p:nvSpPr>
        <p:spPr>
          <a:xfrm>
            <a:off x="777240" y="3017520"/>
            <a:ext cx="3154680" cy="365760"/>
          </a:xfrm>
          <a:prstGeom prst="rect">
            <a:avLst/>
          </a:prstGeom>
          <a:noFill/>
          <a:ln/>
        </p:spPr>
        <p:txBody>
          <a:bodyPr wrap="square" lIns="0" tIns="0" rIns="0" bIns="0" rtlCol="0" anchor="ctr"/>
          <a:lstStyle/>
          <a:p>
            <a:pPr algn="ctr" indent="0" marL="0">
              <a:buNone/>
            </a:pPr>
            <a:r>
              <a:rPr lang="en-US" sz="1700" b="1" dirty="0">
                <a:solidFill>
                  <a:srgbClr val="1A3C29"/>
                </a:solidFill>
                <a:latin typeface="Calibri" pitchFamily="34" charset="0"/>
                <a:ea typeface="Calibri" pitchFamily="34" charset="-122"/>
                <a:cs typeface="Calibri" pitchFamily="34" charset="-120"/>
              </a:rPr>
              <a:t>Frontend</a:t>
            </a:r>
            <a:endParaRPr lang="en-US" sz="1700" dirty="0"/>
          </a:p>
        </p:txBody>
      </p:sp>
      <p:sp>
        <p:nvSpPr>
          <p:cNvPr id="7" name="Text 5"/>
          <p:cNvSpPr/>
          <p:nvPr/>
        </p:nvSpPr>
        <p:spPr>
          <a:xfrm>
            <a:off x="777240" y="3401568"/>
            <a:ext cx="3154680" cy="292608"/>
          </a:xfrm>
          <a:prstGeom prst="rect">
            <a:avLst/>
          </a:prstGeom>
          <a:noFill/>
          <a:ln/>
        </p:spPr>
        <p:txBody>
          <a:bodyPr wrap="square" lIns="0" tIns="0" rIns="0" bIns="0" rtlCol="0" anchor="ctr"/>
          <a:lstStyle/>
          <a:p>
            <a:pPr algn="ctr" indent="0" marL="0">
              <a:buNone/>
            </a:pPr>
            <a:r>
              <a:rPr lang="en-US" sz="1300" dirty="0">
                <a:solidFill>
                  <a:srgbClr val="5F5F5F"/>
                </a:solidFill>
                <a:latin typeface="Calibri" pitchFamily="34" charset="0"/>
                <a:ea typeface="Calibri" pitchFamily="34" charset="-122"/>
                <a:cs typeface="Calibri" pitchFamily="34" charset="-120"/>
              </a:rPr>
              <a:t>React + nginx</a:t>
            </a:r>
            <a:endParaRPr lang="en-US" sz="1300" dirty="0"/>
          </a:p>
        </p:txBody>
      </p:sp>
      <p:sp>
        <p:nvSpPr>
          <p:cNvPr id="8" name="Text 6"/>
          <p:cNvSpPr/>
          <p:nvPr/>
        </p:nvSpPr>
        <p:spPr>
          <a:xfrm>
            <a:off x="777240" y="3675888"/>
            <a:ext cx="3154680" cy="256032"/>
          </a:xfrm>
          <a:prstGeom prst="rect">
            <a:avLst/>
          </a:prstGeom>
          <a:noFill/>
          <a:ln/>
        </p:spPr>
        <p:txBody>
          <a:bodyPr wrap="square" lIns="0" tIns="0" rIns="0" bIns="0" rtlCol="0" anchor="ctr"/>
          <a:lstStyle/>
          <a:p>
            <a:pPr algn="ctr" indent="0" marL="0">
              <a:buNone/>
            </a:pPr>
            <a:r>
              <a:rPr lang="en-US" sz="1100" i="1" dirty="0">
                <a:solidFill>
                  <a:srgbClr val="C3612D"/>
                </a:solidFill>
                <a:latin typeface="Calibri" pitchFamily="34" charset="0"/>
                <a:ea typeface="Calibri" pitchFamily="34" charset="-122"/>
                <a:cs typeface="Calibri" pitchFamily="34" charset="-120"/>
              </a:rPr>
              <a:t>Port 3000</a:t>
            </a:r>
            <a:endParaRPr lang="en-US" sz="1100" dirty="0"/>
          </a:p>
        </p:txBody>
      </p:sp>
      <p:sp>
        <p:nvSpPr>
          <p:cNvPr id="9" name="Shape 7"/>
          <p:cNvSpPr/>
          <p:nvPr/>
        </p:nvSpPr>
        <p:spPr>
          <a:xfrm>
            <a:off x="4389120" y="1828800"/>
            <a:ext cx="3429000" cy="2148840"/>
          </a:xfrm>
          <a:prstGeom prst="roundRect">
            <a:avLst>
              <a:gd name="adj" fmla="val 2553"/>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10" name="Shape 8"/>
          <p:cNvSpPr/>
          <p:nvPr/>
        </p:nvSpPr>
        <p:spPr>
          <a:xfrm>
            <a:off x="5687568" y="2057400"/>
            <a:ext cx="822960" cy="822960"/>
          </a:xfrm>
          <a:prstGeom prst="ellipse">
            <a:avLst/>
          </a:prstGeom>
          <a:solidFill>
            <a:srgbClr val="296E4A"/>
          </a:solidFill>
          <a:ln w="12700">
            <a:solidFill>
              <a:srgbClr val="296E4A"/>
            </a:solidFill>
            <a:prstDash val="solid"/>
          </a:ln>
        </p:spPr>
      </p:sp>
      <p:sp>
        <p:nvSpPr>
          <p:cNvPr id="11" name="Text 9"/>
          <p:cNvSpPr/>
          <p:nvPr/>
        </p:nvSpPr>
        <p:spPr>
          <a:xfrm>
            <a:off x="4526280" y="3017520"/>
            <a:ext cx="3154680" cy="365760"/>
          </a:xfrm>
          <a:prstGeom prst="rect">
            <a:avLst/>
          </a:prstGeom>
          <a:noFill/>
          <a:ln/>
        </p:spPr>
        <p:txBody>
          <a:bodyPr wrap="square" lIns="0" tIns="0" rIns="0" bIns="0" rtlCol="0" anchor="ctr"/>
          <a:lstStyle/>
          <a:p>
            <a:pPr algn="ctr" indent="0" marL="0">
              <a:buNone/>
            </a:pPr>
            <a:r>
              <a:rPr lang="en-US" sz="1700" b="1" dirty="0">
                <a:solidFill>
                  <a:srgbClr val="1A3C29"/>
                </a:solidFill>
                <a:latin typeface="Calibri" pitchFamily="34" charset="0"/>
                <a:ea typeface="Calibri" pitchFamily="34" charset="-122"/>
                <a:cs typeface="Calibri" pitchFamily="34" charset="-120"/>
              </a:rPr>
              <a:t>Backend</a:t>
            </a:r>
            <a:endParaRPr lang="en-US" sz="1700" dirty="0"/>
          </a:p>
        </p:txBody>
      </p:sp>
      <p:sp>
        <p:nvSpPr>
          <p:cNvPr id="12" name="Text 10"/>
          <p:cNvSpPr/>
          <p:nvPr/>
        </p:nvSpPr>
        <p:spPr>
          <a:xfrm>
            <a:off x="4526280" y="3401568"/>
            <a:ext cx="3154680" cy="292608"/>
          </a:xfrm>
          <a:prstGeom prst="rect">
            <a:avLst/>
          </a:prstGeom>
          <a:noFill/>
          <a:ln/>
        </p:spPr>
        <p:txBody>
          <a:bodyPr wrap="square" lIns="0" tIns="0" rIns="0" bIns="0" rtlCol="0" anchor="ctr"/>
          <a:lstStyle/>
          <a:p>
            <a:pPr algn="ctr" indent="0" marL="0">
              <a:buNone/>
            </a:pPr>
            <a:r>
              <a:rPr lang="en-US" sz="1300" dirty="0">
                <a:solidFill>
                  <a:srgbClr val="5F5F5F"/>
                </a:solidFill>
                <a:latin typeface="Calibri" pitchFamily="34" charset="0"/>
                <a:ea typeface="Calibri" pitchFamily="34" charset="-122"/>
                <a:cs typeface="Calibri" pitchFamily="34" charset="-120"/>
              </a:rPr>
              <a:t>Node.js / Express</a:t>
            </a:r>
            <a:endParaRPr lang="en-US" sz="1300" dirty="0"/>
          </a:p>
        </p:txBody>
      </p:sp>
      <p:sp>
        <p:nvSpPr>
          <p:cNvPr id="13" name="Text 11"/>
          <p:cNvSpPr/>
          <p:nvPr/>
        </p:nvSpPr>
        <p:spPr>
          <a:xfrm>
            <a:off x="4526280" y="3675888"/>
            <a:ext cx="3154680" cy="256032"/>
          </a:xfrm>
          <a:prstGeom prst="rect">
            <a:avLst/>
          </a:prstGeom>
          <a:noFill/>
          <a:ln/>
        </p:spPr>
        <p:txBody>
          <a:bodyPr wrap="square" lIns="0" tIns="0" rIns="0" bIns="0" rtlCol="0" anchor="ctr"/>
          <a:lstStyle/>
          <a:p>
            <a:pPr algn="ctr" indent="0" marL="0">
              <a:buNone/>
            </a:pPr>
            <a:r>
              <a:rPr lang="en-US" sz="1100" i="1" dirty="0">
                <a:solidFill>
                  <a:srgbClr val="C3612D"/>
                </a:solidFill>
                <a:latin typeface="Calibri" pitchFamily="34" charset="0"/>
                <a:ea typeface="Calibri" pitchFamily="34" charset="-122"/>
                <a:cs typeface="Calibri" pitchFamily="34" charset="-120"/>
              </a:rPr>
              <a:t>Port 5001</a:t>
            </a:r>
            <a:endParaRPr lang="en-US" sz="1100" dirty="0"/>
          </a:p>
        </p:txBody>
      </p:sp>
      <p:sp>
        <p:nvSpPr>
          <p:cNvPr id="14" name="Shape 12"/>
          <p:cNvSpPr/>
          <p:nvPr/>
        </p:nvSpPr>
        <p:spPr>
          <a:xfrm>
            <a:off x="8138160" y="1828800"/>
            <a:ext cx="3429000" cy="2148840"/>
          </a:xfrm>
          <a:prstGeom prst="roundRect">
            <a:avLst>
              <a:gd name="adj" fmla="val 2553"/>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15" name="Shape 13"/>
          <p:cNvSpPr/>
          <p:nvPr/>
        </p:nvSpPr>
        <p:spPr>
          <a:xfrm>
            <a:off x="9436608" y="2057400"/>
            <a:ext cx="822960" cy="822960"/>
          </a:xfrm>
          <a:prstGeom prst="ellipse">
            <a:avLst/>
          </a:prstGeom>
          <a:solidFill>
            <a:srgbClr val="1A3C29"/>
          </a:solidFill>
          <a:ln w="12700">
            <a:solidFill>
              <a:srgbClr val="1A3C29"/>
            </a:solidFill>
            <a:prstDash val="solid"/>
          </a:ln>
        </p:spPr>
      </p:sp>
      <p:sp>
        <p:nvSpPr>
          <p:cNvPr id="16" name="Text 14"/>
          <p:cNvSpPr/>
          <p:nvPr/>
        </p:nvSpPr>
        <p:spPr>
          <a:xfrm>
            <a:off x="8275320" y="3017520"/>
            <a:ext cx="3154680" cy="365760"/>
          </a:xfrm>
          <a:prstGeom prst="rect">
            <a:avLst/>
          </a:prstGeom>
          <a:noFill/>
          <a:ln/>
        </p:spPr>
        <p:txBody>
          <a:bodyPr wrap="square" lIns="0" tIns="0" rIns="0" bIns="0" rtlCol="0" anchor="ctr"/>
          <a:lstStyle/>
          <a:p>
            <a:pPr algn="ctr" indent="0" marL="0">
              <a:buNone/>
            </a:pPr>
            <a:r>
              <a:rPr lang="en-US" sz="1700" b="1" dirty="0">
                <a:solidFill>
                  <a:srgbClr val="1A3C29"/>
                </a:solidFill>
                <a:latin typeface="Calibri" pitchFamily="34" charset="0"/>
                <a:ea typeface="Calibri" pitchFamily="34" charset="-122"/>
                <a:cs typeface="Calibri" pitchFamily="34" charset="-120"/>
              </a:rPr>
              <a:t>Base de données</a:t>
            </a:r>
            <a:endParaRPr lang="en-US" sz="1700" dirty="0"/>
          </a:p>
        </p:txBody>
      </p:sp>
      <p:sp>
        <p:nvSpPr>
          <p:cNvPr id="17" name="Text 15"/>
          <p:cNvSpPr/>
          <p:nvPr/>
        </p:nvSpPr>
        <p:spPr>
          <a:xfrm>
            <a:off x="8275320" y="3401568"/>
            <a:ext cx="3154680" cy="292608"/>
          </a:xfrm>
          <a:prstGeom prst="rect">
            <a:avLst/>
          </a:prstGeom>
          <a:noFill/>
          <a:ln/>
        </p:spPr>
        <p:txBody>
          <a:bodyPr wrap="square" lIns="0" tIns="0" rIns="0" bIns="0" rtlCol="0" anchor="ctr"/>
          <a:lstStyle/>
          <a:p>
            <a:pPr algn="ctr" indent="0" marL="0">
              <a:buNone/>
            </a:pPr>
            <a:r>
              <a:rPr lang="en-US" sz="1300" dirty="0">
                <a:solidFill>
                  <a:srgbClr val="5F5F5F"/>
                </a:solidFill>
                <a:latin typeface="Calibri" pitchFamily="34" charset="0"/>
                <a:ea typeface="Calibri" pitchFamily="34" charset="-122"/>
                <a:cs typeface="Calibri" pitchFamily="34" charset="-120"/>
              </a:rPr>
              <a:t>PostgreSQL 16</a:t>
            </a:r>
            <a:endParaRPr lang="en-US" sz="1300" dirty="0"/>
          </a:p>
        </p:txBody>
      </p:sp>
      <p:sp>
        <p:nvSpPr>
          <p:cNvPr id="18" name="Text 16"/>
          <p:cNvSpPr/>
          <p:nvPr/>
        </p:nvSpPr>
        <p:spPr>
          <a:xfrm>
            <a:off x="8275320" y="3675888"/>
            <a:ext cx="3154680" cy="256032"/>
          </a:xfrm>
          <a:prstGeom prst="rect">
            <a:avLst/>
          </a:prstGeom>
          <a:noFill/>
          <a:ln/>
        </p:spPr>
        <p:txBody>
          <a:bodyPr wrap="square" lIns="0" tIns="0" rIns="0" bIns="0" rtlCol="0" anchor="ctr"/>
          <a:lstStyle/>
          <a:p>
            <a:pPr algn="ctr" indent="0" marL="0">
              <a:buNone/>
            </a:pPr>
            <a:r>
              <a:rPr lang="en-US" sz="1100" i="1" dirty="0">
                <a:solidFill>
                  <a:srgbClr val="C3612D"/>
                </a:solidFill>
                <a:latin typeface="Calibri" pitchFamily="34" charset="0"/>
                <a:ea typeface="Calibri" pitchFamily="34" charset="-122"/>
                <a:cs typeface="Calibri" pitchFamily="34" charset="-120"/>
              </a:rPr>
              <a:t>Schéma auto</a:t>
            </a:r>
            <a:endParaRPr lang="en-US" sz="1100" dirty="0"/>
          </a:p>
        </p:txBody>
      </p:sp>
      <p:sp>
        <p:nvSpPr>
          <p:cNvPr id="19" name="Shape 17"/>
          <p:cNvSpPr/>
          <p:nvPr/>
        </p:nvSpPr>
        <p:spPr>
          <a:xfrm>
            <a:off x="640080" y="4297680"/>
            <a:ext cx="10881360" cy="1463040"/>
          </a:xfrm>
          <a:prstGeom prst="roundRect">
            <a:avLst>
              <a:gd name="adj" fmla="val 3750"/>
            </a:avLst>
          </a:prstGeom>
          <a:solidFill>
            <a:srgbClr val="1A3C29"/>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20" name="Text 18"/>
          <p:cNvSpPr/>
          <p:nvPr/>
        </p:nvSpPr>
        <p:spPr>
          <a:xfrm>
            <a:off x="914400" y="4480560"/>
            <a:ext cx="1033272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Une seule commande monte tout l’environnement</a:t>
            </a:r>
            <a:endParaRPr lang="en-US" sz="1600" dirty="0"/>
          </a:p>
        </p:txBody>
      </p:sp>
      <p:sp>
        <p:nvSpPr>
          <p:cNvPr id="21" name="Text 19"/>
          <p:cNvSpPr/>
          <p:nvPr/>
        </p:nvSpPr>
        <p:spPr>
          <a:xfrm>
            <a:off x="914400" y="4937760"/>
            <a:ext cx="10332720" cy="640080"/>
          </a:xfrm>
          <a:prstGeom prst="rect">
            <a:avLst/>
          </a:prstGeom>
          <a:noFill/>
          <a:ln/>
        </p:spPr>
        <p:txBody>
          <a:bodyPr wrap="square" lIns="0" tIns="0" rIns="0" bIns="0" rtlCol="0" anchor="ctr"/>
          <a:lstStyle/>
          <a:p>
            <a:pPr indent="0" marL="0">
              <a:buNone/>
            </a:pPr>
            <a:r>
              <a:rPr lang="en-US" sz="1400" b="1" dirty="0">
                <a:solidFill>
                  <a:srgbClr val="F2C9A0"/>
                </a:solidFill>
                <a:latin typeface="Calibri" pitchFamily="34" charset="0"/>
                <a:ea typeface="Calibri" pitchFamily="34" charset="-122"/>
                <a:cs typeface="Calibri" pitchFamily="34" charset="-120"/>
              </a:rPr>
              <a:t>docker compose up --build</a:t>
            </a:r>
            <a:pPr indent="0" marL="0">
              <a:buNone/>
            </a:pPr>
            <a:r>
              <a:rPr lang="en-US" sz="1400" dirty="0">
                <a:solidFill>
                  <a:srgbClr val="D9D2C7"/>
                </a:solidFill>
                <a:latin typeface="Calibri" pitchFamily="34" charset="0"/>
                <a:ea typeface="Calibri" pitchFamily="34" charset="-122"/>
                <a:cs typeface="Calibri" pitchFamily="34" charset="-120"/>
              </a:rPr>
              <a:t>   —   Environnements : Développement · Test (Docker) · Production</a:t>
            </a:r>
            <a:endParaRPr lang="en-US" sz="1400" dirty="0"/>
          </a:p>
        </p:txBody>
      </p:sp>
      <p:sp>
        <p:nvSpPr>
          <p:cNvPr id="22" name="Shape 20"/>
          <p:cNvSpPr/>
          <p:nvPr/>
        </p:nvSpPr>
        <p:spPr>
          <a:xfrm>
            <a:off x="0" y="6355080"/>
            <a:ext cx="12188952" cy="502920"/>
          </a:xfrm>
          <a:prstGeom prst="rect">
            <a:avLst/>
          </a:prstGeom>
          <a:solidFill>
            <a:srgbClr val="1A3C29"/>
          </a:solidFill>
          <a:ln w="12700">
            <a:solidFill>
              <a:srgbClr val="1A3C29"/>
            </a:solidFill>
            <a:prstDash val="solid"/>
          </a:ln>
        </p:spPr>
      </p:sp>
      <p:sp>
        <p:nvSpPr>
          <p:cNvPr id="23" name="Text 21"/>
          <p:cNvSpPr/>
          <p:nvPr/>
        </p:nvSpPr>
        <p:spPr>
          <a:xfrm>
            <a:off x="502920" y="6382512"/>
            <a:ext cx="4572000" cy="237744"/>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RENOIR&amp;ALINE</a:t>
            </a:r>
            <a:endParaRPr lang="en-US" sz="1000" dirty="0"/>
          </a:p>
        </p:txBody>
      </p:sp>
      <p:sp>
        <p:nvSpPr>
          <p:cNvPr id="24" name="Text 22"/>
          <p:cNvSpPr/>
          <p:nvPr/>
        </p:nvSpPr>
        <p:spPr>
          <a:xfrm>
            <a:off x="502920" y="6601968"/>
            <a:ext cx="4572000" cy="182880"/>
          </a:xfrm>
          <a:prstGeom prst="rect">
            <a:avLst/>
          </a:prstGeom>
          <a:noFill/>
          <a:ln/>
        </p:spPr>
        <p:txBody>
          <a:bodyPr wrap="square" lIns="0" tIns="0" rIns="0" bIns="0" rtlCol="0" anchor="ctr"/>
          <a:lstStyle/>
          <a:p>
            <a:pPr indent="0" marL="0">
              <a:buNone/>
            </a:pPr>
            <a:r>
              <a:rPr lang="en-US" sz="700" spc="200" kern="0" dirty="0">
                <a:solidFill>
                  <a:srgbClr val="8AA595"/>
                </a:solidFill>
                <a:latin typeface="Calibri" pitchFamily="34" charset="0"/>
                <a:ea typeface="Calibri" pitchFamily="34" charset="-122"/>
                <a:cs typeface="Calibri" pitchFamily="34" charset="-120"/>
              </a:rPr>
              <a:t>CONSTRUCTEUR DE SITE WEB</a:t>
            </a:r>
            <a:endParaRPr lang="en-US" sz="700" dirty="0"/>
          </a:p>
        </p:txBody>
      </p:sp>
      <p:sp>
        <p:nvSpPr>
          <p:cNvPr id="25" name="Text 23"/>
          <p:cNvSpPr/>
          <p:nvPr/>
        </p:nvSpPr>
        <p:spPr>
          <a:xfrm>
            <a:off x="10241280" y="6419088"/>
            <a:ext cx="1417320" cy="365760"/>
          </a:xfrm>
          <a:prstGeom prst="rect">
            <a:avLst/>
          </a:prstGeom>
          <a:noFill/>
          <a:ln/>
        </p:spPr>
        <p:txBody>
          <a:bodyPr wrap="square" lIns="0" tIns="0" rIns="0" bIns="0" rtlCol="0" anchor="ctr"/>
          <a:lstStyle/>
          <a:p>
            <a:pPr algn="r" indent="0" marL="0">
              <a:buNone/>
            </a:pPr>
            <a:r>
              <a:rPr lang="en-US" sz="1000" b="1" dirty="0">
                <a:solidFill>
                  <a:srgbClr val="FFFFFF"/>
                </a:solidFill>
                <a:latin typeface="Calibri" pitchFamily="34" charset="0"/>
                <a:ea typeface="Calibri" pitchFamily="34" charset="-122"/>
                <a:cs typeface="Calibri" pitchFamily="34" charset="-120"/>
              </a:rPr>
              <a:t>Page 4/21</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Environnements">
    <p:bg>
      <p:bgPr>
        <a:solidFill>
          <a:srgbClr val="F1ECE6"/>
        </a:solidFill>
      </p:bgPr>
    </p:bg>
    <p:spTree>
      <p:nvGrpSpPr>
        <p:cNvPr id="1" name=""/>
        <p:cNvGrpSpPr/>
        <p:nvPr/>
      </p:nvGrpSpPr>
      <p:grpSpPr>
        <a:xfrm>
          <a:off x="0" y="0"/>
          <a:ext cx="0" cy="0"/>
          <a:chOff x="0" y="0"/>
          <a:chExt cx="0" cy="0"/>
        </a:xfrm>
      </p:grpSpPr>
      <p:sp>
        <p:nvSpPr>
          <p:cNvPr id="2" name="Text 2"/>
          <p:cNvSpPr/>
          <p:nvPr/>
        </p:nvSpPr>
        <p:spPr>
          <a:xfrm>
            <a:off x="640080" y="384048"/>
            <a:ext cx="10881360" cy="292608"/>
          </a:xfrm>
          <a:prstGeom prst="rect">
            <a:avLst/>
          </a:prstGeom>
          <a:noFill/>
          <a:ln/>
        </p:spPr>
        <p:txBody>
          <a:bodyPr wrap="square" lIns="0" tIns="0" rIns="0" bIns="0" rtlCol="0" anchor="ctr"/>
          <a:lstStyle/>
          <a:p>
            <a:pPr algn="l" indent="0" marL="0">
              <a:buNone/>
            </a:pPr>
            <a:r>
              <a:rPr lang="fr-FR" sz="1300" b="1" dirty="0">
                <a:solidFill>
                  <a:srgbClr val="C3612D"/>
                </a:solidFill>
                <a:latin typeface="Calibri" pitchFamily="34" charset="0"/>
                <a:ea typeface="Calibri" pitchFamily="34" charset="-122"/>
                <a:cs typeface="Calibri" pitchFamily="34" charset="-120"/>
              </a:rPr>
              <a:t>Déploiement</a:t>
            </a:r>
            <a:endParaRPr lang="fr-FR" sz="1300" dirty="0"/>
          </a:p>
        </p:txBody>
      </p:sp>
      <p:sp>
        <p:nvSpPr>
          <p:cNvPr id="3" name="Text 3"/>
          <p:cNvSpPr/>
          <p:nvPr/>
        </p:nvSpPr>
        <p:spPr>
          <a:xfrm>
            <a:off x="640080" y="713232"/>
            <a:ext cx="10881360" cy="822960"/>
          </a:xfrm>
          <a:prstGeom prst="rect">
            <a:avLst/>
          </a:prstGeom>
          <a:noFill/>
          <a:ln/>
        </p:spPr>
        <p:txBody>
          <a:bodyPr wrap="square" lIns="0" tIns="0" rIns="0" bIns="0" rtlCol="0" anchor="ctr"/>
          <a:lstStyle/>
          <a:p>
            <a:pPr algn="l" indent="0" marL="0">
              <a:buNone/>
            </a:pPr>
            <a:r>
              <a:rPr lang="fr-FR" sz="3400" b="1" dirty="0">
                <a:solidFill>
                  <a:srgbClr val="1A3C29"/>
                </a:solidFill>
                <a:latin typeface="Calibri" pitchFamily="34" charset="0"/>
                <a:ea typeface="Calibri" pitchFamily="34" charset="-122"/>
                <a:cs typeface="Calibri" pitchFamily="34" charset="-120"/>
              </a:rPr>
              <a:t>Les trois environnements</a:t>
            </a:r>
            <a:endParaRPr lang="fr-FR" sz="3400" dirty="0"/>
          </a:p>
        </p:txBody>
      </p:sp>
      <p:sp>
        <p:nvSpPr>
          <p:cNvPr id="4" name="Shape 4"/>
          <p:cNvSpPr/>
          <p:nvPr/>
        </p:nvSpPr>
        <p:spPr>
          <a:xfrm>
            <a:off x="640080" y="1874520"/>
            <a:ext cx="3557016" cy="2834640"/>
          </a:xfrm>
          <a:prstGeom prst="roundRect">
            <a:avLst>
              <a:gd name="adj" fmla="val 2727"/>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5" name="Shape 5"/>
          <p:cNvSpPr/>
          <p:nvPr/>
        </p:nvSpPr>
        <p:spPr>
          <a:xfrm>
            <a:off x="640080" y="1874520"/>
            <a:ext cx="3557016" cy="457200"/>
          </a:xfrm>
          <a:prstGeom prst="roundRect">
            <a:avLst>
              <a:gd name="adj" fmla="val 6000"/>
            </a:avLst>
          </a:prstGeom>
          <a:solidFill>
            <a:srgbClr val="8AA595"/>
          </a:solidFill>
          <a:ln w="12700">
            <a:solidFill>
              <a:srgbClr val="8AA595"/>
            </a:solidFill>
            <a:prstDash val="solid"/>
          </a:ln>
        </p:spPr>
      </p:sp>
      <p:sp>
        <p:nvSpPr>
          <p:cNvPr id="6" name="Shape 6"/>
          <p:cNvSpPr/>
          <p:nvPr/>
        </p:nvSpPr>
        <p:spPr>
          <a:xfrm>
            <a:off x="640080" y="2103120"/>
            <a:ext cx="3557016" cy="228600"/>
          </a:xfrm>
          <a:prstGeom prst="rect">
            <a:avLst/>
          </a:prstGeom>
          <a:solidFill>
            <a:srgbClr val="8AA595"/>
          </a:solidFill>
          <a:ln w="12700">
            <a:solidFill>
              <a:srgbClr val="8AA595"/>
            </a:solidFill>
            <a:prstDash val="solid"/>
          </a:ln>
        </p:spPr>
      </p:sp>
      <p:sp>
        <p:nvSpPr>
          <p:cNvPr id="7" name="Text 7"/>
          <p:cNvSpPr/>
          <p:nvPr/>
        </p:nvSpPr>
        <p:spPr>
          <a:xfrm>
            <a:off x="640080" y="1920240"/>
            <a:ext cx="3557016" cy="365760"/>
          </a:xfrm>
          <a:prstGeom prst="rect">
            <a:avLst/>
          </a:prstGeom>
          <a:noFill/>
          <a:ln/>
        </p:spPr>
        <p:txBody>
          <a:bodyPr wrap="square" lIns="0" tIns="0" rIns="0" bIns="0" rtlCol="0" anchor="ctr"/>
          <a:lstStyle/>
          <a:p>
            <a:pPr algn="ctr" indent="0" marL="0">
              <a:buNone/>
            </a:pPr>
            <a:r>
              <a:rPr lang="fr-FR" sz="1200" b="1" dirty="0">
                <a:solidFill>
                  <a:srgbClr val="FFFFFF"/>
                </a:solidFill>
                <a:latin typeface="Calibri" pitchFamily="34" charset="0"/>
                <a:ea typeface="Calibri" pitchFamily="34" charset="-122"/>
                <a:cs typeface="Calibri" pitchFamily="34" charset="-120"/>
              </a:rPr>
              <a:t>DÉVELOPPEMENT</a:t>
            </a:r>
            <a:endParaRPr lang="fr-FR" sz="1200" dirty="0"/>
          </a:p>
        </p:txBody>
      </p:sp>
      <p:sp>
        <p:nvSpPr>
          <p:cNvPr id="8" name="Text 8"/>
          <p:cNvSpPr/>
          <p:nvPr/>
        </p:nvSpPr>
        <p:spPr>
          <a:xfrm>
            <a:off x="914400" y="2441448"/>
            <a:ext cx="3008376" cy="274320"/>
          </a:xfrm>
          <a:prstGeom prst="rect">
            <a:avLst/>
          </a:prstGeom>
          <a:noFill/>
          <a:ln/>
        </p:spPr>
        <p:txBody>
          <a:bodyPr wrap="square" lIns="0" tIns="0" rIns="0" bIns="0" rtlCol="0" anchor="ctr"/>
          <a:lstStyle/>
          <a:p>
            <a:pPr algn="l" indent="0" marL="0">
              <a:buNone/>
            </a:pPr>
            <a:r>
              <a:rPr lang="fr-FR" sz="1000" b="1" dirty="0">
                <a:solidFill>
                  <a:srgbClr val="1A3C29"/>
                </a:solidFill>
                <a:latin typeface="Calibri" pitchFamily="34" charset="0"/>
                <a:ea typeface="Calibri" pitchFamily="34" charset="-122"/>
                <a:cs typeface="Calibri" pitchFamily="34" charset="-120"/>
              </a:rPr>
              <a:t>Poste du développeur</a:t>
            </a:r>
            <a:endParaRPr lang="fr-FR" sz="1000" dirty="0"/>
          </a:p>
        </p:txBody>
      </p:sp>
      <p:sp>
        <p:nvSpPr>
          <p:cNvPr id="9" name="Shape 9"/>
          <p:cNvSpPr/>
          <p:nvPr/>
        </p:nvSpPr>
        <p:spPr>
          <a:xfrm>
            <a:off x="914400" y="2926080"/>
            <a:ext cx="91440" cy="18288"/>
          </a:xfrm>
          <a:prstGeom prst="rect">
            <a:avLst/>
          </a:prstGeom>
          <a:solidFill>
            <a:srgbClr val="8AA595"/>
          </a:solidFill>
          <a:ln w="12700">
            <a:solidFill>
              <a:srgbClr val="8AA595"/>
            </a:solidFill>
            <a:prstDash val="solid"/>
          </a:ln>
        </p:spPr>
      </p:sp>
      <p:sp>
        <p:nvSpPr>
          <p:cNvPr id="10" name="Text 10"/>
          <p:cNvSpPr/>
          <p:nvPr/>
        </p:nvSpPr>
        <p:spPr>
          <a:xfrm>
            <a:off x="1115568" y="2788920"/>
            <a:ext cx="2898648" cy="292608"/>
          </a:xfrm>
          <a:prstGeom prst="rect">
            <a:avLst/>
          </a:prstGeom>
          <a:noFill/>
          <a:ln/>
        </p:spPr>
        <p:txBody>
          <a:bodyPr wrap="square" lIns="0" tIns="0" rIns="0" bIns="0" rtlCol="0" anchor="ctr"/>
          <a:lstStyle/>
          <a:p>
            <a:pPr algn="l" indent="0" marL="0">
              <a:buNone/>
            </a:pPr>
            <a:r>
              <a:rPr lang="fr-FR" sz="1000" dirty="0">
                <a:solidFill>
                  <a:srgbClr val="5F5F5F"/>
                </a:solidFill>
                <a:latin typeface="Calibri" pitchFamily="34" charset="0"/>
                <a:ea typeface="Calibri" pitchFamily="34" charset="-122"/>
                <a:cs typeface="Calibri" pitchFamily="34" charset="-120"/>
              </a:rPr>
              <a:t>npm run dev (nodemon, React)</a:t>
            </a:r>
            <a:endParaRPr lang="fr-FR" sz="1000" dirty="0"/>
          </a:p>
        </p:txBody>
      </p:sp>
      <p:sp>
        <p:nvSpPr>
          <p:cNvPr id="11" name="Shape 11"/>
          <p:cNvSpPr/>
          <p:nvPr/>
        </p:nvSpPr>
        <p:spPr>
          <a:xfrm>
            <a:off x="914400" y="3218688"/>
            <a:ext cx="91440" cy="18288"/>
          </a:xfrm>
          <a:prstGeom prst="rect">
            <a:avLst/>
          </a:prstGeom>
          <a:solidFill>
            <a:srgbClr val="8AA595"/>
          </a:solidFill>
          <a:ln w="12700">
            <a:solidFill>
              <a:srgbClr val="8AA595"/>
            </a:solidFill>
            <a:prstDash val="solid"/>
          </a:ln>
        </p:spPr>
      </p:sp>
      <p:sp>
        <p:nvSpPr>
          <p:cNvPr id="12" name="Text 12"/>
          <p:cNvSpPr/>
          <p:nvPr/>
        </p:nvSpPr>
        <p:spPr>
          <a:xfrm>
            <a:off x="1115568" y="3081528"/>
            <a:ext cx="2898648" cy="292608"/>
          </a:xfrm>
          <a:prstGeom prst="rect">
            <a:avLst/>
          </a:prstGeom>
          <a:noFill/>
          <a:ln/>
        </p:spPr>
        <p:txBody>
          <a:bodyPr wrap="square" lIns="0" tIns="0" rIns="0" bIns="0" rtlCol="0" anchor="ctr"/>
          <a:lstStyle/>
          <a:p>
            <a:pPr algn="l" indent="0" marL="0">
              <a:buNone/>
            </a:pPr>
            <a:r>
              <a:rPr lang="fr-FR" sz="1000" dirty="0">
                <a:solidFill>
                  <a:srgbClr val="5F5F5F"/>
                </a:solidFill>
                <a:latin typeface="Calibri" pitchFamily="34" charset="0"/>
                <a:ea typeface="Calibri" pitchFamily="34" charset="-122"/>
                <a:cs typeface="Calibri" pitchFamily="34" charset="-120"/>
              </a:rPr>
              <a:t>PostgreSQL installé en local</a:t>
            </a:r>
            <a:endParaRPr lang="fr-FR" sz="1000" dirty="0"/>
          </a:p>
        </p:txBody>
      </p:sp>
      <p:sp>
        <p:nvSpPr>
          <p:cNvPr id="13" name="Shape 13"/>
          <p:cNvSpPr/>
          <p:nvPr/>
        </p:nvSpPr>
        <p:spPr>
          <a:xfrm>
            <a:off x="914400" y="3511296"/>
            <a:ext cx="91440" cy="18288"/>
          </a:xfrm>
          <a:prstGeom prst="rect">
            <a:avLst/>
          </a:prstGeom>
          <a:solidFill>
            <a:srgbClr val="8AA595"/>
          </a:solidFill>
          <a:ln w="12700">
            <a:solidFill>
              <a:srgbClr val="8AA595"/>
            </a:solidFill>
            <a:prstDash val="solid"/>
          </a:ln>
        </p:spPr>
      </p:sp>
      <p:sp>
        <p:nvSpPr>
          <p:cNvPr id="14" name="Text 14"/>
          <p:cNvSpPr/>
          <p:nvPr/>
        </p:nvSpPr>
        <p:spPr>
          <a:xfrm>
            <a:off x="1115568" y="3374136"/>
            <a:ext cx="2898648" cy="292608"/>
          </a:xfrm>
          <a:prstGeom prst="rect">
            <a:avLst/>
          </a:prstGeom>
          <a:noFill/>
          <a:ln/>
        </p:spPr>
        <p:txBody>
          <a:bodyPr wrap="square" lIns="0" tIns="0" rIns="0" bIns="0" rtlCol="0" anchor="ctr"/>
          <a:lstStyle/>
          <a:p>
            <a:pPr algn="l" indent="0" marL="0">
              <a:buNone/>
            </a:pPr>
            <a:r>
              <a:rPr lang="fr-FR" sz="1000" dirty="0">
                <a:solidFill>
                  <a:srgbClr val="5F5F5F"/>
                </a:solidFill>
                <a:latin typeface="Calibri" pitchFamily="34" charset="0"/>
                <a:ea typeface="Calibri" pitchFamily="34" charset="-122"/>
                <a:cs typeface="Calibri" pitchFamily="34" charset="-120"/>
              </a:rPr>
              <a:t>Jeu de données de test</a:t>
            </a:r>
            <a:endParaRPr lang="fr-FR" sz="1000" dirty="0"/>
          </a:p>
        </p:txBody>
      </p:sp>
      <p:sp>
        <p:nvSpPr>
          <p:cNvPr id="15" name="Shape 15"/>
          <p:cNvSpPr/>
          <p:nvPr/>
        </p:nvSpPr>
        <p:spPr>
          <a:xfrm>
            <a:off x="914400" y="3803904"/>
            <a:ext cx="91440" cy="18288"/>
          </a:xfrm>
          <a:prstGeom prst="rect">
            <a:avLst/>
          </a:prstGeom>
          <a:solidFill>
            <a:srgbClr val="8AA595"/>
          </a:solidFill>
          <a:ln w="12700">
            <a:solidFill>
              <a:srgbClr val="8AA595"/>
            </a:solidFill>
            <a:prstDash val="solid"/>
          </a:ln>
        </p:spPr>
      </p:sp>
      <p:sp>
        <p:nvSpPr>
          <p:cNvPr id="16" name="Text 16"/>
          <p:cNvSpPr/>
          <p:nvPr/>
        </p:nvSpPr>
        <p:spPr>
          <a:xfrm>
            <a:off x="1115568" y="3666744"/>
            <a:ext cx="2898648" cy="292608"/>
          </a:xfrm>
          <a:prstGeom prst="rect">
            <a:avLst/>
          </a:prstGeom>
          <a:noFill/>
          <a:ln/>
        </p:spPr>
        <p:txBody>
          <a:bodyPr wrap="square" lIns="0" tIns="0" rIns="0" bIns="0" rtlCol="0" anchor="ctr"/>
          <a:lstStyle/>
          <a:p>
            <a:pPr algn="l" indent="0" marL="0">
              <a:buNone/>
            </a:pPr>
            <a:r>
              <a:rPr lang="fr-FR" sz="1000" dirty="0">
                <a:solidFill>
                  <a:srgbClr val="5F5F5F"/>
                </a:solidFill>
                <a:latin typeface="Calibri" pitchFamily="34" charset="0"/>
                <a:ea typeface="Calibri" pitchFamily="34" charset="-122"/>
                <a:cs typeface="Calibri" pitchFamily="34" charset="-120"/>
              </a:rPr>
              <a:t>Secrets dans .env, git-ignoré</a:t>
            </a:r>
            <a:endParaRPr lang="fr-FR" sz="1000" dirty="0"/>
          </a:p>
        </p:txBody>
      </p:sp>
      <p:sp>
        <p:nvSpPr>
          <p:cNvPr id="17" name="Shape 17"/>
          <p:cNvSpPr/>
          <p:nvPr/>
        </p:nvSpPr>
        <p:spPr>
          <a:xfrm>
            <a:off x="914400" y="4114800"/>
            <a:ext cx="1600200" cy="329184"/>
          </a:xfrm>
          <a:prstGeom prst="roundRect">
            <a:avLst>
              <a:gd name="adj" fmla="val 25000"/>
            </a:avLst>
          </a:prstGeom>
          <a:solidFill>
            <a:srgbClr val="8AA595"/>
          </a:solidFill>
          <a:ln w="12700">
            <a:solidFill>
              <a:srgbClr val="8AA595"/>
            </a:solidFill>
            <a:prstDash val="solid"/>
          </a:ln>
        </p:spPr>
      </p:sp>
      <p:sp>
        <p:nvSpPr>
          <p:cNvPr id="18" name="Text 18"/>
          <p:cNvSpPr/>
          <p:nvPr/>
        </p:nvSpPr>
        <p:spPr>
          <a:xfrm>
            <a:off x="914400" y="4114800"/>
            <a:ext cx="1600200" cy="329184"/>
          </a:xfrm>
          <a:prstGeom prst="rect">
            <a:avLst/>
          </a:prstGeom>
          <a:noFill/>
          <a:ln/>
        </p:spPr>
        <p:txBody>
          <a:bodyPr wrap="square" lIns="0" tIns="0" rIns="0" bIns="0" rtlCol="0" anchor="ctr"/>
          <a:lstStyle/>
          <a:p>
            <a:pPr algn="ctr" indent="0" marL="0">
              <a:buNone/>
            </a:pPr>
            <a:r>
              <a:rPr lang="fr-FR" sz="900" b="1" dirty="0">
                <a:solidFill>
                  <a:srgbClr val="FFFFFF"/>
                </a:solidFill>
                <a:latin typeface="Calibri" pitchFamily="34" charset="0"/>
                <a:ea typeface="Calibri" pitchFamily="34" charset="-122"/>
                <a:cs typeface="Calibri" pitchFamily="34" charset="-120"/>
              </a:rPr>
              <a:t>Au quotidien</a:t>
            </a:r>
            <a:endParaRPr lang="fr-FR" sz="900" dirty="0"/>
          </a:p>
        </p:txBody>
      </p:sp>
      <p:sp>
        <p:nvSpPr>
          <p:cNvPr id="19" name="Shape 19"/>
          <p:cNvSpPr/>
          <p:nvPr/>
        </p:nvSpPr>
        <p:spPr>
          <a:xfrm>
            <a:off x="4315968" y="1874520"/>
            <a:ext cx="3557016" cy="2834640"/>
          </a:xfrm>
          <a:prstGeom prst="roundRect">
            <a:avLst>
              <a:gd name="adj" fmla="val 2727"/>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20" name="Shape 20"/>
          <p:cNvSpPr/>
          <p:nvPr/>
        </p:nvSpPr>
        <p:spPr>
          <a:xfrm>
            <a:off x="4315968" y="1874520"/>
            <a:ext cx="3557016" cy="457200"/>
          </a:xfrm>
          <a:prstGeom prst="roundRect">
            <a:avLst>
              <a:gd name="adj" fmla="val 6000"/>
            </a:avLst>
          </a:prstGeom>
          <a:solidFill>
            <a:srgbClr val="1A3C29"/>
          </a:solidFill>
          <a:ln w="12700">
            <a:solidFill>
              <a:srgbClr val="1A3C29"/>
            </a:solidFill>
            <a:prstDash val="solid"/>
          </a:ln>
        </p:spPr>
      </p:sp>
      <p:sp>
        <p:nvSpPr>
          <p:cNvPr id="21" name="Shape 21"/>
          <p:cNvSpPr/>
          <p:nvPr/>
        </p:nvSpPr>
        <p:spPr>
          <a:xfrm>
            <a:off x="4315968" y="2103120"/>
            <a:ext cx="3557016" cy="228600"/>
          </a:xfrm>
          <a:prstGeom prst="rect">
            <a:avLst/>
          </a:prstGeom>
          <a:solidFill>
            <a:srgbClr val="1A3C29"/>
          </a:solidFill>
          <a:ln w="12700">
            <a:solidFill>
              <a:srgbClr val="1A3C29"/>
            </a:solidFill>
            <a:prstDash val="solid"/>
          </a:ln>
        </p:spPr>
      </p:sp>
      <p:sp>
        <p:nvSpPr>
          <p:cNvPr id="22" name="Text 22"/>
          <p:cNvSpPr/>
          <p:nvPr/>
        </p:nvSpPr>
        <p:spPr>
          <a:xfrm>
            <a:off x="4315968" y="1920240"/>
            <a:ext cx="3557016" cy="365760"/>
          </a:xfrm>
          <a:prstGeom prst="rect">
            <a:avLst/>
          </a:prstGeom>
          <a:noFill/>
          <a:ln/>
        </p:spPr>
        <p:txBody>
          <a:bodyPr wrap="square" lIns="0" tIns="0" rIns="0" bIns="0" rtlCol="0" anchor="ctr"/>
          <a:lstStyle/>
          <a:p>
            <a:pPr algn="ctr" indent="0" marL="0">
              <a:buNone/>
            </a:pPr>
            <a:r>
              <a:rPr lang="fr-FR" sz="1200" b="1" dirty="0">
                <a:solidFill>
                  <a:srgbClr val="FFFFFF"/>
                </a:solidFill>
                <a:latin typeface="Calibri" pitchFamily="34" charset="0"/>
                <a:ea typeface="Calibri" pitchFamily="34" charset="-122"/>
                <a:cs typeface="Calibri" pitchFamily="34" charset="-120"/>
              </a:rPr>
              <a:t>TEST / RECETTE</a:t>
            </a:r>
            <a:endParaRPr lang="fr-FR" sz="1200" dirty="0"/>
          </a:p>
        </p:txBody>
      </p:sp>
      <p:sp>
        <p:nvSpPr>
          <p:cNvPr id="23" name="Text 23"/>
          <p:cNvSpPr/>
          <p:nvPr/>
        </p:nvSpPr>
        <p:spPr>
          <a:xfrm>
            <a:off x="4590288" y="2441448"/>
            <a:ext cx="3008376" cy="274320"/>
          </a:xfrm>
          <a:prstGeom prst="rect">
            <a:avLst/>
          </a:prstGeom>
          <a:noFill/>
          <a:ln/>
        </p:spPr>
        <p:txBody>
          <a:bodyPr wrap="square" lIns="0" tIns="0" rIns="0" bIns="0" rtlCol="0" anchor="ctr"/>
          <a:lstStyle/>
          <a:p>
            <a:pPr algn="l" indent="0" marL="0">
              <a:buNone/>
            </a:pPr>
            <a:r>
              <a:rPr lang="fr-FR" sz="1000" b="1" dirty="0">
                <a:solidFill>
                  <a:srgbClr val="1A3C29"/>
                </a:solidFill>
                <a:latin typeface="Calibri" pitchFamily="34" charset="0"/>
                <a:ea typeface="Calibri" pitchFamily="34" charset="-122"/>
                <a:cs typeface="Calibri" pitchFamily="34" charset="-120"/>
              </a:rPr>
              <a:t>Docker Compose — réellement configuré</a:t>
            </a:r>
            <a:endParaRPr lang="fr-FR" sz="1000" dirty="0"/>
          </a:p>
        </p:txBody>
      </p:sp>
      <p:sp>
        <p:nvSpPr>
          <p:cNvPr id="24" name="Shape 24"/>
          <p:cNvSpPr/>
          <p:nvPr/>
        </p:nvSpPr>
        <p:spPr>
          <a:xfrm>
            <a:off x="4590288" y="2926080"/>
            <a:ext cx="91440" cy="18288"/>
          </a:xfrm>
          <a:prstGeom prst="rect">
            <a:avLst/>
          </a:prstGeom>
          <a:solidFill>
            <a:srgbClr val="8AA595"/>
          </a:solidFill>
          <a:ln w="12700">
            <a:solidFill>
              <a:srgbClr val="8AA595"/>
            </a:solidFill>
            <a:prstDash val="solid"/>
          </a:ln>
        </p:spPr>
      </p:sp>
      <p:sp>
        <p:nvSpPr>
          <p:cNvPr id="25" name="Text 25"/>
          <p:cNvSpPr/>
          <p:nvPr/>
        </p:nvSpPr>
        <p:spPr>
          <a:xfrm>
            <a:off x="4791456" y="2788920"/>
            <a:ext cx="2898648" cy="292608"/>
          </a:xfrm>
          <a:prstGeom prst="rect">
            <a:avLst/>
          </a:prstGeom>
          <a:noFill/>
          <a:ln/>
        </p:spPr>
        <p:txBody>
          <a:bodyPr wrap="square" lIns="0" tIns="0" rIns="0" bIns="0" rtlCol="0" anchor="ctr"/>
          <a:lstStyle/>
          <a:p>
            <a:pPr algn="l" indent="0" marL="0">
              <a:buNone/>
            </a:pPr>
            <a:r>
              <a:rPr lang="fr-FR" sz="1000" dirty="0">
                <a:solidFill>
                  <a:srgbClr val="5F5F5F"/>
                </a:solidFill>
                <a:latin typeface="Calibri" pitchFamily="34" charset="0"/>
                <a:ea typeface="Calibri" pitchFamily="34" charset="-122"/>
                <a:cs typeface="Calibri" pitchFamily="34" charset="-120"/>
              </a:rPr>
              <a:t>docker compose up --build : 1 commande</a:t>
            </a:r>
            <a:endParaRPr lang="fr-FR" sz="1000" dirty="0"/>
          </a:p>
        </p:txBody>
      </p:sp>
      <p:sp>
        <p:nvSpPr>
          <p:cNvPr id="26" name="Shape 26"/>
          <p:cNvSpPr/>
          <p:nvPr/>
        </p:nvSpPr>
        <p:spPr>
          <a:xfrm>
            <a:off x="4590288" y="3218688"/>
            <a:ext cx="91440" cy="18288"/>
          </a:xfrm>
          <a:prstGeom prst="rect">
            <a:avLst/>
          </a:prstGeom>
          <a:solidFill>
            <a:srgbClr val="8AA595"/>
          </a:solidFill>
          <a:ln w="12700">
            <a:solidFill>
              <a:srgbClr val="8AA595"/>
            </a:solidFill>
            <a:prstDash val="solid"/>
          </a:ln>
        </p:spPr>
      </p:sp>
      <p:sp>
        <p:nvSpPr>
          <p:cNvPr id="27" name="Text 27"/>
          <p:cNvSpPr/>
          <p:nvPr/>
        </p:nvSpPr>
        <p:spPr>
          <a:xfrm>
            <a:off x="4791456" y="3081528"/>
            <a:ext cx="2898648" cy="292608"/>
          </a:xfrm>
          <a:prstGeom prst="rect">
            <a:avLst/>
          </a:prstGeom>
          <a:noFill/>
          <a:ln/>
        </p:spPr>
        <p:txBody>
          <a:bodyPr wrap="square" lIns="0" tIns="0" rIns="0" bIns="0" rtlCol="0" anchor="ctr"/>
          <a:lstStyle/>
          <a:p>
            <a:pPr algn="l" indent="0" marL="0">
              <a:buNone/>
            </a:pPr>
            <a:r>
              <a:rPr lang="fr-FR" sz="1000" dirty="0">
                <a:solidFill>
                  <a:srgbClr val="5F5F5F"/>
                </a:solidFill>
                <a:latin typeface="Calibri" pitchFamily="34" charset="0"/>
                <a:ea typeface="Calibri" pitchFamily="34" charset="-122"/>
                <a:cs typeface="Calibri" pitchFamily="34" charset="-120"/>
              </a:rPr>
              <a:t>3 conteneurs sur un réseau privé</a:t>
            </a:r>
            <a:endParaRPr lang="fr-FR" sz="1000" dirty="0"/>
          </a:p>
        </p:txBody>
      </p:sp>
      <p:sp>
        <p:nvSpPr>
          <p:cNvPr id="28" name="Shape 28"/>
          <p:cNvSpPr/>
          <p:nvPr/>
        </p:nvSpPr>
        <p:spPr>
          <a:xfrm>
            <a:off x="4590288" y="3511296"/>
            <a:ext cx="91440" cy="18288"/>
          </a:xfrm>
          <a:prstGeom prst="rect">
            <a:avLst/>
          </a:prstGeom>
          <a:solidFill>
            <a:srgbClr val="8AA595"/>
          </a:solidFill>
          <a:ln w="12700">
            <a:solidFill>
              <a:srgbClr val="8AA595"/>
            </a:solidFill>
            <a:prstDash val="solid"/>
          </a:ln>
        </p:spPr>
      </p:sp>
      <p:sp>
        <p:nvSpPr>
          <p:cNvPr id="29" name="Text 29"/>
          <p:cNvSpPr/>
          <p:nvPr/>
        </p:nvSpPr>
        <p:spPr>
          <a:xfrm>
            <a:off x="4791456" y="3374136"/>
            <a:ext cx="2898648" cy="292608"/>
          </a:xfrm>
          <a:prstGeom prst="rect">
            <a:avLst/>
          </a:prstGeom>
          <a:noFill/>
          <a:ln/>
        </p:spPr>
        <p:txBody>
          <a:bodyPr wrap="square" lIns="0" tIns="0" rIns="0" bIns="0" rtlCol="0" anchor="ctr"/>
          <a:lstStyle/>
          <a:p>
            <a:pPr algn="l" indent="0" marL="0">
              <a:buNone/>
            </a:pPr>
            <a:r>
              <a:rPr lang="fr-FR" sz="1000" dirty="0">
                <a:solidFill>
                  <a:srgbClr val="5F5F5F"/>
                </a:solidFill>
                <a:latin typeface="Calibri" pitchFamily="34" charset="0"/>
                <a:ea typeface="Calibri" pitchFamily="34" charset="-122"/>
                <a:cs typeface="Calibri" pitchFamily="34" charset="-120"/>
              </a:rPr>
              <a:t>Schéma SQL créé au tout 1er démarrage</a:t>
            </a:r>
            <a:endParaRPr lang="fr-FR" sz="1000" dirty="0"/>
          </a:p>
        </p:txBody>
      </p:sp>
      <p:sp>
        <p:nvSpPr>
          <p:cNvPr id="30" name="Shape 30"/>
          <p:cNvSpPr/>
          <p:nvPr/>
        </p:nvSpPr>
        <p:spPr>
          <a:xfrm>
            <a:off x="4590288" y="3803904"/>
            <a:ext cx="91440" cy="18288"/>
          </a:xfrm>
          <a:prstGeom prst="rect">
            <a:avLst/>
          </a:prstGeom>
          <a:solidFill>
            <a:srgbClr val="8AA595"/>
          </a:solidFill>
          <a:ln w="12700">
            <a:solidFill>
              <a:srgbClr val="8AA595"/>
            </a:solidFill>
            <a:prstDash val="solid"/>
          </a:ln>
        </p:spPr>
      </p:sp>
      <p:sp>
        <p:nvSpPr>
          <p:cNvPr id="31" name="Text 31"/>
          <p:cNvSpPr/>
          <p:nvPr/>
        </p:nvSpPr>
        <p:spPr>
          <a:xfrm>
            <a:off x="4791456" y="3666744"/>
            <a:ext cx="2898648" cy="292608"/>
          </a:xfrm>
          <a:prstGeom prst="rect">
            <a:avLst/>
          </a:prstGeom>
          <a:noFill/>
          <a:ln/>
        </p:spPr>
        <p:txBody>
          <a:bodyPr wrap="square" lIns="0" tIns="0" rIns="0" bIns="0" rtlCol="0" anchor="ctr"/>
          <a:lstStyle/>
          <a:p>
            <a:pPr algn="l" indent="0" marL="0">
              <a:buNone/>
            </a:pPr>
            <a:r>
              <a:rPr lang="fr-FR" sz="1000" dirty="0">
                <a:solidFill>
                  <a:srgbClr val="5F5F5F"/>
                </a:solidFill>
                <a:latin typeface="Calibri" pitchFamily="34" charset="0"/>
                <a:ea typeface="Calibri" pitchFamily="34" charset="-122"/>
                <a:cs typeface="Calibri" pitchFamily="34" charset="-120"/>
              </a:rPr>
              <a:t>Base vierge : comptes créés pour la recette</a:t>
            </a:r>
            <a:endParaRPr lang="fr-FR" sz="1000" dirty="0"/>
          </a:p>
        </p:txBody>
      </p:sp>
      <p:sp>
        <p:nvSpPr>
          <p:cNvPr id="32" name="Shape 32"/>
          <p:cNvSpPr/>
          <p:nvPr/>
        </p:nvSpPr>
        <p:spPr>
          <a:xfrm>
            <a:off x="4590288" y="4114800"/>
            <a:ext cx="1600200" cy="329184"/>
          </a:xfrm>
          <a:prstGeom prst="roundRect">
            <a:avLst>
              <a:gd name="adj" fmla="val 25000"/>
            </a:avLst>
          </a:prstGeom>
          <a:solidFill>
            <a:srgbClr val="1A3C29"/>
          </a:solidFill>
          <a:ln w="12700">
            <a:solidFill>
              <a:srgbClr val="1A3C29"/>
            </a:solidFill>
            <a:prstDash val="solid"/>
          </a:ln>
        </p:spPr>
      </p:sp>
      <p:sp>
        <p:nvSpPr>
          <p:cNvPr id="33" name="Text 33"/>
          <p:cNvSpPr/>
          <p:nvPr/>
        </p:nvSpPr>
        <p:spPr>
          <a:xfrm>
            <a:off x="4590288" y="4114800"/>
            <a:ext cx="1600200" cy="329184"/>
          </a:xfrm>
          <a:prstGeom prst="rect">
            <a:avLst/>
          </a:prstGeom>
          <a:noFill/>
          <a:ln/>
        </p:spPr>
        <p:txBody>
          <a:bodyPr wrap="square" lIns="0" tIns="0" rIns="0" bIns="0" rtlCol="0" anchor="ctr"/>
          <a:lstStyle/>
          <a:p>
            <a:pPr algn="ctr" indent="0" marL="0">
              <a:buNone/>
            </a:pPr>
            <a:r>
              <a:rPr lang="fr-FR" sz="900" b="1" dirty="0">
                <a:solidFill>
                  <a:srgbClr val="FFFFFF"/>
                </a:solidFill>
                <a:latin typeface="Calibri" pitchFamily="34" charset="0"/>
                <a:ea typeface="Calibri" pitchFamily="34" charset="-122"/>
                <a:cs typeface="Calibri" pitchFamily="34" charset="-120"/>
              </a:rPr>
              <a:t>Mis en place</a:t>
            </a:r>
            <a:endParaRPr lang="fr-FR" sz="900" dirty="0"/>
          </a:p>
        </p:txBody>
      </p:sp>
      <p:sp>
        <p:nvSpPr>
          <p:cNvPr id="34" name="Shape 34"/>
          <p:cNvSpPr/>
          <p:nvPr/>
        </p:nvSpPr>
        <p:spPr>
          <a:xfrm>
            <a:off x="7991856" y="1874520"/>
            <a:ext cx="3557016" cy="2834640"/>
          </a:xfrm>
          <a:prstGeom prst="roundRect">
            <a:avLst>
              <a:gd name="adj" fmla="val 2727"/>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35" name="Shape 35"/>
          <p:cNvSpPr/>
          <p:nvPr/>
        </p:nvSpPr>
        <p:spPr>
          <a:xfrm>
            <a:off x="7991856" y="1874520"/>
            <a:ext cx="3557016" cy="457200"/>
          </a:xfrm>
          <a:prstGeom prst="roundRect">
            <a:avLst>
              <a:gd name="adj" fmla="val 6000"/>
            </a:avLst>
          </a:prstGeom>
          <a:solidFill>
            <a:srgbClr val="C3612D"/>
          </a:solidFill>
          <a:ln w="12700">
            <a:solidFill>
              <a:srgbClr val="C3612D"/>
            </a:solidFill>
            <a:prstDash val="solid"/>
          </a:ln>
        </p:spPr>
      </p:sp>
      <p:sp>
        <p:nvSpPr>
          <p:cNvPr id="36" name="Shape 36"/>
          <p:cNvSpPr/>
          <p:nvPr/>
        </p:nvSpPr>
        <p:spPr>
          <a:xfrm>
            <a:off x="7991856" y="2103120"/>
            <a:ext cx="3557016" cy="228600"/>
          </a:xfrm>
          <a:prstGeom prst="rect">
            <a:avLst/>
          </a:prstGeom>
          <a:solidFill>
            <a:srgbClr val="C3612D"/>
          </a:solidFill>
          <a:ln w="12700">
            <a:solidFill>
              <a:srgbClr val="C3612D"/>
            </a:solidFill>
            <a:prstDash val="solid"/>
          </a:ln>
        </p:spPr>
      </p:sp>
      <p:sp>
        <p:nvSpPr>
          <p:cNvPr id="37" name="Text 37"/>
          <p:cNvSpPr/>
          <p:nvPr/>
        </p:nvSpPr>
        <p:spPr>
          <a:xfrm>
            <a:off x="7991856" y="1920240"/>
            <a:ext cx="3557016" cy="365760"/>
          </a:xfrm>
          <a:prstGeom prst="rect">
            <a:avLst/>
          </a:prstGeom>
          <a:noFill/>
          <a:ln/>
        </p:spPr>
        <p:txBody>
          <a:bodyPr wrap="square" lIns="0" tIns="0" rIns="0" bIns="0" rtlCol="0" anchor="ctr"/>
          <a:lstStyle/>
          <a:p>
            <a:pPr algn="ctr" indent="0" marL="0">
              <a:buNone/>
            </a:pPr>
            <a:r>
              <a:rPr lang="fr-FR" sz="1200" b="1" dirty="0">
                <a:solidFill>
                  <a:srgbClr val="FFFFFF"/>
                </a:solidFill>
                <a:latin typeface="Calibri" pitchFamily="34" charset="0"/>
                <a:ea typeface="Calibri" pitchFamily="34" charset="-122"/>
                <a:cs typeface="Calibri" pitchFamily="34" charset="-120"/>
              </a:rPr>
              <a:t>PRODUCTION</a:t>
            </a:r>
            <a:endParaRPr lang="fr-FR" sz="1200" dirty="0"/>
          </a:p>
        </p:txBody>
      </p:sp>
      <p:sp>
        <p:nvSpPr>
          <p:cNvPr id="38" name="Text 38"/>
          <p:cNvSpPr/>
          <p:nvPr/>
        </p:nvSpPr>
        <p:spPr>
          <a:xfrm>
            <a:off x="8266176" y="2441448"/>
            <a:ext cx="3008376" cy="274320"/>
          </a:xfrm>
          <a:prstGeom prst="rect">
            <a:avLst/>
          </a:prstGeom>
          <a:noFill/>
          <a:ln/>
        </p:spPr>
        <p:txBody>
          <a:bodyPr wrap="square" lIns="0" tIns="0" rIns="0" bIns="0" rtlCol="0" anchor="ctr"/>
          <a:lstStyle/>
          <a:p>
            <a:pPr algn="l" indent="0" marL="0">
              <a:buNone/>
            </a:pPr>
            <a:r>
              <a:rPr lang="fr-FR" sz="1000" b="1" dirty="0">
                <a:solidFill>
                  <a:srgbClr val="C3612D"/>
                </a:solidFill>
                <a:latin typeface="Calibri" pitchFamily="34" charset="0"/>
                <a:ea typeface="Calibri" pitchFamily="34" charset="-122"/>
                <a:cs typeface="Calibri" pitchFamily="34" charset="-120"/>
              </a:rPr>
              <a:t>Cible de mise en ligne</a:t>
            </a:r>
            <a:endParaRPr lang="fr-FR" sz="1000" dirty="0"/>
          </a:p>
        </p:txBody>
      </p:sp>
      <p:sp>
        <p:nvSpPr>
          <p:cNvPr id="39" name="Shape 39"/>
          <p:cNvSpPr/>
          <p:nvPr/>
        </p:nvSpPr>
        <p:spPr>
          <a:xfrm>
            <a:off x="8266176" y="2926080"/>
            <a:ext cx="91440" cy="18288"/>
          </a:xfrm>
          <a:prstGeom prst="rect">
            <a:avLst/>
          </a:prstGeom>
          <a:solidFill>
            <a:srgbClr val="8AA595"/>
          </a:solidFill>
          <a:ln w="12700">
            <a:solidFill>
              <a:srgbClr val="8AA595"/>
            </a:solidFill>
            <a:prstDash val="solid"/>
          </a:ln>
        </p:spPr>
      </p:sp>
      <p:sp>
        <p:nvSpPr>
          <p:cNvPr id="40" name="Text 40"/>
          <p:cNvSpPr/>
          <p:nvPr/>
        </p:nvSpPr>
        <p:spPr>
          <a:xfrm>
            <a:off x="8467344" y="2788920"/>
            <a:ext cx="2898648" cy="292608"/>
          </a:xfrm>
          <a:prstGeom prst="rect">
            <a:avLst/>
          </a:prstGeom>
          <a:noFill/>
          <a:ln/>
        </p:spPr>
        <p:txBody>
          <a:bodyPr wrap="square" lIns="0" tIns="0" rIns="0" bIns="0" rtlCol="0" anchor="ctr"/>
          <a:lstStyle/>
          <a:p>
            <a:pPr algn="l" indent="0" marL="0">
              <a:buNone/>
            </a:pPr>
            <a:r>
              <a:rPr lang="fr-FR" sz="1000" dirty="0">
                <a:solidFill>
                  <a:srgbClr val="5F5F5F"/>
                </a:solidFill>
                <a:latin typeface="Calibri" pitchFamily="34" charset="0"/>
                <a:ea typeface="Calibri" pitchFamily="34" charset="-122"/>
                <a:cs typeface="Calibri" pitchFamily="34" charset="-120"/>
              </a:rPr>
              <a:t>Mêmes conteneurs, sur un hébergeur UE</a:t>
            </a:r>
            <a:endParaRPr lang="fr-FR" sz="1000" dirty="0"/>
          </a:p>
        </p:txBody>
      </p:sp>
      <p:sp>
        <p:nvSpPr>
          <p:cNvPr id="41" name="Shape 41"/>
          <p:cNvSpPr/>
          <p:nvPr/>
        </p:nvSpPr>
        <p:spPr>
          <a:xfrm>
            <a:off x="8266176" y="3218688"/>
            <a:ext cx="91440" cy="18288"/>
          </a:xfrm>
          <a:prstGeom prst="rect">
            <a:avLst/>
          </a:prstGeom>
          <a:solidFill>
            <a:srgbClr val="8AA595"/>
          </a:solidFill>
          <a:ln w="12700">
            <a:solidFill>
              <a:srgbClr val="8AA595"/>
            </a:solidFill>
            <a:prstDash val="solid"/>
          </a:ln>
        </p:spPr>
      </p:sp>
      <p:sp>
        <p:nvSpPr>
          <p:cNvPr id="42" name="Text 42"/>
          <p:cNvSpPr/>
          <p:nvPr/>
        </p:nvSpPr>
        <p:spPr>
          <a:xfrm>
            <a:off x="8467344" y="3081528"/>
            <a:ext cx="2898648" cy="292608"/>
          </a:xfrm>
          <a:prstGeom prst="rect">
            <a:avLst/>
          </a:prstGeom>
          <a:noFill/>
          <a:ln/>
        </p:spPr>
        <p:txBody>
          <a:bodyPr wrap="square" lIns="0" tIns="0" rIns="0" bIns="0" rtlCol="0" anchor="ctr"/>
          <a:lstStyle/>
          <a:p>
            <a:pPr algn="l" indent="0" marL="0">
              <a:buNone/>
            </a:pPr>
            <a:r>
              <a:rPr lang="fr-FR" sz="1000" dirty="0">
                <a:solidFill>
                  <a:srgbClr val="5F5F5F"/>
                </a:solidFill>
                <a:latin typeface="Calibri" pitchFamily="34" charset="0"/>
                <a:ea typeface="Calibri" pitchFamily="34" charset="-122"/>
                <a:cs typeface="Calibri" pitchFamily="34" charset="-120"/>
              </a:rPr>
              <a:t>Nom de domaine, HTTPS/TLS</a:t>
            </a:r>
            <a:endParaRPr lang="fr-FR" sz="1000" dirty="0"/>
          </a:p>
        </p:txBody>
      </p:sp>
      <p:sp>
        <p:nvSpPr>
          <p:cNvPr id="43" name="Shape 43"/>
          <p:cNvSpPr/>
          <p:nvPr/>
        </p:nvSpPr>
        <p:spPr>
          <a:xfrm>
            <a:off x="8266176" y="3511296"/>
            <a:ext cx="91440" cy="18288"/>
          </a:xfrm>
          <a:prstGeom prst="rect">
            <a:avLst/>
          </a:prstGeom>
          <a:solidFill>
            <a:srgbClr val="8AA595"/>
          </a:solidFill>
          <a:ln w="12700">
            <a:solidFill>
              <a:srgbClr val="8AA595"/>
            </a:solidFill>
            <a:prstDash val="solid"/>
          </a:ln>
        </p:spPr>
      </p:sp>
      <p:sp>
        <p:nvSpPr>
          <p:cNvPr id="44" name="Text 44"/>
          <p:cNvSpPr/>
          <p:nvPr/>
        </p:nvSpPr>
        <p:spPr>
          <a:xfrm>
            <a:off x="8467344" y="3374136"/>
            <a:ext cx="2898648" cy="292608"/>
          </a:xfrm>
          <a:prstGeom prst="rect">
            <a:avLst/>
          </a:prstGeom>
          <a:noFill/>
          <a:ln/>
        </p:spPr>
        <p:txBody>
          <a:bodyPr wrap="square" lIns="0" tIns="0" rIns="0" bIns="0" rtlCol="0" anchor="ctr"/>
          <a:lstStyle/>
          <a:p>
            <a:pPr algn="l" indent="0" marL="0">
              <a:buNone/>
            </a:pPr>
            <a:r>
              <a:rPr lang="fr-FR" sz="1000" dirty="0">
                <a:solidFill>
                  <a:srgbClr val="5F5F5F"/>
                </a:solidFill>
                <a:latin typeface="Calibri" pitchFamily="34" charset="0"/>
                <a:ea typeface="Calibri" pitchFamily="34" charset="-122"/>
                <a:cs typeface="Calibri" pitchFamily="34" charset="-120"/>
              </a:rPr>
              <a:t>Secrets en variables d'environnement</a:t>
            </a:r>
            <a:endParaRPr lang="fr-FR" sz="1000" dirty="0"/>
          </a:p>
        </p:txBody>
      </p:sp>
      <p:sp>
        <p:nvSpPr>
          <p:cNvPr id="45" name="Shape 45"/>
          <p:cNvSpPr/>
          <p:nvPr/>
        </p:nvSpPr>
        <p:spPr>
          <a:xfrm>
            <a:off x="8266176" y="3803904"/>
            <a:ext cx="91440" cy="18288"/>
          </a:xfrm>
          <a:prstGeom prst="rect">
            <a:avLst/>
          </a:prstGeom>
          <a:solidFill>
            <a:srgbClr val="8AA595"/>
          </a:solidFill>
          <a:ln w="12700">
            <a:solidFill>
              <a:srgbClr val="8AA595"/>
            </a:solidFill>
            <a:prstDash val="solid"/>
          </a:ln>
        </p:spPr>
      </p:sp>
      <p:sp>
        <p:nvSpPr>
          <p:cNvPr id="46" name="Text 46"/>
          <p:cNvSpPr/>
          <p:nvPr/>
        </p:nvSpPr>
        <p:spPr>
          <a:xfrm>
            <a:off x="8467344" y="3666744"/>
            <a:ext cx="2898648" cy="292608"/>
          </a:xfrm>
          <a:prstGeom prst="rect">
            <a:avLst/>
          </a:prstGeom>
          <a:noFill/>
          <a:ln/>
        </p:spPr>
        <p:txBody>
          <a:bodyPr wrap="square" lIns="0" tIns="0" rIns="0" bIns="0" rtlCol="0" anchor="ctr"/>
          <a:lstStyle/>
          <a:p>
            <a:pPr algn="l" indent="0" marL="0">
              <a:buNone/>
            </a:pPr>
            <a:r>
              <a:rPr lang="fr-FR" sz="1000" dirty="0">
                <a:solidFill>
                  <a:srgbClr val="5F5F5F"/>
                </a:solidFill>
                <a:latin typeface="Calibri" pitchFamily="34" charset="0"/>
                <a:ea typeface="Calibri" pitchFamily="34" charset="-122"/>
                <a:cs typeface="Calibri" pitchFamily="34" charset="-120"/>
              </a:rPr>
              <a:t>Sauvegardes et supervision</a:t>
            </a:r>
            <a:endParaRPr lang="fr-FR" sz="1000" dirty="0"/>
          </a:p>
        </p:txBody>
      </p:sp>
      <p:sp>
        <p:nvSpPr>
          <p:cNvPr id="47" name="Shape 47"/>
          <p:cNvSpPr/>
          <p:nvPr/>
        </p:nvSpPr>
        <p:spPr>
          <a:xfrm>
            <a:off x="8266176" y="4114800"/>
            <a:ext cx="1600200" cy="329184"/>
          </a:xfrm>
          <a:prstGeom prst="roundRect">
            <a:avLst>
              <a:gd name="adj" fmla="val 25000"/>
            </a:avLst>
          </a:prstGeom>
          <a:solidFill>
            <a:srgbClr val="C3612D"/>
          </a:solidFill>
          <a:ln w="12700">
            <a:solidFill>
              <a:srgbClr val="C3612D"/>
            </a:solidFill>
            <a:prstDash val="solid"/>
          </a:ln>
        </p:spPr>
      </p:sp>
      <p:sp>
        <p:nvSpPr>
          <p:cNvPr id="48" name="Text 48"/>
          <p:cNvSpPr/>
          <p:nvPr/>
        </p:nvSpPr>
        <p:spPr>
          <a:xfrm>
            <a:off x="8266176" y="4114800"/>
            <a:ext cx="1600200" cy="329184"/>
          </a:xfrm>
          <a:prstGeom prst="rect">
            <a:avLst/>
          </a:prstGeom>
          <a:noFill/>
          <a:ln/>
        </p:spPr>
        <p:txBody>
          <a:bodyPr wrap="square" lIns="0" tIns="0" rIns="0" bIns="0" rtlCol="0" anchor="ctr"/>
          <a:lstStyle/>
          <a:p>
            <a:pPr algn="ctr" indent="0" marL="0">
              <a:buNone/>
            </a:pPr>
            <a:r>
              <a:rPr lang="fr-FR" sz="900" b="1" dirty="0">
                <a:solidFill>
                  <a:srgbClr val="FFFFFF"/>
                </a:solidFill>
                <a:latin typeface="Calibri" pitchFamily="34" charset="0"/>
                <a:ea typeface="Calibri" pitchFamily="34" charset="-122"/>
                <a:cs typeface="Calibri" pitchFamily="34" charset="-120"/>
              </a:rPr>
              <a:t>À provisionner</a:t>
            </a:r>
            <a:endParaRPr lang="fr-FR" sz="900" dirty="0"/>
          </a:p>
        </p:txBody>
      </p:sp>
      <p:sp>
        <p:nvSpPr>
          <p:cNvPr id="49" name="Shape 49"/>
          <p:cNvSpPr/>
          <p:nvPr/>
        </p:nvSpPr>
        <p:spPr>
          <a:xfrm>
            <a:off x="640080" y="5120640"/>
            <a:ext cx="10881360" cy="777240"/>
          </a:xfrm>
          <a:prstGeom prst="roundRect">
            <a:avLst>
              <a:gd name="adj" fmla="val 2727"/>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50" name="Text 50"/>
          <p:cNvSpPr/>
          <p:nvPr/>
        </p:nvSpPr>
        <p:spPr>
          <a:xfrm>
            <a:off x="914400" y="5257800"/>
            <a:ext cx="10332720" cy="502920"/>
          </a:xfrm>
          <a:prstGeom prst="rect">
            <a:avLst/>
          </a:prstGeom>
          <a:noFill/>
          <a:ln/>
        </p:spPr>
        <p:txBody>
          <a:bodyPr wrap="square" lIns="0" tIns="0" rIns="0" bIns="0" rtlCol="0" anchor="ctr"/>
          <a:lstStyle/>
          <a:p>
            <a:pPr algn="ctr" indent="0" marL="0">
              <a:buNone/>
            </a:pPr>
            <a:r>
              <a:rPr lang="fr-FR" sz="1150" b="1" dirty="0">
                <a:solidFill>
                  <a:srgbClr val="1A3C29"/>
                </a:solidFill>
                <a:latin typeface="Calibri" pitchFamily="34" charset="0"/>
                <a:ea typeface="Calibri" pitchFamily="34" charset="-122"/>
                <a:cs typeface="Calibri" pitchFamily="34" charset="-120"/>
              </a:rPr>
              <a:t>Les mêmes Dockerfiles décrivent la recette et la production : ce qui est validé en test est reconstruit à l'identique en ligne.</a:t>
            </a:r>
            <a:endParaRPr lang="fr-FR" sz="1150" dirty="0"/>
          </a:p>
        </p:txBody>
      </p:sp>
      <p:sp>
        <p:nvSpPr>
          <p:cNvPr id="51" name="Shape 51"/>
          <p:cNvSpPr/>
          <p:nvPr/>
        </p:nvSpPr>
        <p:spPr>
          <a:xfrm>
            <a:off x="0" y="6355080"/>
            <a:ext cx="12188952" cy="502920"/>
          </a:xfrm>
          <a:prstGeom prst="rect">
            <a:avLst/>
          </a:prstGeom>
          <a:solidFill>
            <a:srgbClr val="1A3C29"/>
          </a:solidFill>
          <a:ln w="12700">
            <a:solidFill>
              <a:srgbClr val="1A3C29"/>
            </a:solidFill>
            <a:prstDash val="solid"/>
          </a:ln>
        </p:spPr>
      </p:sp>
      <p:sp>
        <p:nvSpPr>
          <p:cNvPr id="52" name="Text 52"/>
          <p:cNvSpPr/>
          <p:nvPr/>
        </p:nvSpPr>
        <p:spPr>
          <a:xfrm>
            <a:off x="502920" y="6382512"/>
            <a:ext cx="4572000" cy="237744"/>
          </a:xfrm>
          <a:prstGeom prst="rect">
            <a:avLst/>
          </a:prstGeom>
          <a:noFill/>
          <a:ln/>
        </p:spPr>
        <p:txBody>
          <a:bodyPr wrap="square" lIns="0" tIns="0" rIns="0" bIns="0" rtlCol="0" anchor="ctr"/>
          <a:lstStyle/>
          <a:p>
            <a:pPr algn="l" indent="0" marL="0">
              <a:buNone/>
            </a:pPr>
            <a:r>
              <a:rPr lang="fr-FR" sz="1000" b="1" dirty="0">
                <a:solidFill>
                  <a:srgbClr val="FFFFFF"/>
                </a:solidFill>
                <a:latin typeface="Calibri" pitchFamily="34" charset="0"/>
                <a:ea typeface="Calibri" pitchFamily="34" charset="-122"/>
                <a:cs typeface="Calibri" pitchFamily="34" charset="-120"/>
              </a:rPr>
              <a:t>RENOIR&amp;ALINE</a:t>
            </a:r>
            <a:endParaRPr lang="fr-FR" sz="1000" dirty="0"/>
          </a:p>
        </p:txBody>
      </p:sp>
      <p:sp>
        <p:nvSpPr>
          <p:cNvPr id="53" name="Text 53"/>
          <p:cNvSpPr/>
          <p:nvPr/>
        </p:nvSpPr>
        <p:spPr>
          <a:xfrm>
            <a:off x="502920" y="6601968"/>
            <a:ext cx="4572000" cy="182880"/>
          </a:xfrm>
          <a:prstGeom prst="rect">
            <a:avLst/>
          </a:prstGeom>
          <a:noFill/>
          <a:ln/>
        </p:spPr>
        <p:txBody>
          <a:bodyPr wrap="square" lIns="0" tIns="0" rIns="0" bIns="0" rtlCol="0" anchor="ctr"/>
          <a:lstStyle/>
          <a:p>
            <a:pPr algn="l" indent="0" marL="0">
              <a:buNone/>
            </a:pPr>
            <a:r>
              <a:rPr lang="fr-FR" sz="700" spc="200" kern="0" dirty="0">
                <a:solidFill>
                  <a:srgbClr val="8AA595"/>
                </a:solidFill>
                <a:latin typeface="Calibri" pitchFamily="34" charset="0"/>
                <a:ea typeface="Calibri" pitchFamily="34" charset="-122"/>
                <a:cs typeface="Calibri" pitchFamily="34" charset="-120"/>
              </a:rPr>
              <a:t>CONSTRUCTEUR DE SITE WEB</a:t>
            </a:r>
            <a:endParaRPr lang="fr-FR" sz="700" dirty="0"/>
          </a:p>
        </p:txBody>
      </p:sp>
      <p:sp>
        <p:nvSpPr>
          <p:cNvPr id="54" name="Text 54"/>
          <p:cNvSpPr/>
          <p:nvPr/>
        </p:nvSpPr>
        <p:spPr>
          <a:xfrm>
            <a:off x="10241280" y="6419088"/>
            <a:ext cx="1417320" cy="365760"/>
          </a:xfrm>
          <a:prstGeom prst="rect">
            <a:avLst/>
          </a:prstGeom>
          <a:noFill/>
          <a:ln/>
        </p:spPr>
        <p:txBody>
          <a:bodyPr wrap="square" lIns="0" tIns="0" rIns="0" bIns="0" rtlCol="0" anchor="ctr"/>
          <a:lstStyle/>
          <a:p>
            <a:pPr algn="r" indent="0" marL="0">
              <a:buNone/>
            </a:pPr>
            <a:r>
              <a:rPr lang="fr-FR" sz="1000" b="1" dirty="0">
                <a:solidFill>
                  <a:srgbClr val="FFFFFF"/>
                </a:solidFill>
                <a:latin typeface="Calibri" pitchFamily="34" charset="0"/>
                <a:ea typeface="Calibri" pitchFamily="34" charset="-122"/>
                <a:cs typeface="Calibri" pitchFamily="34" charset="-120"/>
              </a:rPr>
              <a:t>Page 5/21</a:t>
            </a:r>
            <a:endParaRPr lang="fr-FR"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Versioning">
    <p:bg>
      <p:bgPr>
        <a:solidFill>
          <a:srgbClr val="F1ECE6"/>
        </a:solidFill>
      </p:bgPr>
    </p:bg>
    <p:spTree>
      <p:nvGrpSpPr>
        <p:cNvPr id="1" name=""/>
        <p:cNvGrpSpPr/>
        <p:nvPr/>
      </p:nvGrpSpPr>
      <p:grpSpPr>
        <a:xfrm>
          <a:off x="0" y="0"/>
          <a:ext cx="0" cy="0"/>
          <a:chOff x="0" y="0"/>
          <a:chExt cx="0" cy="0"/>
        </a:xfrm>
      </p:grpSpPr>
      <p:sp>
        <p:nvSpPr>
          <p:cNvPr id="2" name="Text 2"/>
          <p:cNvSpPr/>
          <p:nvPr/>
        </p:nvSpPr>
        <p:spPr>
          <a:xfrm>
            <a:off x="640080" y="384048"/>
            <a:ext cx="10881360" cy="292608"/>
          </a:xfrm>
          <a:prstGeom prst="rect">
            <a:avLst/>
          </a:prstGeom>
          <a:noFill/>
          <a:ln/>
        </p:spPr>
        <p:txBody>
          <a:bodyPr wrap="square" lIns="0" tIns="0" rIns="0" bIns="0" rtlCol="0" anchor="ctr"/>
          <a:lstStyle/>
          <a:p>
            <a:pPr algn="l" indent="0" marL="0">
              <a:buNone/>
            </a:pPr>
            <a:r>
              <a:rPr lang="fr-FR" sz="1300" b="1" dirty="0">
                <a:solidFill>
                  <a:srgbClr val="C3612D"/>
                </a:solidFill>
                <a:latin typeface="Calibri" pitchFamily="34" charset="0"/>
                <a:ea typeface="Calibri" pitchFamily="34" charset="-122"/>
                <a:cs typeface="Calibri" pitchFamily="34" charset="-120"/>
              </a:rPr>
              <a:t>Automatisation</a:t>
            </a:r>
            <a:endParaRPr lang="fr-FR" sz="1300" dirty="0"/>
          </a:p>
        </p:txBody>
      </p:sp>
      <p:sp>
        <p:nvSpPr>
          <p:cNvPr id="3" name="Text 3"/>
          <p:cNvSpPr/>
          <p:nvPr/>
        </p:nvSpPr>
        <p:spPr>
          <a:xfrm>
            <a:off x="640080" y="713232"/>
            <a:ext cx="10881360" cy="822960"/>
          </a:xfrm>
          <a:prstGeom prst="rect">
            <a:avLst/>
          </a:prstGeom>
          <a:noFill/>
          <a:ln/>
        </p:spPr>
        <p:txBody>
          <a:bodyPr wrap="square" lIns="0" tIns="0" rIns="0" bIns="0" rtlCol="0" anchor="ctr"/>
          <a:lstStyle/>
          <a:p>
            <a:pPr algn="l" indent="0" marL="0">
              <a:buNone/>
            </a:pPr>
            <a:r>
              <a:rPr lang="fr-FR" sz="3400" b="1" dirty="0">
                <a:solidFill>
                  <a:srgbClr val="1A3C29"/>
                </a:solidFill>
                <a:latin typeface="Calibri" pitchFamily="34" charset="0"/>
                <a:ea typeface="Calibri" pitchFamily="34" charset="-122"/>
                <a:cs typeface="Calibri" pitchFamily="34" charset="-120"/>
              </a:rPr>
              <a:t>Gestion de version — Git &amp; GitHub</a:t>
            </a:r>
            <a:endParaRPr lang="fr-FR" sz="3400" dirty="0"/>
          </a:p>
        </p:txBody>
      </p:sp>
      <p:sp>
        <p:nvSpPr>
          <p:cNvPr id="4" name="Shape 4"/>
          <p:cNvSpPr/>
          <p:nvPr/>
        </p:nvSpPr>
        <p:spPr>
          <a:xfrm>
            <a:off x="640080" y="1874520"/>
            <a:ext cx="6949440" cy="2606040"/>
          </a:xfrm>
          <a:prstGeom prst="roundRect">
            <a:avLst>
              <a:gd name="adj" fmla="val 2727"/>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5" name="Text 5"/>
          <p:cNvSpPr/>
          <p:nvPr/>
        </p:nvSpPr>
        <p:spPr>
          <a:xfrm>
            <a:off x="914400" y="2057400"/>
            <a:ext cx="2194560" cy="274320"/>
          </a:xfrm>
          <a:prstGeom prst="rect">
            <a:avLst/>
          </a:prstGeom>
          <a:noFill/>
          <a:ln/>
        </p:spPr>
        <p:txBody>
          <a:bodyPr wrap="square" lIns="0" tIns="0" rIns="0" bIns="0" rtlCol="0" anchor="ctr"/>
          <a:lstStyle/>
          <a:p>
            <a:pPr algn="l" indent="0" marL="0">
              <a:buNone/>
            </a:pPr>
            <a:r>
              <a:rPr lang="fr-FR" sz="950" b="1" dirty="0">
                <a:solidFill>
                  <a:srgbClr val="C3612D"/>
                </a:solidFill>
                <a:latin typeface="Calibri" pitchFamily="34" charset="0"/>
                <a:ea typeface="Calibri" pitchFamily="34" charset="-122"/>
                <a:cs typeface="Calibri" pitchFamily="34" charset="-120"/>
              </a:rPr>
              <a:t>BRANCHE</a:t>
            </a:r>
            <a:endParaRPr lang="fr-FR" sz="950" dirty="0"/>
          </a:p>
        </p:txBody>
      </p:sp>
      <p:sp>
        <p:nvSpPr>
          <p:cNvPr id="6" name="Text 6"/>
          <p:cNvSpPr/>
          <p:nvPr/>
        </p:nvSpPr>
        <p:spPr>
          <a:xfrm>
            <a:off x="3200400" y="2057400"/>
            <a:ext cx="4114800" cy="274320"/>
          </a:xfrm>
          <a:prstGeom prst="rect">
            <a:avLst/>
          </a:prstGeom>
          <a:noFill/>
          <a:ln/>
        </p:spPr>
        <p:txBody>
          <a:bodyPr wrap="square" lIns="0" tIns="0" rIns="0" bIns="0" rtlCol="0" anchor="ctr"/>
          <a:lstStyle/>
          <a:p>
            <a:pPr algn="l" indent="0" marL="0">
              <a:buNone/>
            </a:pPr>
            <a:r>
              <a:rPr lang="fr-FR" sz="950" b="1" dirty="0">
                <a:solidFill>
                  <a:srgbClr val="C3612D"/>
                </a:solidFill>
                <a:latin typeface="Calibri" pitchFamily="34" charset="0"/>
                <a:ea typeface="Calibri" pitchFamily="34" charset="-122"/>
                <a:cs typeface="Calibri" pitchFamily="34" charset="-120"/>
              </a:rPr>
              <a:t>RÔLE</a:t>
            </a:r>
            <a:endParaRPr lang="fr-FR" sz="950" dirty="0"/>
          </a:p>
        </p:txBody>
      </p:sp>
      <p:sp>
        <p:nvSpPr>
          <p:cNvPr id="7" name="Text 7"/>
          <p:cNvSpPr/>
          <p:nvPr/>
        </p:nvSpPr>
        <p:spPr>
          <a:xfrm>
            <a:off x="914400" y="2450592"/>
            <a:ext cx="2194560" cy="384048"/>
          </a:xfrm>
          <a:prstGeom prst="rect">
            <a:avLst/>
          </a:prstGeom>
          <a:noFill/>
          <a:ln/>
        </p:spPr>
        <p:txBody>
          <a:bodyPr wrap="square" lIns="0" tIns="0" rIns="0" bIns="0" rtlCol="0" anchor="ctr"/>
          <a:lstStyle/>
          <a:p>
            <a:pPr algn="l" indent="0" marL="0">
              <a:buNone/>
            </a:pPr>
            <a:r>
              <a:rPr lang="fr-FR" sz="1150" b="1" dirty="0">
                <a:solidFill>
                  <a:srgbClr val="1A3C29"/>
                </a:solidFill>
                <a:latin typeface="Calibri" pitchFamily="34" charset="0"/>
                <a:ea typeface="Calibri" pitchFamily="34" charset="-122"/>
                <a:cs typeface="Calibri" pitchFamily="34" charset="-120"/>
              </a:rPr>
              <a:t>master</a:t>
            </a:r>
            <a:endParaRPr lang="fr-FR" sz="1150" dirty="0"/>
          </a:p>
        </p:txBody>
      </p:sp>
      <p:sp>
        <p:nvSpPr>
          <p:cNvPr id="8" name="Text 8"/>
          <p:cNvSpPr/>
          <p:nvPr/>
        </p:nvSpPr>
        <p:spPr>
          <a:xfrm>
            <a:off x="3200400" y="2450592"/>
            <a:ext cx="4114800" cy="384048"/>
          </a:xfrm>
          <a:prstGeom prst="rect">
            <a:avLst/>
          </a:prstGeom>
          <a:noFill/>
          <a:ln/>
        </p:spPr>
        <p:txBody>
          <a:bodyPr wrap="square" lIns="0" tIns="0" rIns="0" bIns="0" rtlCol="0" anchor="ctr"/>
          <a:lstStyle/>
          <a:p>
            <a:pPr algn="l" indent="0" marL="0">
              <a:buNone/>
            </a:pPr>
            <a:r>
              <a:rPr lang="fr-FR" sz="1000" dirty="0">
                <a:solidFill>
                  <a:srgbClr val="5F5F5F"/>
                </a:solidFill>
                <a:latin typeface="Calibri" pitchFamily="34" charset="0"/>
                <a:ea typeface="Calibri" pitchFamily="34" charset="-122"/>
                <a:cs typeface="Calibri" pitchFamily="34" charset="-120"/>
              </a:rPr>
              <a:t>Branche principale : toujours stable et déployable</a:t>
            </a:r>
            <a:endParaRPr lang="fr-FR" sz="1000" dirty="0"/>
          </a:p>
        </p:txBody>
      </p:sp>
      <p:sp>
        <p:nvSpPr>
          <p:cNvPr id="9" name="Shape 9"/>
          <p:cNvSpPr/>
          <p:nvPr/>
        </p:nvSpPr>
        <p:spPr>
          <a:xfrm>
            <a:off x="914400" y="2935224"/>
            <a:ext cx="6400800" cy="9144"/>
          </a:xfrm>
          <a:prstGeom prst="rect">
            <a:avLst/>
          </a:prstGeom>
          <a:solidFill>
            <a:srgbClr val="E3DCD1"/>
          </a:solidFill>
          <a:ln w="12700">
            <a:solidFill>
              <a:srgbClr val="E3DCD1"/>
            </a:solidFill>
            <a:prstDash val="solid"/>
          </a:ln>
        </p:spPr>
      </p:sp>
      <p:sp>
        <p:nvSpPr>
          <p:cNvPr id="10" name="Text 10"/>
          <p:cNvSpPr/>
          <p:nvPr/>
        </p:nvSpPr>
        <p:spPr>
          <a:xfrm>
            <a:off x="914400" y="3017520"/>
            <a:ext cx="2194560" cy="384048"/>
          </a:xfrm>
          <a:prstGeom prst="rect">
            <a:avLst/>
          </a:prstGeom>
          <a:noFill/>
          <a:ln/>
        </p:spPr>
        <p:txBody>
          <a:bodyPr wrap="square" lIns="0" tIns="0" rIns="0" bIns="0" rtlCol="0" anchor="ctr"/>
          <a:lstStyle/>
          <a:p>
            <a:pPr algn="l" indent="0" marL="0">
              <a:buNone/>
            </a:pPr>
            <a:r>
              <a:rPr lang="fr-FR" sz="1150" b="1" dirty="0">
                <a:solidFill>
                  <a:srgbClr val="1A3C29"/>
                </a:solidFill>
                <a:latin typeface="Calibri" pitchFamily="34" charset="0"/>
                <a:ea typeface="Calibri" pitchFamily="34" charset="-122"/>
                <a:cs typeface="Calibri" pitchFamily="34" charset="-120"/>
              </a:rPr>
              <a:t>feat/…</a:t>
            </a:r>
            <a:endParaRPr lang="fr-FR" sz="1150" dirty="0"/>
          </a:p>
        </p:txBody>
      </p:sp>
      <p:sp>
        <p:nvSpPr>
          <p:cNvPr id="11" name="Text 11"/>
          <p:cNvSpPr/>
          <p:nvPr/>
        </p:nvSpPr>
        <p:spPr>
          <a:xfrm>
            <a:off x="3200400" y="3017520"/>
            <a:ext cx="4114800" cy="384048"/>
          </a:xfrm>
          <a:prstGeom prst="rect">
            <a:avLst/>
          </a:prstGeom>
          <a:noFill/>
          <a:ln/>
        </p:spPr>
        <p:txBody>
          <a:bodyPr wrap="square" lIns="0" tIns="0" rIns="0" bIns="0" rtlCol="0" anchor="ctr"/>
          <a:lstStyle/>
          <a:p>
            <a:pPr algn="l" indent="0" marL="0">
              <a:buNone/>
            </a:pPr>
            <a:r>
              <a:rPr lang="fr-FR" sz="1000" dirty="0">
                <a:solidFill>
                  <a:srgbClr val="5F5F5F"/>
                </a:solidFill>
                <a:latin typeface="Calibri" pitchFamily="34" charset="0"/>
                <a:ea typeface="Calibri" pitchFamily="34" charset="-122"/>
                <a:cs typeface="Calibri" pitchFamily="34" charset="-120"/>
              </a:rPr>
              <a:t>Une fonctionnalité par branche (feat/bloc3-docker-securite)</a:t>
            </a:r>
            <a:endParaRPr lang="fr-FR" sz="1000" dirty="0"/>
          </a:p>
        </p:txBody>
      </p:sp>
      <p:sp>
        <p:nvSpPr>
          <p:cNvPr id="12" name="Shape 12"/>
          <p:cNvSpPr/>
          <p:nvPr/>
        </p:nvSpPr>
        <p:spPr>
          <a:xfrm>
            <a:off x="914400" y="3502152"/>
            <a:ext cx="6400800" cy="9144"/>
          </a:xfrm>
          <a:prstGeom prst="rect">
            <a:avLst/>
          </a:prstGeom>
          <a:solidFill>
            <a:srgbClr val="E3DCD1"/>
          </a:solidFill>
          <a:ln w="12700">
            <a:solidFill>
              <a:srgbClr val="E3DCD1"/>
            </a:solidFill>
            <a:prstDash val="solid"/>
          </a:ln>
        </p:spPr>
      </p:sp>
      <p:sp>
        <p:nvSpPr>
          <p:cNvPr id="13" name="Text 13"/>
          <p:cNvSpPr/>
          <p:nvPr/>
        </p:nvSpPr>
        <p:spPr>
          <a:xfrm>
            <a:off x="914400" y="3584448"/>
            <a:ext cx="2194560" cy="384048"/>
          </a:xfrm>
          <a:prstGeom prst="rect">
            <a:avLst/>
          </a:prstGeom>
          <a:noFill/>
          <a:ln/>
        </p:spPr>
        <p:txBody>
          <a:bodyPr wrap="square" lIns="0" tIns="0" rIns="0" bIns="0" rtlCol="0" anchor="ctr"/>
          <a:lstStyle/>
          <a:p>
            <a:pPr algn="l" indent="0" marL="0">
              <a:buNone/>
            </a:pPr>
            <a:r>
              <a:rPr lang="fr-FR" sz="1150" b="1" dirty="0">
                <a:solidFill>
                  <a:srgbClr val="1A3C29"/>
                </a:solidFill>
                <a:latin typeface="Calibri" pitchFamily="34" charset="0"/>
                <a:ea typeface="Calibri" pitchFamily="34" charset="-122"/>
                <a:cs typeface="Calibri" pitchFamily="34" charset="-120"/>
              </a:rPr>
              <a:t>fix/…</a:t>
            </a:r>
            <a:endParaRPr lang="fr-FR" sz="1150" dirty="0"/>
          </a:p>
        </p:txBody>
      </p:sp>
      <p:sp>
        <p:nvSpPr>
          <p:cNvPr id="14" name="Text 14"/>
          <p:cNvSpPr/>
          <p:nvPr/>
        </p:nvSpPr>
        <p:spPr>
          <a:xfrm>
            <a:off x="3200400" y="3584448"/>
            <a:ext cx="4114800" cy="384048"/>
          </a:xfrm>
          <a:prstGeom prst="rect">
            <a:avLst/>
          </a:prstGeom>
          <a:noFill/>
          <a:ln/>
        </p:spPr>
        <p:txBody>
          <a:bodyPr wrap="square" lIns="0" tIns="0" rIns="0" bIns="0" rtlCol="0" anchor="ctr"/>
          <a:lstStyle/>
          <a:p>
            <a:pPr algn="l" indent="0" marL="0">
              <a:buNone/>
            </a:pPr>
            <a:r>
              <a:rPr lang="fr-FR" sz="1000" dirty="0">
                <a:solidFill>
                  <a:srgbClr val="5F5F5F"/>
                </a:solidFill>
                <a:latin typeface="Calibri" pitchFamily="34" charset="0"/>
                <a:ea typeface="Calibri" pitchFamily="34" charset="-122"/>
                <a:cs typeface="Calibri" pitchFamily="34" charset="-120"/>
              </a:rPr>
              <a:t>Correctif isolé, fusionné après relecture</a:t>
            </a:r>
            <a:endParaRPr lang="fr-FR" sz="1000" dirty="0"/>
          </a:p>
        </p:txBody>
      </p:sp>
      <p:sp>
        <p:nvSpPr>
          <p:cNvPr id="15" name="Shape 15"/>
          <p:cNvSpPr/>
          <p:nvPr/>
        </p:nvSpPr>
        <p:spPr>
          <a:xfrm>
            <a:off x="914400" y="4069080"/>
            <a:ext cx="6400800" cy="9144"/>
          </a:xfrm>
          <a:prstGeom prst="rect">
            <a:avLst/>
          </a:prstGeom>
          <a:solidFill>
            <a:srgbClr val="E3DCD1"/>
          </a:solidFill>
          <a:ln w="12700">
            <a:solidFill>
              <a:srgbClr val="E3DCD1"/>
            </a:solidFill>
            <a:prstDash val="solid"/>
          </a:ln>
        </p:spPr>
      </p:sp>
      <p:sp>
        <p:nvSpPr>
          <p:cNvPr id="16" name="Text 16"/>
          <p:cNvSpPr/>
          <p:nvPr/>
        </p:nvSpPr>
        <p:spPr>
          <a:xfrm>
            <a:off x="914400" y="4133088"/>
            <a:ext cx="6400800" cy="365760"/>
          </a:xfrm>
          <a:prstGeom prst="rect">
            <a:avLst/>
          </a:prstGeom>
          <a:noFill/>
          <a:ln/>
        </p:spPr>
        <p:txBody>
          <a:bodyPr wrap="square" lIns="0" tIns="0" rIns="0" bIns="0" rtlCol="0" anchor="ctr"/>
          <a:lstStyle/>
          <a:p>
            <a:pPr algn="l" indent="0" marL="0">
              <a:buNone/>
            </a:pPr>
            <a:r>
              <a:rPr lang="fr-FR" sz="1000" b="1" dirty="0">
                <a:solidFill>
                  <a:srgbClr val="1A3C29"/>
                </a:solidFill>
                <a:latin typeface="Calibri" pitchFamily="34" charset="0"/>
                <a:ea typeface="Calibri" pitchFamily="34" charset="-122"/>
                <a:cs typeface="Calibri" pitchFamily="34" charset="-120"/>
              </a:rPr>
              <a:t>Aucun développement directement sur master.</a:t>
            </a:r>
            <a:endParaRPr lang="fr-FR" sz="1000" dirty="0"/>
          </a:p>
        </p:txBody>
      </p:sp>
      <p:sp>
        <p:nvSpPr>
          <p:cNvPr id="17" name="Shape 17"/>
          <p:cNvSpPr/>
          <p:nvPr/>
        </p:nvSpPr>
        <p:spPr>
          <a:xfrm>
            <a:off x="640080" y="4617720"/>
            <a:ext cx="6949440" cy="1508760"/>
          </a:xfrm>
          <a:prstGeom prst="roundRect">
            <a:avLst>
              <a:gd name="adj" fmla="val 2727"/>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18" name="Text 18"/>
          <p:cNvSpPr/>
          <p:nvPr/>
        </p:nvSpPr>
        <p:spPr>
          <a:xfrm>
            <a:off x="914400" y="4754880"/>
            <a:ext cx="6400800" cy="274320"/>
          </a:xfrm>
          <a:prstGeom prst="rect">
            <a:avLst/>
          </a:prstGeom>
          <a:noFill/>
          <a:ln/>
        </p:spPr>
        <p:txBody>
          <a:bodyPr wrap="square" lIns="0" tIns="0" rIns="0" bIns="0" rtlCol="0" anchor="ctr"/>
          <a:lstStyle/>
          <a:p>
            <a:pPr algn="l" indent="0" marL="0">
              <a:buNone/>
            </a:pPr>
            <a:r>
              <a:rPr lang="fr-FR" sz="1150" b="1" dirty="0">
                <a:solidFill>
                  <a:srgbClr val="1A3C29"/>
                </a:solidFill>
                <a:latin typeface="Calibri" pitchFamily="34" charset="0"/>
                <a:ea typeface="Calibri" pitchFamily="34" charset="-122"/>
                <a:cs typeface="Calibri" pitchFamily="34" charset="-120"/>
              </a:rPr>
              <a:t>Règles appliquées sur le dépôt</a:t>
            </a:r>
            <a:endParaRPr lang="fr-FR" sz="1150" dirty="0"/>
          </a:p>
        </p:txBody>
      </p:sp>
      <p:sp>
        <p:nvSpPr>
          <p:cNvPr id="19" name="Text 19"/>
          <p:cNvSpPr/>
          <p:nvPr/>
        </p:nvSpPr>
        <p:spPr>
          <a:xfrm>
            <a:off x="914400" y="5102352"/>
            <a:ext cx="6400800" cy="256032"/>
          </a:xfrm>
          <a:prstGeom prst="rect">
            <a:avLst/>
          </a:prstGeom>
          <a:noFill/>
          <a:ln/>
        </p:spPr>
        <p:txBody>
          <a:bodyPr wrap="square" lIns="0" tIns="0" rIns="0" bIns="0" rtlCol="0" anchor="ctr"/>
          <a:lstStyle/>
          <a:p>
            <a:pPr algn="l" indent="0" marL="0">
              <a:buNone/>
            </a:pPr>
            <a:r>
              <a:rPr lang="fr-FR" sz="1000" dirty="0">
                <a:solidFill>
                  <a:srgbClr val="5F5F5F"/>
                </a:solidFill>
                <a:latin typeface="Calibri" pitchFamily="34" charset="0"/>
                <a:ea typeface="Calibri" pitchFamily="34" charset="-122"/>
                <a:cs typeface="Calibri" pitchFamily="34" charset="-120"/>
              </a:rPr>
              <a:t>Messages normés </a:t>
            </a:r>
            <a:r>
              <a:rPr lang="fr-FR" sz="1000" b="1" dirty="0">
                <a:solidFill>
                  <a:srgbClr val="1A3C29"/>
                </a:solidFill>
                <a:latin typeface="Calibri" pitchFamily="34" charset="0"/>
                <a:ea typeface="Calibri" pitchFamily="34" charset="-122"/>
                <a:cs typeface="Calibri" pitchFamily="34" charset="-120"/>
              </a:rPr>
              <a:t>Conventional Commits</a:t>
            </a:r>
            <a:r>
              <a:rPr lang="fr-FR" sz="1000" dirty="0">
                <a:solidFill>
                  <a:srgbClr val="5F5F5F"/>
                </a:solidFill>
                <a:latin typeface="Calibri" pitchFamily="34" charset="0"/>
                <a:ea typeface="Calibri" pitchFamily="34" charset="-122"/>
                <a:cs typeface="Calibri" pitchFamily="34" charset="-120"/>
              </a:rPr>
              <a:t> : feat: · fix: · ci: · docs:</a:t>
            </a:r>
            <a:endParaRPr lang="fr-FR" sz="1000" dirty="0"/>
          </a:p>
        </p:txBody>
      </p:sp>
      <p:sp>
        <p:nvSpPr>
          <p:cNvPr id="20" name="Text 20"/>
          <p:cNvSpPr/>
          <p:nvPr/>
        </p:nvSpPr>
        <p:spPr>
          <a:xfrm>
            <a:off x="914400" y="5376672"/>
            <a:ext cx="6400800" cy="256032"/>
          </a:xfrm>
          <a:prstGeom prst="rect">
            <a:avLst/>
          </a:prstGeom>
          <a:noFill/>
          <a:ln/>
        </p:spPr>
        <p:txBody>
          <a:bodyPr wrap="square" lIns="0" tIns="0" rIns="0" bIns="0" rtlCol="0" anchor="ctr"/>
          <a:lstStyle/>
          <a:p>
            <a:pPr algn="l" indent="0" marL="0">
              <a:buNone/>
            </a:pPr>
            <a:r>
              <a:rPr lang="fr-FR" sz="1000" dirty="0">
                <a:solidFill>
                  <a:srgbClr val="5F5F5F"/>
                </a:solidFill>
                <a:latin typeface="Calibri" pitchFamily="34" charset="0"/>
                <a:ea typeface="Calibri" pitchFamily="34" charset="-122"/>
                <a:cs typeface="Calibri" pitchFamily="34" charset="-120"/>
              </a:rPr>
              <a:t>Fusion par </a:t>
            </a:r>
            <a:r>
              <a:rPr lang="fr-FR" sz="1000" b="1" dirty="0">
                <a:solidFill>
                  <a:srgbClr val="1A3C29"/>
                </a:solidFill>
                <a:latin typeface="Calibri" pitchFamily="34" charset="0"/>
                <a:ea typeface="Calibri" pitchFamily="34" charset="-122"/>
                <a:cs typeface="Calibri" pitchFamily="34" charset="-120"/>
              </a:rPr>
              <a:t>Pull Request</a:t>
            </a:r>
            <a:r>
              <a:rPr lang="fr-FR" sz="1000" dirty="0">
                <a:solidFill>
                  <a:srgbClr val="5F5F5F"/>
                </a:solidFill>
                <a:latin typeface="Calibri" pitchFamily="34" charset="0"/>
                <a:ea typeface="Calibri" pitchFamily="34" charset="-122"/>
                <a:cs typeface="Calibri" pitchFamily="34" charset="-120"/>
              </a:rPr>
              <a:t> : relecture + CI verte obligatoires</a:t>
            </a:r>
            <a:endParaRPr lang="fr-FR" sz="1000" dirty="0"/>
          </a:p>
        </p:txBody>
      </p:sp>
      <p:sp>
        <p:nvSpPr>
          <p:cNvPr id="21" name="Text 21"/>
          <p:cNvSpPr/>
          <p:nvPr/>
        </p:nvSpPr>
        <p:spPr>
          <a:xfrm>
            <a:off x="914400" y="5650992"/>
            <a:ext cx="6400800" cy="256032"/>
          </a:xfrm>
          <a:prstGeom prst="rect">
            <a:avLst/>
          </a:prstGeom>
          <a:noFill/>
          <a:ln/>
        </p:spPr>
        <p:txBody>
          <a:bodyPr wrap="square" lIns="0" tIns="0" rIns="0" bIns="0" rtlCol="0" anchor="ctr"/>
          <a:lstStyle/>
          <a:p>
            <a:pPr algn="l" indent="0" marL="0">
              <a:buNone/>
            </a:pPr>
            <a:r>
              <a:rPr lang="fr-FR" sz="1000" dirty="0">
                <a:solidFill>
                  <a:srgbClr val="5F5F5F"/>
                </a:solidFill>
                <a:latin typeface="Calibri" pitchFamily="34" charset="0"/>
                <a:ea typeface="Calibri" pitchFamily="34" charset="-122"/>
                <a:cs typeface="Calibri" pitchFamily="34" charset="-120"/>
              </a:rPr>
              <a:t>Aucun secret dans le dépôt : le fichier </a:t>
            </a:r>
            <a:r>
              <a:rPr lang="fr-FR" sz="1000" b="1" dirty="0">
                <a:solidFill>
                  <a:srgbClr val="1A3C29"/>
                </a:solidFill>
                <a:latin typeface="Calibri" pitchFamily="34" charset="0"/>
                <a:ea typeface="Calibri" pitchFamily="34" charset="-122"/>
                <a:cs typeface="Calibri" pitchFamily="34" charset="-120"/>
              </a:rPr>
              <a:t>.env</a:t>
            </a:r>
            <a:r>
              <a:rPr lang="fr-FR" sz="1000" dirty="0">
                <a:solidFill>
                  <a:srgbClr val="5F5F5F"/>
                </a:solidFill>
                <a:latin typeface="Calibri" pitchFamily="34" charset="0"/>
                <a:ea typeface="Calibri" pitchFamily="34" charset="-122"/>
                <a:cs typeface="Calibri" pitchFamily="34" charset="-120"/>
              </a:rPr>
              <a:t> est git-ignoré (clé JWT, mot de passe de la base)</a:t>
            </a:r>
            <a:endParaRPr lang="fr-FR" sz="1000" dirty="0"/>
          </a:p>
        </p:txBody>
      </p:sp>
      <p:sp>
        <p:nvSpPr>
          <p:cNvPr id="22" name="Shape 22"/>
          <p:cNvSpPr/>
          <p:nvPr/>
        </p:nvSpPr>
        <p:spPr>
          <a:xfrm>
            <a:off x="7863840" y="1874520"/>
            <a:ext cx="3657600" cy="2606040"/>
          </a:xfrm>
          <a:prstGeom prst="roundRect">
            <a:avLst>
              <a:gd name="adj" fmla="val 2727"/>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23" name="Shape 23"/>
          <p:cNvSpPr/>
          <p:nvPr/>
        </p:nvSpPr>
        <p:spPr>
          <a:xfrm>
            <a:off x="7863840" y="1874520"/>
            <a:ext cx="82296" cy="2606040"/>
          </a:xfrm>
          <a:prstGeom prst="rect">
            <a:avLst/>
          </a:prstGeom>
          <a:solidFill>
            <a:srgbClr val="C3612D"/>
          </a:solidFill>
          <a:ln w="12700">
            <a:solidFill>
              <a:srgbClr val="C3612D"/>
            </a:solidFill>
            <a:prstDash val="solid"/>
          </a:ln>
        </p:spPr>
      </p:sp>
      <p:sp>
        <p:nvSpPr>
          <p:cNvPr id="24" name="Text 24"/>
          <p:cNvSpPr/>
          <p:nvPr/>
        </p:nvSpPr>
        <p:spPr>
          <a:xfrm>
            <a:off x="8138160" y="2057400"/>
            <a:ext cx="3200400" cy="274320"/>
          </a:xfrm>
          <a:prstGeom prst="rect">
            <a:avLst/>
          </a:prstGeom>
          <a:noFill/>
          <a:ln/>
        </p:spPr>
        <p:txBody>
          <a:bodyPr wrap="square" lIns="0" tIns="0" rIns="0" bIns="0" rtlCol="0" anchor="ctr"/>
          <a:lstStyle/>
          <a:p>
            <a:pPr algn="l" indent="0" marL="0">
              <a:buNone/>
            </a:pPr>
            <a:r>
              <a:rPr lang="fr-FR" sz="1150" b="1" dirty="0">
                <a:solidFill>
                  <a:srgbClr val="1A3C29"/>
                </a:solidFill>
                <a:latin typeface="Calibri" pitchFamily="34" charset="0"/>
                <a:ea typeface="Calibri" pitchFamily="34" charset="-122"/>
                <a:cs typeface="Calibri" pitchFamily="34" charset="-120"/>
              </a:rPr>
              <a:t>Ce que ça garantit</a:t>
            </a:r>
            <a:endParaRPr lang="fr-FR" sz="1150" dirty="0"/>
          </a:p>
        </p:txBody>
      </p:sp>
      <p:sp>
        <p:nvSpPr>
          <p:cNvPr id="25" name="Shape 25"/>
          <p:cNvSpPr/>
          <p:nvPr/>
        </p:nvSpPr>
        <p:spPr>
          <a:xfrm>
            <a:off x="8138160" y="2670048"/>
            <a:ext cx="91440" cy="18288"/>
          </a:xfrm>
          <a:prstGeom prst="rect">
            <a:avLst/>
          </a:prstGeom>
          <a:solidFill>
            <a:srgbClr val="8AA595"/>
          </a:solidFill>
          <a:ln w="12700">
            <a:solidFill>
              <a:srgbClr val="8AA595"/>
            </a:solidFill>
            <a:prstDash val="solid"/>
          </a:ln>
        </p:spPr>
      </p:sp>
      <p:sp>
        <p:nvSpPr>
          <p:cNvPr id="26" name="Text 26"/>
          <p:cNvSpPr/>
          <p:nvPr/>
        </p:nvSpPr>
        <p:spPr>
          <a:xfrm>
            <a:off x="8339328" y="2450592"/>
            <a:ext cx="2999232" cy="457200"/>
          </a:xfrm>
          <a:prstGeom prst="rect">
            <a:avLst/>
          </a:prstGeom>
          <a:noFill/>
          <a:ln/>
        </p:spPr>
        <p:txBody>
          <a:bodyPr wrap="square" lIns="0" tIns="0" rIns="0" bIns="0" rtlCol="0" anchor="ctr"/>
          <a:lstStyle/>
          <a:p>
            <a:pPr algn="l" indent="0" marL="0">
              <a:buNone/>
            </a:pPr>
            <a:r>
              <a:rPr lang="fr-FR" sz="1000" dirty="0">
                <a:solidFill>
                  <a:srgbClr val="5F5F5F"/>
                </a:solidFill>
                <a:latin typeface="Calibri" pitchFamily="34" charset="0"/>
                <a:ea typeface="Calibri" pitchFamily="34" charset="-122"/>
                <a:cs typeface="Calibri" pitchFamily="34" charset="-120"/>
              </a:rPr>
              <a:t>Historique complet et traçable</a:t>
            </a:r>
            <a:endParaRPr lang="fr-FR" sz="1000" dirty="0"/>
          </a:p>
        </p:txBody>
      </p:sp>
      <p:sp>
        <p:nvSpPr>
          <p:cNvPr id="27" name="Shape 27"/>
          <p:cNvSpPr/>
          <p:nvPr/>
        </p:nvSpPr>
        <p:spPr>
          <a:xfrm>
            <a:off x="8138160" y="3127248"/>
            <a:ext cx="91440" cy="18288"/>
          </a:xfrm>
          <a:prstGeom prst="rect">
            <a:avLst/>
          </a:prstGeom>
          <a:solidFill>
            <a:srgbClr val="8AA595"/>
          </a:solidFill>
          <a:ln w="12700">
            <a:solidFill>
              <a:srgbClr val="8AA595"/>
            </a:solidFill>
            <a:prstDash val="solid"/>
          </a:ln>
        </p:spPr>
      </p:sp>
      <p:sp>
        <p:nvSpPr>
          <p:cNvPr id="28" name="Text 28"/>
          <p:cNvSpPr/>
          <p:nvPr/>
        </p:nvSpPr>
        <p:spPr>
          <a:xfrm>
            <a:off x="8339328" y="2907792"/>
            <a:ext cx="2999232" cy="457200"/>
          </a:xfrm>
          <a:prstGeom prst="rect">
            <a:avLst/>
          </a:prstGeom>
          <a:noFill/>
          <a:ln/>
        </p:spPr>
        <p:txBody>
          <a:bodyPr wrap="square" lIns="0" tIns="0" rIns="0" bIns="0" rtlCol="0" anchor="ctr"/>
          <a:lstStyle/>
          <a:p>
            <a:pPr algn="l" indent="0" marL="0">
              <a:buNone/>
            </a:pPr>
            <a:r>
              <a:rPr lang="fr-FR" sz="1000" dirty="0">
                <a:solidFill>
                  <a:srgbClr val="5F5F5F"/>
                </a:solidFill>
                <a:latin typeface="Calibri" pitchFamily="34" charset="0"/>
                <a:ea typeface="Calibri" pitchFamily="34" charset="-122"/>
                <a:cs typeface="Calibri" pitchFamily="34" charset="-120"/>
              </a:rPr>
              <a:t>Travail à plusieurs sans conflit</a:t>
            </a:r>
            <a:endParaRPr lang="fr-FR" sz="1000" dirty="0"/>
          </a:p>
        </p:txBody>
      </p:sp>
      <p:sp>
        <p:nvSpPr>
          <p:cNvPr id="29" name="Shape 29"/>
          <p:cNvSpPr/>
          <p:nvPr/>
        </p:nvSpPr>
        <p:spPr>
          <a:xfrm>
            <a:off x="8138160" y="3584448"/>
            <a:ext cx="91440" cy="18288"/>
          </a:xfrm>
          <a:prstGeom prst="rect">
            <a:avLst/>
          </a:prstGeom>
          <a:solidFill>
            <a:srgbClr val="8AA595"/>
          </a:solidFill>
          <a:ln w="12700">
            <a:solidFill>
              <a:srgbClr val="8AA595"/>
            </a:solidFill>
            <a:prstDash val="solid"/>
          </a:ln>
        </p:spPr>
      </p:sp>
      <p:sp>
        <p:nvSpPr>
          <p:cNvPr id="30" name="Text 30"/>
          <p:cNvSpPr/>
          <p:nvPr/>
        </p:nvSpPr>
        <p:spPr>
          <a:xfrm>
            <a:off x="8339328" y="3364992"/>
            <a:ext cx="2999232" cy="457200"/>
          </a:xfrm>
          <a:prstGeom prst="rect">
            <a:avLst/>
          </a:prstGeom>
          <a:noFill/>
          <a:ln/>
        </p:spPr>
        <p:txBody>
          <a:bodyPr wrap="square" lIns="0" tIns="0" rIns="0" bIns="0" rtlCol="0" anchor="ctr"/>
          <a:lstStyle/>
          <a:p>
            <a:pPr algn="l" indent="0" marL="0">
              <a:buNone/>
            </a:pPr>
            <a:r>
              <a:rPr lang="fr-FR" sz="1000" dirty="0">
                <a:solidFill>
                  <a:srgbClr val="5F5F5F"/>
                </a:solidFill>
                <a:latin typeface="Calibri" pitchFamily="34" charset="0"/>
                <a:ea typeface="Calibri" pitchFamily="34" charset="-122"/>
                <a:cs typeface="Calibri" pitchFamily="34" charset="-120"/>
              </a:rPr>
              <a:t>Retour arrière possible à tout moment</a:t>
            </a:r>
            <a:endParaRPr lang="fr-FR" sz="1000" dirty="0"/>
          </a:p>
        </p:txBody>
      </p:sp>
      <p:sp>
        <p:nvSpPr>
          <p:cNvPr id="31" name="Shape 31"/>
          <p:cNvSpPr/>
          <p:nvPr/>
        </p:nvSpPr>
        <p:spPr>
          <a:xfrm>
            <a:off x="8138160" y="4041648"/>
            <a:ext cx="91440" cy="18288"/>
          </a:xfrm>
          <a:prstGeom prst="rect">
            <a:avLst/>
          </a:prstGeom>
          <a:solidFill>
            <a:srgbClr val="8AA595"/>
          </a:solidFill>
          <a:ln w="12700">
            <a:solidFill>
              <a:srgbClr val="8AA595"/>
            </a:solidFill>
            <a:prstDash val="solid"/>
          </a:ln>
        </p:spPr>
      </p:sp>
      <p:sp>
        <p:nvSpPr>
          <p:cNvPr id="32" name="Text 32"/>
          <p:cNvSpPr/>
          <p:nvPr/>
        </p:nvSpPr>
        <p:spPr>
          <a:xfrm>
            <a:off x="8339328" y="3822192"/>
            <a:ext cx="2999232" cy="457200"/>
          </a:xfrm>
          <a:prstGeom prst="rect">
            <a:avLst/>
          </a:prstGeom>
          <a:noFill/>
          <a:ln/>
        </p:spPr>
        <p:txBody>
          <a:bodyPr wrap="square" lIns="0" tIns="0" rIns="0" bIns="0" rtlCol="0" anchor="ctr"/>
          <a:lstStyle/>
          <a:p>
            <a:pPr algn="l" indent="0" marL="0">
              <a:buNone/>
            </a:pPr>
            <a:r>
              <a:rPr lang="fr-FR" sz="1000" dirty="0">
                <a:solidFill>
                  <a:srgbClr val="5F5F5F"/>
                </a:solidFill>
                <a:latin typeface="Calibri" pitchFamily="34" charset="0"/>
                <a:ea typeface="Calibri" pitchFamily="34" charset="-122"/>
                <a:cs typeface="Calibri" pitchFamily="34" charset="-120"/>
              </a:rPr>
              <a:t>En maintenance : une branche par ticket Jira</a:t>
            </a:r>
            <a:endParaRPr lang="fr-FR" sz="1000" dirty="0"/>
          </a:p>
        </p:txBody>
      </p:sp>
      <p:sp>
        <p:nvSpPr>
          <p:cNvPr id="33" name="Shape 33"/>
          <p:cNvSpPr/>
          <p:nvPr/>
        </p:nvSpPr>
        <p:spPr>
          <a:xfrm>
            <a:off x="7863840" y="4617720"/>
            <a:ext cx="3657600" cy="1508760"/>
          </a:xfrm>
          <a:prstGeom prst="roundRect">
            <a:avLst>
              <a:gd name="adj" fmla="val 2727"/>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34" name="Text 34"/>
          <p:cNvSpPr/>
          <p:nvPr/>
        </p:nvSpPr>
        <p:spPr>
          <a:xfrm>
            <a:off x="8138160" y="4846320"/>
            <a:ext cx="3200400" cy="457200"/>
          </a:xfrm>
          <a:prstGeom prst="rect">
            <a:avLst/>
          </a:prstGeom>
          <a:noFill/>
          <a:ln/>
        </p:spPr>
        <p:txBody>
          <a:bodyPr wrap="square" lIns="0" tIns="0" rIns="0" bIns="0" rtlCol="0" anchor="ctr"/>
          <a:lstStyle/>
          <a:p>
            <a:pPr algn="l" indent="0" marL="0">
              <a:buNone/>
            </a:pPr>
            <a:r>
              <a:rPr lang="fr-FR" sz="2000" b="1" dirty="0">
                <a:solidFill>
                  <a:srgbClr val="1A3C29"/>
                </a:solidFill>
                <a:latin typeface="Calibri" pitchFamily="34" charset="0"/>
                <a:ea typeface="Calibri" pitchFamily="34" charset="-122"/>
                <a:cs typeface="Calibri" pitchFamily="34" charset="-120"/>
              </a:rPr>
              <a:t>1 Pull Request</a:t>
            </a:r>
            <a:endParaRPr lang="fr-FR" sz="2000" dirty="0"/>
          </a:p>
        </p:txBody>
      </p:sp>
      <p:sp>
        <p:nvSpPr>
          <p:cNvPr id="35" name="Text 35"/>
          <p:cNvSpPr/>
          <p:nvPr/>
        </p:nvSpPr>
        <p:spPr>
          <a:xfrm>
            <a:off x="8138160" y="5349240"/>
            <a:ext cx="3200400" cy="548640"/>
          </a:xfrm>
          <a:prstGeom prst="rect">
            <a:avLst/>
          </a:prstGeom>
          <a:noFill/>
          <a:ln/>
        </p:spPr>
        <p:txBody>
          <a:bodyPr wrap="square" lIns="0" tIns="0" rIns="0" bIns="0" rtlCol="0" anchor="ctr"/>
          <a:lstStyle/>
          <a:p>
            <a:pPr algn="l" indent="0" marL="0">
              <a:buNone/>
            </a:pPr>
            <a:r>
              <a:rPr lang="fr-FR" sz="1000" dirty="0">
                <a:solidFill>
                  <a:srgbClr val="5F5F5F"/>
                </a:solidFill>
                <a:latin typeface="Calibri" pitchFamily="34" charset="0"/>
                <a:ea typeface="Calibri" pitchFamily="34" charset="-122"/>
                <a:cs typeface="Calibri" pitchFamily="34" charset="-120"/>
              </a:rPr>
              <a:t>déjà fusionnée sur master après passage au vert de la CI</a:t>
            </a:r>
            <a:endParaRPr lang="fr-FR" sz="1000" dirty="0"/>
          </a:p>
        </p:txBody>
      </p:sp>
      <p:sp>
        <p:nvSpPr>
          <p:cNvPr id="36" name="Shape 36"/>
          <p:cNvSpPr/>
          <p:nvPr/>
        </p:nvSpPr>
        <p:spPr>
          <a:xfrm>
            <a:off x="0" y="6355080"/>
            <a:ext cx="12188952" cy="502920"/>
          </a:xfrm>
          <a:prstGeom prst="rect">
            <a:avLst/>
          </a:prstGeom>
          <a:solidFill>
            <a:srgbClr val="1A3C29"/>
          </a:solidFill>
          <a:ln w="12700">
            <a:solidFill>
              <a:srgbClr val="1A3C29"/>
            </a:solidFill>
            <a:prstDash val="solid"/>
          </a:ln>
        </p:spPr>
      </p:sp>
      <p:sp>
        <p:nvSpPr>
          <p:cNvPr id="37" name="Text 37"/>
          <p:cNvSpPr/>
          <p:nvPr/>
        </p:nvSpPr>
        <p:spPr>
          <a:xfrm>
            <a:off x="502920" y="6382512"/>
            <a:ext cx="4572000" cy="237744"/>
          </a:xfrm>
          <a:prstGeom prst="rect">
            <a:avLst/>
          </a:prstGeom>
          <a:noFill/>
          <a:ln/>
        </p:spPr>
        <p:txBody>
          <a:bodyPr wrap="square" lIns="0" tIns="0" rIns="0" bIns="0" rtlCol="0" anchor="ctr"/>
          <a:lstStyle/>
          <a:p>
            <a:pPr algn="l" indent="0" marL="0">
              <a:buNone/>
            </a:pPr>
            <a:r>
              <a:rPr lang="fr-FR" sz="1000" b="1" dirty="0">
                <a:solidFill>
                  <a:srgbClr val="FFFFFF"/>
                </a:solidFill>
                <a:latin typeface="Calibri" pitchFamily="34" charset="0"/>
                <a:ea typeface="Calibri" pitchFamily="34" charset="-122"/>
                <a:cs typeface="Calibri" pitchFamily="34" charset="-120"/>
              </a:rPr>
              <a:t>RENOIR&amp;ALINE</a:t>
            </a:r>
            <a:endParaRPr lang="fr-FR" sz="1000" dirty="0"/>
          </a:p>
        </p:txBody>
      </p:sp>
      <p:sp>
        <p:nvSpPr>
          <p:cNvPr id="38" name="Text 38"/>
          <p:cNvSpPr/>
          <p:nvPr/>
        </p:nvSpPr>
        <p:spPr>
          <a:xfrm>
            <a:off x="502920" y="6601968"/>
            <a:ext cx="4572000" cy="182880"/>
          </a:xfrm>
          <a:prstGeom prst="rect">
            <a:avLst/>
          </a:prstGeom>
          <a:noFill/>
          <a:ln/>
        </p:spPr>
        <p:txBody>
          <a:bodyPr wrap="square" lIns="0" tIns="0" rIns="0" bIns="0" rtlCol="0" anchor="ctr"/>
          <a:lstStyle/>
          <a:p>
            <a:pPr algn="l" indent="0" marL="0">
              <a:buNone/>
            </a:pPr>
            <a:r>
              <a:rPr lang="fr-FR" sz="700" spc="200" kern="0" dirty="0">
                <a:solidFill>
                  <a:srgbClr val="8AA595"/>
                </a:solidFill>
                <a:latin typeface="Calibri" pitchFamily="34" charset="0"/>
                <a:ea typeface="Calibri" pitchFamily="34" charset="-122"/>
                <a:cs typeface="Calibri" pitchFamily="34" charset="-120"/>
              </a:rPr>
              <a:t>CONSTRUCTEUR DE SITE WEB</a:t>
            </a:r>
            <a:endParaRPr lang="fr-FR" sz="700" dirty="0"/>
          </a:p>
        </p:txBody>
      </p:sp>
      <p:sp>
        <p:nvSpPr>
          <p:cNvPr id="39" name="Text 39"/>
          <p:cNvSpPr/>
          <p:nvPr/>
        </p:nvSpPr>
        <p:spPr>
          <a:xfrm>
            <a:off x="10241280" y="6419088"/>
            <a:ext cx="1417320" cy="365760"/>
          </a:xfrm>
          <a:prstGeom prst="rect">
            <a:avLst/>
          </a:prstGeom>
          <a:noFill/>
          <a:ln/>
        </p:spPr>
        <p:txBody>
          <a:bodyPr wrap="square" lIns="0" tIns="0" rIns="0" bIns="0" rtlCol="0" anchor="ctr"/>
          <a:lstStyle/>
          <a:p>
            <a:pPr algn="r" indent="0" marL="0">
              <a:buNone/>
            </a:pPr>
            <a:r>
              <a:rPr lang="fr-FR" sz="1000" b="1" dirty="0">
                <a:solidFill>
                  <a:srgbClr val="FFFFFF"/>
                </a:solidFill>
                <a:latin typeface="Calibri" pitchFamily="34" charset="0"/>
                <a:ea typeface="Calibri" pitchFamily="34" charset="-122"/>
                <a:cs typeface="Calibri" pitchFamily="34" charset="-120"/>
              </a:rPr>
              <a:t>Page 6/21</a:t>
            </a:r>
            <a:endParaRPr lang="fr-FR"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1ECE6"/>
        </a:solidFill>
      </p:bgPr>
    </p:bg>
    <p:spTree>
      <p:nvGrpSpPr>
        <p:cNvPr id="1" name=""/>
        <p:cNvGrpSpPr/>
        <p:nvPr/>
      </p:nvGrpSpPr>
      <p:grpSpPr>
        <a:xfrm>
          <a:off x="0" y="0"/>
          <a:ext cx="0" cy="0"/>
          <a:chOff x="0" y="0"/>
          <a:chExt cx="0" cy="0"/>
        </a:xfrm>
      </p:grpSpPr>
      <p:sp>
        <p:nvSpPr>
          <p:cNvPr id="2" name="Text 0"/>
          <p:cNvSpPr/>
          <p:nvPr/>
        </p:nvSpPr>
        <p:spPr>
          <a:xfrm>
            <a:off x="640080" y="384048"/>
            <a:ext cx="10881360" cy="292608"/>
          </a:xfrm>
          <a:prstGeom prst="rect">
            <a:avLst/>
          </a:prstGeom>
          <a:noFill/>
          <a:ln/>
        </p:spPr>
        <p:txBody>
          <a:bodyPr wrap="square" lIns="0" tIns="0" rIns="0" bIns="0" rtlCol="0" anchor="ctr"/>
          <a:lstStyle/>
          <a:p>
            <a:pPr indent="0" marL="0">
              <a:buNone/>
            </a:pPr>
            <a:r>
              <a:rPr lang="en-US" sz="1300" b="1" dirty="0">
                <a:solidFill>
                  <a:srgbClr val="C3612D"/>
                </a:solidFill>
                <a:latin typeface="Calibri" pitchFamily="34" charset="0"/>
                <a:ea typeface="Calibri" pitchFamily="34" charset="-122"/>
                <a:cs typeface="Calibri" pitchFamily="34" charset="-120"/>
              </a:rPr>
              <a:t>Déploiement</a:t>
            </a:r>
            <a:endParaRPr lang="en-US" sz="1300" dirty="0"/>
          </a:p>
        </p:txBody>
      </p:sp>
      <p:sp>
        <p:nvSpPr>
          <p:cNvPr id="3" name="Text 1"/>
          <p:cNvSpPr/>
          <p:nvPr/>
        </p:nvSpPr>
        <p:spPr>
          <a:xfrm>
            <a:off x="640080" y="713232"/>
            <a:ext cx="10881360" cy="822960"/>
          </a:xfrm>
          <a:prstGeom prst="rect">
            <a:avLst/>
          </a:prstGeom>
          <a:noFill/>
          <a:ln/>
        </p:spPr>
        <p:txBody>
          <a:bodyPr wrap="square" lIns="0" tIns="0" rIns="0" bIns="0" rtlCol="0" anchor="ctr"/>
          <a:lstStyle/>
          <a:p>
            <a:pPr indent="0" marL="0">
              <a:buNone/>
            </a:pPr>
            <a:r>
              <a:rPr lang="en-US" sz="3400" b="1" dirty="0">
                <a:solidFill>
                  <a:srgbClr val="1A3C29"/>
                </a:solidFill>
                <a:latin typeface="Calibri" pitchFamily="34" charset="0"/>
                <a:ea typeface="Calibri" pitchFamily="34" charset="-122"/>
                <a:cs typeface="Calibri" pitchFamily="34" charset="-120"/>
              </a:rPr>
              <a:t>Processus de déploiement</a:t>
            </a:r>
            <a:endParaRPr lang="en-US" sz="3400" dirty="0"/>
          </a:p>
        </p:txBody>
      </p:sp>
      <p:sp>
        <p:nvSpPr>
          <p:cNvPr id="4" name="Shape 2"/>
          <p:cNvSpPr/>
          <p:nvPr/>
        </p:nvSpPr>
        <p:spPr>
          <a:xfrm>
            <a:off x="411480" y="2286000"/>
            <a:ext cx="2057400" cy="2011680"/>
          </a:xfrm>
          <a:prstGeom prst="roundRect">
            <a:avLst>
              <a:gd name="adj" fmla="val 2727"/>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5" name="Shape 3"/>
          <p:cNvSpPr/>
          <p:nvPr/>
        </p:nvSpPr>
        <p:spPr>
          <a:xfrm>
            <a:off x="1156716" y="2468880"/>
            <a:ext cx="566928" cy="566928"/>
          </a:xfrm>
          <a:prstGeom prst="ellipse">
            <a:avLst/>
          </a:prstGeom>
          <a:solidFill>
            <a:srgbClr val="1A3C29"/>
          </a:solidFill>
          <a:ln w="12700">
            <a:solidFill>
              <a:srgbClr val="1A3C29"/>
            </a:solidFill>
            <a:prstDash val="solid"/>
          </a:ln>
        </p:spPr>
      </p:sp>
      <p:sp>
        <p:nvSpPr>
          <p:cNvPr id="6" name="Text 4"/>
          <p:cNvSpPr/>
          <p:nvPr/>
        </p:nvSpPr>
        <p:spPr>
          <a:xfrm>
            <a:off x="1156716" y="246888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502920" y="3154680"/>
            <a:ext cx="1874520" cy="411480"/>
          </a:xfrm>
          <a:prstGeom prst="rect">
            <a:avLst/>
          </a:prstGeom>
          <a:noFill/>
          <a:ln/>
        </p:spPr>
        <p:txBody>
          <a:bodyPr wrap="square" lIns="0" tIns="0" rIns="0" bIns="0" rtlCol="0" anchor="ctr"/>
          <a:lstStyle/>
          <a:p>
            <a:pPr algn="ctr" indent="0" marL="0">
              <a:buNone/>
            </a:pPr>
            <a:r>
              <a:rPr lang="en-US" sz="1300" b="1" dirty="0">
                <a:solidFill>
                  <a:srgbClr val="1A3C29"/>
                </a:solidFill>
                <a:latin typeface="Calibri" pitchFamily="34" charset="0"/>
                <a:ea typeface="Calibri" pitchFamily="34" charset="-122"/>
                <a:cs typeface="Calibri" pitchFamily="34" charset="-120"/>
              </a:rPr>
              <a:t>Développement</a:t>
            </a:r>
            <a:endParaRPr lang="en-US" sz="1300" dirty="0"/>
          </a:p>
        </p:txBody>
      </p:sp>
      <p:sp>
        <p:nvSpPr>
          <p:cNvPr id="8" name="Text 6"/>
          <p:cNvSpPr/>
          <p:nvPr/>
        </p:nvSpPr>
        <p:spPr>
          <a:xfrm>
            <a:off x="521208" y="3584448"/>
            <a:ext cx="1828800" cy="640080"/>
          </a:xfrm>
          <a:prstGeom prst="rect">
            <a:avLst/>
          </a:prstGeom>
          <a:noFill/>
          <a:ln/>
        </p:spPr>
        <p:txBody>
          <a:bodyPr wrap="square" lIns="0" tIns="0" rIns="0" bIns="0" rtlCol="0" anchor="ctr"/>
          <a:lstStyle/>
          <a:p>
            <a:pPr algn="ctr" indent="0" marL="0">
              <a:buNone/>
            </a:pPr>
            <a:r>
              <a:rPr lang="en-US" sz="1050" dirty="0">
                <a:solidFill>
                  <a:srgbClr val="5F5F5F"/>
                </a:solidFill>
                <a:latin typeface="Calibri" pitchFamily="34" charset="0"/>
                <a:ea typeface="Calibri" pitchFamily="34" charset="-122"/>
                <a:cs typeface="Calibri" pitchFamily="34" charset="-120"/>
              </a:rPr>
              <a:t>Code écrit en local sur une branche dédiée</a:t>
            </a:r>
            <a:endParaRPr lang="en-US" sz="1050" dirty="0"/>
          </a:p>
        </p:txBody>
      </p:sp>
      <p:sp>
        <p:nvSpPr>
          <p:cNvPr id="9" name="Text 7"/>
          <p:cNvSpPr/>
          <p:nvPr/>
        </p:nvSpPr>
        <p:spPr>
          <a:xfrm>
            <a:off x="2468880" y="2880360"/>
            <a:ext cx="274320" cy="457200"/>
          </a:xfrm>
          <a:prstGeom prst="rect">
            <a:avLst/>
          </a:prstGeom>
          <a:noFill/>
          <a:ln/>
        </p:spPr>
        <p:txBody>
          <a:bodyPr wrap="square" lIns="0" tIns="0" rIns="0" bIns="0" rtlCol="0" anchor="ctr"/>
          <a:lstStyle/>
          <a:p>
            <a:pPr algn="ctr" indent="0" marL="0">
              <a:buNone/>
            </a:pPr>
            <a:r>
              <a:rPr lang="en-US" sz="2000" b="1" dirty="0">
                <a:solidFill>
                  <a:srgbClr val="C3612D"/>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2743200" y="2286000"/>
            <a:ext cx="2057400" cy="2011680"/>
          </a:xfrm>
          <a:prstGeom prst="roundRect">
            <a:avLst>
              <a:gd name="adj" fmla="val 2727"/>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11" name="Shape 9"/>
          <p:cNvSpPr/>
          <p:nvPr/>
        </p:nvSpPr>
        <p:spPr>
          <a:xfrm>
            <a:off x="3488436" y="2468880"/>
            <a:ext cx="566928" cy="566928"/>
          </a:xfrm>
          <a:prstGeom prst="ellipse">
            <a:avLst/>
          </a:prstGeom>
          <a:solidFill>
            <a:srgbClr val="1A3C29"/>
          </a:solidFill>
          <a:ln w="12700">
            <a:solidFill>
              <a:srgbClr val="1A3C29"/>
            </a:solidFill>
            <a:prstDash val="solid"/>
          </a:ln>
        </p:spPr>
      </p:sp>
      <p:sp>
        <p:nvSpPr>
          <p:cNvPr id="12" name="Text 10"/>
          <p:cNvSpPr/>
          <p:nvPr/>
        </p:nvSpPr>
        <p:spPr>
          <a:xfrm>
            <a:off x="3488436" y="246888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2834640" y="3154680"/>
            <a:ext cx="1874520" cy="411480"/>
          </a:xfrm>
          <a:prstGeom prst="rect">
            <a:avLst/>
          </a:prstGeom>
          <a:noFill/>
          <a:ln/>
        </p:spPr>
        <p:txBody>
          <a:bodyPr wrap="square" lIns="0" tIns="0" rIns="0" bIns="0" rtlCol="0" anchor="ctr"/>
          <a:lstStyle/>
          <a:p>
            <a:pPr algn="ctr" indent="0" marL="0">
              <a:buNone/>
            </a:pPr>
            <a:r>
              <a:rPr lang="en-US" sz="1300" b="1" dirty="0">
                <a:solidFill>
                  <a:srgbClr val="1A3C29"/>
                </a:solidFill>
                <a:latin typeface="Calibri" pitchFamily="34" charset="0"/>
                <a:ea typeface="Calibri" pitchFamily="34" charset="-122"/>
                <a:cs typeface="Calibri" pitchFamily="34" charset="-120"/>
              </a:rPr>
              <a:t>Push &amp; Pull Request</a:t>
            </a:r>
            <a:endParaRPr lang="en-US" sz="1300" dirty="0"/>
          </a:p>
        </p:txBody>
      </p:sp>
      <p:sp>
        <p:nvSpPr>
          <p:cNvPr id="14" name="Text 12"/>
          <p:cNvSpPr/>
          <p:nvPr/>
        </p:nvSpPr>
        <p:spPr>
          <a:xfrm>
            <a:off x="2852928" y="3584448"/>
            <a:ext cx="1828800" cy="640080"/>
          </a:xfrm>
          <a:prstGeom prst="rect">
            <a:avLst/>
          </a:prstGeom>
          <a:noFill/>
          <a:ln/>
        </p:spPr>
        <p:txBody>
          <a:bodyPr wrap="square" lIns="0" tIns="0" rIns="0" bIns="0" rtlCol="0" anchor="ctr"/>
          <a:lstStyle/>
          <a:p>
            <a:pPr algn="ctr" indent="0" marL="0">
              <a:buNone/>
            </a:pPr>
            <a:r>
              <a:rPr lang="en-US" sz="1050" dirty="0">
                <a:solidFill>
                  <a:srgbClr val="5F5F5F"/>
                </a:solidFill>
                <a:latin typeface="Calibri" pitchFamily="34" charset="0"/>
                <a:ea typeface="Calibri" pitchFamily="34" charset="-122"/>
                <a:cs typeface="Calibri" pitchFamily="34" charset="-120"/>
              </a:rPr>
              <a:t>Envoi sur GitHub et demande de fusion</a:t>
            </a:r>
            <a:endParaRPr lang="en-US" sz="1050" dirty="0"/>
          </a:p>
        </p:txBody>
      </p:sp>
      <p:sp>
        <p:nvSpPr>
          <p:cNvPr id="15" name="Text 13"/>
          <p:cNvSpPr/>
          <p:nvPr/>
        </p:nvSpPr>
        <p:spPr>
          <a:xfrm>
            <a:off x="4800600" y="2880360"/>
            <a:ext cx="274320" cy="457200"/>
          </a:xfrm>
          <a:prstGeom prst="rect">
            <a:avLst/>
          </a:prstGeom>
          <a:noFill/>
          <a:ln/>
        </p:spPr>
        <p:txBody>
          <a:bodyPr wrap="square" lIns="0" tIns="0" rIns="0" bIns="0" rtlCol="0" anchor="ctr"/>
          <a:lstStyle/>
          <a:p>
            <a:pPr algn="ctr" indent="0" marL="0">
              <a:buNone/>
            </a:pPr>
            <a:r>
              <a:rPr lang="en-US" sz="2000" b="1" dirty="0">
                <a:solidFill>
                  <a:srgbClr val="C3612D"/>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5074920" y="2286000"/>
            <a:ext cx="2057400" cy="2011680"/>
          </a:xfrm>
          <a:prstGeom prst="roundRect">
            <a:avLst>
              <a:gd name="adj" fmla="val 2727"/>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17" name="Shape 15"/>
          <p:cNvSpPr/>
          <p:nvPr/>
        </p:nvSpPr>
        <p:spPr>
          <a:xfrm>
            <a:off x="5820156" y="2468880"/>
            <a:ext cx="566928" cy="566928"/>
          </a:xfrm>
          <a:prstGeom prst="ellipse">
            <a:avLst/>
          </a:prstGeom>
          <a:solidFill>
            <a:srgbClr val="1A3C29"/>
          </a:solidFill>
          <a:ln w="12700">
            <a:solidFill>
              <a:srgbClr val="1A3C29"/>
            </a:solidFill>
            <a:prstDash val="solid"/>
          </a:ln>
        </p:spPr>
      </p:sp>
      <p:sp>
        <p:nvSpPr>
          <p:cNvPr id="18" name="Text 16"/>
          <p:cNvSpPr/>
          <p:nvPr/>
        </p:nvSpPr>
        <p:spPr>
          <a:xfrm>
            <a:off x="5820156" y="246888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9" name="Text 17"/>
          <p:cNvSpPr/>
          <p:nvPr/>
        </p:nvSpPr>
        <p:spPr>
          <a:xfrm>
            <a:off x="5166360" y="3154680"/>
            <a:ext cx="1874520" cy="411480"/>
          </a:xfrm>
          <a:prstGeom prst="rect">
            <a:avLst/>
          </a:prstGeom>
          <a:noFill/>
          <a:ln/>
        </p:spPr>
        <p:txBody>
          <a:bodyPr wrap="square" lIns="0" tIns="0" rIns="0" bIns="0" rtlCol="0" anchor="ctr"/>
          <a:lstStyle/>
          <a:p>
            <a:pPr algn="ctr" indent="0" marL="0">
              <a:buNone/>
            </a:pPr>
            <a:r>
              <a:rPr lang="en-US" sz="1300" b="1" dirty="0">
                <a:solidFill>
                  <a:srgbClr val="1A3C29"/>
                </a:solidFill>
                <a:latin typeface="Calibri" pitchFamily="34" charset="0"/>
                <a:ea typeface="Calibri" pitchFamily="34" charset="-122"/>
                <a:cs typeface="Calibri" pitchFamily="34" charset="-120"/>
              </a:rPr>
              <a:t>Intégration continue</a:t>
            </a:r>
            <a:endParaRPr lang="en-US" sz="1300" dirty="0"/>
          </a:p>
        </p:txBody>
      </p:sp>
      <p:sp>
        <p:nvSpPr>
          <p:cNvPr id="20" name="Text 18"/>
          <p:cNvSpPr/>
          <p:nvPr/>
        </p:nvSpPr>
        <p:spPr>
          <a:xfrm>
            <a:off x="5184648" y="3584448"/>
            <a:ext cx="1828800" cy="640080"/>
          </a:xfrm>
          <a:prstGeom prst="rect">
            <a:avLst/>
          </a:prstGeom>
          <a:noFill/>
          <a:ln/>
        </p:spPr>
        <p:txBody>
          <a:bodyPr wrap="square" lIns="0" tIns="0" rIns="0" bIns="0" rtlCol="0" anchor="ctr"/>
          <a:lstStyle/>
          <a:p>
            <a:pPr algn="ctr" indent="0" marL="0">
              <a:buNone/>
            </a:pPr>
            <a:r>
              <a:rPr lang="en-US" sz="1050" dirty="0">
                <a:solidFill>
                  <a:srgbClr val="5F5F5F"/>
                </a:solidFill>
                <a:latin typeface="Calibri" pitchFamily="34" charset="0"/>
                <a:ea typeface="Calibri" pitchFamily="34" charset="-122"/>
                <a:cs typeface="Calibri" pitchFamily="34" charset="-120"/>
              </a:rPr>
              <a:t>Analyse de code et 43 tests automatiques</a:t>
            </a:r>
            <a:endParaRPr lang="en-US" sz="1050" dirty="0"/>
          </a:p>
        </p:txBody>
      </p:sp>
      <p:sp>
        <p:nvSpPr>
          <p:cNvPr id="21" name="Text 19"/>
          <p:cNvSpPr/>
          <p:nvPr/>
        </p:nvSpPr>
        <p:spPr>
          <a:xfrm>
            <a:off x="7132320" y="2880360"/>
            <a:ext cx="274320" cy="457200"/>
          </a:xfrm>
          <a:prstGeom prst="rect">
            <a:avLst/>
          </a:prstGeom>
          <a:noFill/>
          <a:ln/>
        </p:spPr>
        <p:txBody>
          <a:bodyPr wrap="square" lIns="0" tIns="0" rIns="0" bIns="0" rtlCol="0" anchor="ctr"/>
          <a:lstStyle/>
          <a:p>
            <a:pPr algn="ctr" indent="0" marL="0">
              <a:buNone/>
            </a:pPr>
            <a:r>
              <a:rPr lang="en-US" sz="2000" b="1" dirty="0">
                <a:solidFill>
                  <a:srgbClr val="C3612D"/>
                </a:solidFill>
                <a:latin typeface="Calibri" pitchFamily="34" charset="0"/>
                <a:ea typeface="Calibri" pitchFamily="34" charset="-122"/>
                <a:cs typeface="Calibri" pitchFamily="34" charset="-120"/>
              </a:rPr>
              <a:t>→</a:t>
            </a:r>
            <a:endParaRPr lang="en-US" sz="2000" dirty="0"/>
          </a:p>
        </p:txBody>
      </p:sp>
      <p:sp>
        <p:nvSpPr>
          <p:cNvPr id="22" name="Shape 20"/>
          <p:cNvSpPr/>
          <p:nvPr/>
        </p:nvSpPr>
        <p:spPr>
          <a:xfrm>
            <a:off x="7406640" y="2286000"/>
            <a:ext cx="2057400" cy="2011680"/>
          </a:xfrm>
          <a:prstGeom prst="roundRect">
            <a:avLst>
              <a:gd name="adj" fmla="val 2727"/>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23" name="Shape 21"/>
          <p:cNvSpPr/>
          <p:nvPr/>
        </p:nvSpPr>
        <p:spPr>
          <a:xfrm>
            <a:off x="8151876" y="2468880"/>
            <a:ext cx="566928" cy="566928"/>
          </a:xfrm>
          <a:prstGeom prst="ellipse">
            <a:avLst/>
          </a:prstGeom>
          <a:solidFill>
            <a:srgbClr val="1A3C29"/>
          </a:solidFill>
          <a:ln w="12700">
            <a:solidFill>
              <a:srgbClr val="1A3C29"/>
            </a:solidFill>
            <a:prstDash val="solid"/>
          </a:ln>
        </p:spPr>
      </p:sp>
      <p:sp>
        <p:nvSpPr>
          <p:cNvPr id="24" name="Text 22"/>
          <p:cNvSpPr/>
          <p:nvPr/>
        </p:nvSpPr>
        <p:spPr>
          <a:xfrm>
            <a:off x="8151876" y="246888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5" name="Text 23"/>
          <p:cNvSpPr/>
          <p:nvPr/>
        </p:nvSpPr>
        <p:spPr>
          <a:xfrm>
            <a:off x="7498080" y="3154680"/>
            <a:ext cx="1874520" cy="411480"/>
          </a:xfrm>
          <a:prstGeom prst="rect">
            <a:avLst/>
          </a:prstGeom>
          <a:noFill/>
          <a:ln/>
        </p:spPr>
        <p:txBody>
          <a:bodyPr wrap="square" lIns="0" tIns="0" rIns="0" bIns="0" rtlCol="0" anchor="ctr"/>
          <a:lstStyle/>
          <a:p>
            <a:pPr algn="ctr" indent="0" marL="0">
              <a:buNone/>
            </a:pPr>
            <a:r>
              <a:rPr lang="en-US" sz="1300" b="1" dirty="0">
                <a:solidFill>
                  <a:srgbClr val="1A3C29"/>
                </a:solidFill>
                <a:latin typeface="Calibri" pitchFamily="34" charset="0"/>
                <a:ea typeface="Calibri" pitchFamily="34" charset="-122"/>
                <a:cs typeface="Calibri" pitchFamily="34" charset="-120"/>
              </a:rPr>
              <a:t>Fusion validée</a:t>
            </a:r>
            <a:endParaRPr lang="en-US" sz="1300" dirty="0"/>
          </a:p>
        </p:txBody>
      </p:sp>
      <p:sp>
        <p:nvSpPr>
          <p:cNvPr id="26" name="Text 24"/>
          <p:cNvSpPr/>
          <p:nvPr/>
        </p:nvSpPr>
        <p:spPr>
          <a:xfrm>
            <a:off x="7516368" y="3584448"/>
            <a:ext cx="1828800" cy="640080"/>
          </a:xfrm>
          <a:prstGeom prst="rect">
            <a:avLst/>
          </a:prstGeom>
          <a:noFill/>
          <a:ln/>
        </p:spPr>
        <p:txBody>
          <a:bodyPr wrap="square" lIns="0" tIns="0" rIns="0" bIns="0" rtlCol="0" anchor="ctr"/>
          <a:lstStyle/>
          <a:p>
            <a:pPr algn="ctr" indent="0" marL="0">
              <a:buNone/>
            </a:pPr>
            <a:r>
              <a:rPr lang="en-US" sz="1050" dirty="0">
                <a:solidFill>
                  <a:srgbClr val="5F5F5F"/>
                </a:solidFill>
                <a:latin typeface="Calibri" pitchFamily="34" charset="0"/>
                <a:ea typeface="Calibri" pitchFamily="34" charset="-122"/>
                <a:cs typeface="Calibri" pitchFamily="34" charset="-120"/>
              </a:rPr>
              <a:t>Vérifications au vert : intégration autorisée</a:t>
            </a:r>
            <a:endParaRPr lang="en-US" sz="1050" dirty="0"/>
          </a:p>
        </p:txBody>
      </p:sp>
      <p:sp>
        <p:nvSpPr>
          <p:cNvPr id="27" name="Text 25"/>
          <p:cNvSpPr/>
          <p:nvPr/>
        </p:nvSpPr>
        <p:spPr>
          <a:xfrm>
            <a:off x="9464040" y="2880360"/>
            <a:ext cx="274320" cy="457200"/>
          </a:xfrm>
          <a:prstGeom prst="rect">
            <a:avLst/>
          </a:prstGeom>
          <a:noFill/>
          <a:ln/>
        </p:spPr>
        <p:txBody>
          <a:bodyPr wrap="square" lIns="0" tIns="0" rIns="0" bIns="0" rtlCol="0" anchor="ctr"/>
          <a:lstStyle/>
          <a:p>
            <a:pPr algn="ctr" indent="0" marL="0">
              <a:buNone/>
            </a:pPr>
            <a:r>
              <a:rPr lang="en-US" sz="2000" b="1" dirty="0">
                <a:solidFill>
                  <a:srgbClr val="C3612D"/>
                </a:solidFill>
                <a:latin typeface="Calibri" pitchFamily="34" charset="0"/>
                <a:ea typeface="Calibri" pitchFamily="34" charset="-122"/>
                <a:cs typeface="Calibri" pitchFamily="34" charset="-120"/>
              </a:rPr>
              <a:t>→</a:t>
            </a:r>
            <a:endParaRPr lang="en-US" sz="2000" dirty="0"/>
          </a:p>
        </p:txBody>
      </p:sp>
      <p:sp>
        <p:nvSpPr>
          <p:cNvPr id="28" name="Shape 26"/>
          <p:cNvSpPr/>
          <p:nvPr/>
        </p:nvSpPr>
        <p:spPr>
          <a:xfrm>
            <a:off x="9738360" y="2286000"/>
            <a:ext cx="2057400" cy="2011680"/>
          </a:xfrm>
          <a:prstGeom prst="roundRect">
            <a:avLst>
              <a:gd name="adj" fmla="val 2727"/>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29" name="Shape 27"/>
          <p:cNvSpPr/>
          <p:nvPr/>
        </p:nvSpPr>
        <p:spPr>
          <a:xfrm>
            <a:off x="10483596" y="2468880"/>
            <a:ext cx="566928" cy="566928"/>
          </a:xfrm>
          <a:prstGeom prst="ellipse">
            <a:avLst/>
          </a:prstGeom>
          <a:solidFill>
            <a:srgbClr val="C3612D"/>
          </a:solidFill>
          <a:ln w="12700">
            <a:solidFill>
              <a:srgbClr val="C3612D"/>
            </a:solidFill>
            <a:prstDash val="solid"/>
          </a:ln>
        </p:spPr>
      </p:sp>
      <p:sp>
        <p:nvSpPr>
          <p:cNvPr id="30" name="Text 28"/>
          <p:cNvSpPr/>
          <p:nvPr/>
        </p:nvSpPr>
        <p:spPr>
          <a:xfrm>
            <a:off x="10483596" y="246888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31" name="Text 29"/>
          <p:cNvSpPr/>
          <p:nvPr/>
        </p:nvSpPr>
        <p:spPr>
          <a:xfrm>
            <a:off x="9829800" y="3154680"/>
            <a:ext cx="1874520" cy="411480"/>
          </a:xfrm>
          <a:prstGeom prst="rect">
            <a:avLst/>
          </a:prstGeom>
          <a:noFill/>
          <a:ln/>
        </p:spPr>
        <p:txBody>
          <a:bodyPr wrap="square" lIns="0" tIns="0" rIns="0" bIns="0" rtlCol="0" anchor="ctr"/>
          <a:lstStyle/>
          <a:p>
            <a:pPr algn="ctr" indent="0" marL="0">
              <a:buNone/>
            </a:pPr>
            <a:r>
              <a:rPr lang="en-US" sz="1300" b="1" dirty="0">
                <a:solidFill>
                  <a:srgbClr val="1A3C29"/>
                </a:solidFill>
                <a:latin typeface="Calibri" pitchFamily="34" charset="0"/>
                <a:ea typeface="Calibri" pitchFamily="34" charset="-122"/>
                <a:cs typeface="Calibri" pitchFamily="34" charset="-120"/>
              </a:rPr>
              <a:t>Déploiement Docker</a:t>
            </a:r>
            <a:endParaRPr lang="en-US" sz="1300" dirty="0"/>
          </a:p>
        </p:txBody>
      </p:sp>
      <p:sp>
        <p:nvSpPr>
          <p:cNvPr id="32" name="Text 30"/>
          <p:cNvSpPr/>
          <p:nvPr/>
        </p:nvSpPr>
        <p:spPr>
          <a:xfrm>
            <a:off x="9848088" y="3584448"/>
            <a:ext cx="1828800" cy="640080"/>
          </a:xfrm>
          <a:prstGeom prst="rect">
            <a:avLst/>
          </a:prstGeom>
          <a:noFill/>
          <a:ln/>
        </p:spPr>
        <p:txBody>
          <a:bodyPr wrap="square" lIns="0" tIns="0" rIns="0" bIns="0" rtlCol="0" anchor="ctr"/>
          <a:lstStyle/>
          <a:p>
            <a:pPr algn="ctr" indent="0" marL="0">
              <a:buNone/>
            </a:pPr>
            <a:r>
              <a:rPr lang="en-US" sz="1050" dirty="0">
                <a:solidFill>
                  <a:srgbClr val="5F5F5F"/>
                </a:solidFill>
                <a:latin typeface="Calibri" pitchFamily="34" charset="0"/>
                <a:ea typeface="Calibri" pitchFamily="34" charset="-122"/>
                <a:cs typeface="Calibri" pitchFamily="34" charset="-120"/>
              </a:rPr>
              <a:t>3 conteneurs démarrés, base initialisée</a:t>
            </a:r>
            <a:endParaRPr lang="en-US" sz="1050" dirty="0"/>
          </a:p>
        </p:txBody>
      </p:sp>
      <p:sp>
        <p:nvSpPr>
          <p:cNvPr id="33" name="Shape 31"/>
          <p:cNvSpPr/>
          <p:nvPr/>
        </p:nvSpPr>
        <p:spPr>
          <a:xfrm>
            <a:off x="411480" y="4800600"/>
            <a:ext cx="11384280" cy="914400"/>
          </a:xfrm>
          <a:prstGeom prst="roundRect">
            <a:avLst>
              <a:gd name="adj" fmla="val 6000"/>
            </a:avLst>
          </a:prstGeom>
          <a:solidFill>
            <a:srgbClr val="1A3C29"/>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34" name="Text 32"/>
          <p:cNvSpPr/>
          <p:nvPr/>
        </p:nvSpPr>
        <p:spPr>
          <a:xfrm>
            <a:off x="685800" y="4983480"/>
            <a:ext cx="10835640" cy="548640"/>
          </a:xfrm>
          <a:prstGeom prst="rect">
            <a:avLst/>
          </a:prstGeom>
          <a:noFill/>
          <a:ln/>
        </p:spPr>
        <p:txBody>
          <a:bodyPr wrap="square" lIns="0" tIns="0" rIns="0" bIns="0" rtlCol="0" anchor="ctr"/>
          <a:lstStyle/>
          <a:p>
            <a:pPr algn="ctr" indent="0" marL="0">
              <a:buNone/>
            </a:pPr>
            <a:r>
              <a:rPr lang="en-US" sz="1400" dirty="0">
                <a:solidFill>
                  <a:srgbClr val="D9D2C7"/>
                </a:solidFill>
                <a:latin typeface="Calibri" pitchFamily="34" charset="0"/>
                <a:ea typeface="Calibri" pitchFamily="34" charset="-122"/>
                <a:cs typeface="Calibri" pitchFamily="34" charset="-120"/>
              </a:rPr>
              <a:t>Si un test échoue, la fusion est bloquée : le développeur corrige et le cycle recommence.</a:t>
            </a:r>
            <a:endParaRPr lang="en-US" sz="1400" dirty="0"/>
          </a:p>
        </p:txBody>
      </p:sp>
      <p:sp>
        <p:nvSpPr>
          <p:cNvPr id="35" name="Shape 33"/>
          <p:cNvSpPr/>
          <p:nvPr/>
        </p:nvSpPr>
        <p:spPr>
          <a:xfrm>
            <a:off x="0" y="6355080"/>
            <a:ext cx="12188952" cy="502920"/>
          </a:xfrm>
          <a:prstGeom prst="rect">
            <a:avLst/>
          </a:prstGeom>
          <a:solidFill>
            <a:srgbClr val="1A3C29"/>
          </a:solidFill>
          <a:ln w="12700">
            <a:solidFill>
              <a:srgbClr val="1A3C29"/>
            </a:solidFill>
            <a:prstDash val="solid"/>
          </a:ln>
        </p:spPr>
      </p:sp>
      <p:sp>
        <p:nvSpPr>
          <p:cNvPr id="36" name="Text 34"/>
          <p:cNvSpPr/>
          <p:nvPr/>
        </p:nvSpPr>
        <p:spPr>
          <a:xfrm>
            <a:off x="502920" y="6382512"/>
            <a:ext cx="4572000" cy="237744"/>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RENOIR&amp;ALINE</a:t>
            </a:r>
            <a:endParaRPr lang="en-US" sz="1000" dirty="0"/>
          </a:p>
        </p:txBody>
      </p:sp>
      <p:sp>
        <p:nvSpPr>
          <p:cNvPr id="37" name="Text 35"/>
          <p:cNvSpPr/>
          <p:nvPr/>
        </p:nvSpPr>
        <p:spPr>
          <a:xfrm>
            <a:off x="502920" y="6601968"/>
            <a:ext cx="4572000" cy="182880"/>
          </a:xfrm>
          <a:prstGeom prst="rect">
            <a:avLst/>
          </a:prstGeom>
          <a:noFill/>
          <a:ln/>
        </p:spPr>
        <p:txBody>
          <a:bodyPr wrap="square" lIns="0" tIns="0" rIns="0" bIns="0" rtlCol="0" anchor="ctr"/>
          <a:lstStyle/>
          <a:p>
            <a:pPr indent="0" marL="0">
              <a:buNone/>
            </a:pPr>
            <a:r>
              <a:rPr lang="en-US" sz="700" spc="200" kern="0" dirty="0">
                <a:solidFill>
                  <a:srgbClr val="8AA595"/>
                </a:solidFill>
                <a:latin typeface="Calibri" pitchFamily="34" charset="0"/>
                <a:ea typeface="Calibri" pitchFamily="34" charset="-122"/>
                <a:cs typeface="Calibri" pitchFamily="34" charset="-120"/>
              </a:rPr>
              <a:t>CONSTRUCTEUR DE SITE WEB</a:t>
            </a:r>
            <a:endParaRPr lang="en-US" sz="700" dirty="0"/>
          </a:p>
        </p:txBody>
      </p:sp>
      <p:sp>
        <p:nvSpPr>
          <p:cNvPr id="38" name="Text 36"/>
          <p:cNvSpPr/>
          <p:nvPr/>
        </p:nvSpPr>
        <p:spPr>
          <a:xfrm>
            <a:off x="10241280" y="6419088"/>
            <a:ext cx="1417320" cy="365760"/>
          </a:xfrm>
          <a:prstGeom prst="rect">
            <a:avLst/>
          </a:prstGeom>
          <a:noFill/>
          <a:ln/>
        </p:spPr>
        <p:txBody>
          <a:bodyPr wrap="square" lIns="0" tIns="0" rIns="0" bIns="0" rtlCol="0" anchor="ctr"/>
          <a:lstStyle/>
          <a:p>
            <a:pPr algn="r" indent="0" marL="0">
              <a:buNone/>
            </a:pPr>
            <a:r>
              <a:rPr lang="en-US" sz="1000" b="1" dirty="0">
                <a:solidFill>
                  <a:srgbClr val="FFFFFF"/>
                </a:solidFill>
                <a:latin typeface="Calibri" pitchFamily="34" charset="0"/>
                <a:ea typeface="Calibri" pitchFamily="34" charset="-122"/>
                <a:cs typeface="Calibri" pitchFamily="34" charset="-120"/>
              </a:rPr>
              <a:t>Page 7/21</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1ECE6"/>
        </a:solidFill>
      </p:bgPr>
    </p:bg>
    <p:spTree>
      <p:nvGrpSpPr>
        <p:cNvPr id="1" name=""/>
        <p:cNvGrpSpPr/>
        <p:nvPr/>
      </p:nvGrpSpPr>
      <p:grpSpPr>
        <a:xfrm>
          <a:off x="0" y="0"/>
          <a:ext cx="0" cy="0"/>
          <a:chOff x="0" y="0"/>
          <a:chExt cx="0" cy="0"/>
        </a:xfrm>
      </p:grpSpPr>
      <p:sp>
        <p:nvSpPr>
          <p:cNvPr id="2" name="Text 0"/>
          <p:cNvSpPr/>
          <p:nvPr/>
        </p:nvSpPr>
        <p:spPr>
          <a:xfrm>
            <a:off x="640080" y="384048"/>
            <a:ext cx="10881360" cy="292608"/>
          </a:xfrm>
          <a:prstGeom prst="rect">
            <a:avLst/>
          </a:prstGeom>
          <a:noFill/>
          <a:ln/>
        </p:spPr>
        <p:txBody>
          <a:bodyPr wrap="square" lIns="0" tIns="0" rIns="0" bIns="0" rtlCol="0" anchor="ctr"/>
          <a:lstStyle/>
          <a:p>
            <a:pPr indent="0" marL="0">
              <a:buNone/>
            </a:pPr>
            <a:r>
              <a:rPr lang="en-US" sz="1300" b="1" dirty="0">
                <a:solidFill>
                  <a:srgbClr val="C3612D"/>
                </a:solidFill>
                <a:latin typeface="Calibri" pitchFamily="34" charset="0"/>
                <a:ea typeface="Calibri" pitchFamily="34" charset="-122"/>
                <a:cs typeface="Calibri" pitchFamily="34" charset="-120"/>
              </a:rPr>
              <a:t>Processus de déploiement</a:t>
            </a:r>
            <a:endParaRPr lang="en-US" sz="1300" dirty="0"/>
          </a:p>
        </p:txBody>
      </p:sp>
      <p:sp>
        <p:nvSpPr>
          <p:cNvPr id="3" name="Text 1"/>
          <p:cNvSpPr/>
          <p:nvPr/>
        </p:nvSpPr>
        <p:spPr>
          <a:xfrm>
            <a:off x="640080" y="713232"/>
            <a:ext cx="10881360" cy="822960"/>
          </a:xfrm>
          <a:prstGeom prst="rect">
            <a:avLst/>
          </a:prstGeom>
          <a:noFill/>
          <a:ln/>
        </p:spPr>
        <p:txBody>
          <a:bodyPr wrap="square" lIns="0" tIns="0" rIns="0" bIns="0" rtlCol="0" anchor="ctr"/>
          <a:lstStyle/>
          <a:p>
            <a:pPr indent="0" marL="0">
              <a:buNone/>
            </a:pPr>
            <a:r>
              <a:rPr lang="en-US" sz="3400" b="1" dirty="0">
                <a:solidFill>
                  <a:srgbClr val="1A3C29"/>
                </a:solidFill>
                <a:latin typeface="Calibri" pitchFamily="34" charset="0"/>
                <a:ea typeface="Calibri" pitchFamily="34" charset="-122"/>
                <a:cs typeface="Calibri" pitchFamily="34" charset="-120"/>
              </a:rPr>
              <a:t>Étape 1 — Développement</a:t>
            </a:r>
            <a:endParaRPr lang="en-US" sz="3400" dirty="0"/>
          </a:p>
        </p:txBody>
      </p:sp>
      <p:sp>
        <p:nvSpPr>
          <p:cNvPr id="4" name="Shape 2"/>
          <p:cNvSpPr/>
          <p:nvPr/>
        </p:nvSpPr>
        <p:spPr>
          <a:xfrm>
            <a:off x="914400" y="2743200"/>
            <a:ext cx="2926080" cy="1371600"/>
          </a:xfrm>
          <a:prstGeom prst="roundRect">
            <a:avLst>
              <a:gd name="adj" fmla="val 5333"/>
            </a:avLst>
          </a:prstGeom>
          <a:solidFill>
            <a:srgbClr val="FFFFFF"/>
          </a:solidFill>
          <a:ln w="25400">
            <a:solidFill>
              <a:srgbClr val="1A3C29"/>
            </a:solidFill>
            <a:prstDash val="solid"/>
          </a:ln>
          <a:effectLst>
            <a:outerShdw sx="100000" sy="100000" kx="0" ky="0" algn="bl" rotWithShape="0" blurRad="88900" dist="38100" dir="5400000">
              <a:srgbClr val="000000">
                <a:alpha val="12000"/>
              </a:srgbClr>
            </a:outerShdw>
          </a:effectLst>
        </p:spPr>
      </p:sp>
      <p:sp>
        <p:nvSpPr>
          <p:cNvPr id="5" name="Text 3"/>
          <p:cNvSpPr/>
          <p:nvPr/>
        </p:nvSpPr>
        <p:spPr>
          <a:xfrm>
            <a:off x="1005840" y="2944368"/>
            <a:ext cx="2743200" cy="384048"/>
          </a:xfrm>
          <a:prstGeom prst="rect">
            <a:avLst/>
          </a:prstGeom>
          <a:noFill/>
          <a:ln/>
        </p:spPr>
        <p:txBody>
          <a:bodyPr wrap="square" lIns="0" tIns="0" rIns="0" bIns="0" rtlCol="0" anchor="ctr"/>
          <a:lstStyle/>
          <a:p>
            <a:pPr algn="ctr" indent="0" marL="0">
              <a:buNone/>
            </a:pPr>
            <a:r>
              <a:rPr lang="en-US" sz="1500" b="1" dirty="0">
                <a:solidFill>
                  <a:srgbClr val="1A3C29"/>
                </a:solidFill>
                <a:latin typeface="Calibri" pitchFamily="34" charset="0"/>
                <a:ea typeface="Calibri" pitchFamily="34" charset="-122"/>
                <a:cs typeface="Calibri" pitchFamily="34" charset="-120"/>
              </a:rPr>
              <a:t>Code source</a:t>
            </a:r>
            <a:endParaRPr lang="en-US" sz="1500" dirty="0"/>
          </a:p>
        </p:txBody>
      </p:sp>
      <p:sp>
        <p:nvSpPr>
          <p:cNvPr id="6" name="Text 4"/>
          <p:cNvSpPr/>
          <p:nvPr/>
        </p:nvSpPr>
        <p:spPr>
          <a:xfrm>
            <a:off x="1024128" y="3364992"/>
            <a:ext cx="2706624" cy="548640"/>
          </a:xfrm>
          <a:prstGeom prst="rect">
            <a:avLst/>
          </a:prstGeom>
          <a:noFill/>
          <a:ln/>
        </p:spPr>
        <p:txBody>
          <a:bodyPr wrap="square" lIns="0" tIns="0" rIns="0" bIns="0" rtlCol="0" anchor="ctr"/>
          <a:lstStyle/>
          <a:p>
            <a:pPr algn="ctr" indent="0" marL="0">
              <a:buNone/>
            </a:pPr>
            <a:r>
              <a:rPr lang="en-US" sz="1150" dirty="0">
                <a:solidFill>
                  <a:srgbClr val="5F5F5F"/>
                </a:solidFill>
                <a:latin typeface="Calibri" pitchFamily="34" charset="0"/>
                <a:ea typeface="Calibri" pitchFamily="34" charset="-122"/>
                <a:cs typeface="Calibri" pitchFamily="34" charset="-120"/>
              </a:rPr>
              <a:t>Développement en local</a:t>
            </a:r>
            <a:endParaRPr lang="en-US" sz="1150" dirty="0"/>
          </a:p>
        </p:txBody>
      </p:sp>
      <p:sp>
        <p:nvSpPr>
          <p:cNvPr id="7" name="Text 5"/>
          <p:cNvSpPr/>
          <p:nvPr/>
        </p:nvSpPr>
        <p:spPr>
          <a:xfrm>
            <a:off x="3886200" y="3200400"/>
            <a:ext cx="640080" cy="457200"/>
          </a:xfrm>
          <a:prstGeom prst="rect">
            <a:avLst/>
          </a:prstGeom>
          <a:noFill/>
          <a:ln/>
        </p:spPr>
        <p:txBody>
          <a:bodyPr wrap="square" lIns="0" tIns="0" rIns="0" bIns="0" rtlCol="0" anchor="ctr"/>
          <a:lstStyle/>
          <a:p>
            <a:pPr algn="ctr" indent="0" marL="0">
              <a:buNone/>
            </a:pPr>
            <a:r>
              <a:rPr lang="en-US" sz="2400" b="1" dirty="0">
                <a:solidFill>
                  <a:srgbClr val="C3612D"/>
                </a:solidFill>
                <a:latin typeface="Calibri" pitchFamily="34" charset="0"/>
                <a:ea typeface="Calibri" pitchFamily="34" charset="-122"/>
                <a:cs typeface="Calibri" pitchFamily="34" charset="-120"/>
              </a:rPr>
              <a:t>→</a:t>
            </a:r>
            <a:endParaRPr lang="en-US" sz="2400" dirty="0"/>
          </a:p>
        </p:txBody>
      </p:sp>
      <p:sp>
        <p:nvSpPr>
          <p:cNvPr id="8" name="Shape 6"/>
          <p:cNvSpPr/>
          <p:nvPr/>
        </p:nvSpPr>
        <p:spPr>
          <a:xfrm>
            <a:off x="4617720" y="2743200"/>
            <a:ext cx="2926080" cy="1371600"/>
          </a:xfrm>
          <a:prstGeom prst="roundRect">
            <a:avLst>
              <a:gd name="adj" fmla="val 5333"/>
            </a:avLst>
          </a:prstGeom>
          <a:solidFill>
            <a:srgbClr val="FFFFFF"/>
          </a:solidFill>
          <a:ln w="25400">
            <a:solidFill>
              <a:srgbClr val="1A3C29"/>
            </a:solidFill>
            <a:prstDash val="solid"/>
          </a:ln>
          <a:effectLst>
            <a:outerShdw sx="100000" sy="100000" kx="0" ky="0" algn="bl" rotWithShape="0" blurRad="88900" dist="38100" dir="5400000">
              <a:srgbClr val="000000">
                <a:alpha val="12000"/>
              </a:srgbClr>
            </a:outerShdw>
          </a:effectLst>
        </p:spPr>
      </p:sp>
      <p:sp>
        <p:nvSpPr>
          <p:cNvPr id="9" name="Text 7"/>
          <p:cNvSpPr/>
          <p:nvPr/>
        </p:nvSpPr>
        <p:spPr>
          <a:xfrm>
            <a:off x="4709160" y="2944368"/>
            <a:ext cx="2743200" cy="384048"/>
          </a:xfrm>
          <a:prstGeom prst="rect">
            <a:avLst/>
          </a:prstGeom>
          <a:noFill/>
          <a:ln/>
        </p:spPr>
        <p:txBody>
          <a:bodyPr wrap="square" lIns="0" tIns="0" rIns="0" bIns="0" rtlCol="0" anchor="ctr"/>
          <a:lstStyle/>
          <a:p>
            <a:pPr algn="ctr" indent="0" marL="0">
              <a:buNone/>
            </a:pPr>
            <a:r>
              <a:rPr lang="en-US" sz="1500" b="1" dirty="0">
                <a:solidFill>
                  <a:srgbClr val="1A3C29"/>
                </a:solidFill>
                <a:latin typeface="Calibri" pitchFamily="34" charset="0"/>
                <a:ea typeface="Calibri" pitchFamily="34" charset="-122"/>
                <a:cs typeface="Calibri" pitchFamily="34" charset="-120"/>
              </a:rPr>
              <a:t>Tests locaux</a:t>
            </a:r>
            <a:endParaRPr lang="en-US" sz="1500" dirty="0"/>
          </a:p>
        </p:txBody>
      </p:sp>
      <p:sp>
        <p:nvSpPr>
          <p:cNvPr id="10" name="Text 8"/>
          <p:cNvSpPr/>
          <p:nvPr/>
        </p:nvSpPr>
        <p:spPr>
          <a:xfrm>
            <a:off x="4727448" y="3364992"/>
            <a:ext cx="2706624" cy="548640"/>
          </a:xfrm>
          <a:prstGeom prst="rect">
            <a:avLst/>
          </a:prstGeom>
          <a:noFill/>
          <a:ln/>
        </p:spPr>
        <p:txBody>
          <a:bodyPr wrap="square" lIns="0" tIns="0" rIns="0" bIns="0" rtlCol="0" anchor="ctr"/>
          <a:lstStyle/>
          <a:p>
            <a:pPr algn="ctr" indent="0" marL="0">
              <a:buNone/>
            </a:pPr>
            <a:r>
              <a:rPr lang="en-US" sz="1150" dirty="0">
                <a:solidFill>
                  <a:srgbClr val="5F5F5F"/>
                </a:solidFill>
                <a:latin typeface="Calibri" pitchFamily="34" charset="0"/>
                <a:ea typeface="Calibri" pitchFamily="34" charset="-122"/>
                <a:cs typeface="Calibri" pitchFamily="34" charset="-120"/>
              </a:rPr>
              <a:t>Vérification avant de pousser</a:t>
            </a:r>
            <a:endParaRPr lang="en-US" sz="1150" dirty="0"/>
          </a:p>
        </p:txBody>
      </p:sp>
      <p:sp>
        <p:nvSpPr>
          <p:cNvPr id="11" name="Text 9"/>
          <p:cNvSpPr/>
          <p:nvPr/>
        </p:nvSpPr>
        <p:spPr>
          <a:xfrm>
            <a:off x="7589520" y="3200400"/>
            <a:ext cx="640080" cy="457200"/>
          </a:xfrm>
          <a:prstGeom prst="rect">
            <a:avLst/>
          </a:prstGeom>
          <a:noFill/>
          <a:ln/>
        </p:spPr>
        <p:txBody>
          <a:bodyPr wrap="square" lIns="0" tIns="0" rIns="0" bIns="0" rtlCol="0" anchor="ctr"/>
          <a:lstStyle/>
          <a:p>
            <a:pPr algn="ctr" indent="0" marL="0">
              <a:buNone/>
            </a:pPr>
            <a:r>
              <a:rPr lang="en-US" sz="2400" b="1" dirty="0">
                <a:solidFill>
                  <a:srgbClr val="C3612D"/>
                </a:solidFill>
                <a:latin typeface="Calibri" pitchFamily="34" charset="0"/>
                <a:ea typeface="Calibri" pitchFamily="34" charset="-122"/>
                <a:cs typeface="Calibri" pitchFamily="34" charset="-120"/>
              </a:rPr>
              <a:t>→</a:t>
            </a:r>
            <a:endParaRPr lang="en-US" sz="2400" dirty="0"/>
          </a:p>
        </p:txBody>
      </p:sp>
      <p:sp>
        <p:nvSpPr>
          <p:cNvPr id="12" name="Shape 10"/>
          <p:cNvSpPr/>
          <p:nvPr/>
        </p:nvSpPr>
        <p:spPr>
          <a:xfrm>
            <a:off x="8321040" y="2743200"/>
            <a:ext cx="2926080" cy="1371600"/>
          </a:xfrm>
          <a:prstGeom prst="roundRect">
            <a:avLst>
              <a:gd name="adj" fmla="val 5333"/>
            </a:avLst>
          </a:prstGeom>
          <a:solidFill>
            <a:srgbClr val="FFFFFF"/>
          </a:solidFill>
          <a:ln w="25400">
            <a:solidFill>
              <a:srgbClr val="1A3C29"/>
            </a:solidFill>
            <a:prstDash val="solid"/>
          </a:ln>
          <a:effectLst>
            <a:outerShdw sx="100000" sy="100000" kx="0" ky="0" algn="bl" rotWithShape="0" blurRad="88900" dist="38100" dir="5400000">
              <a:srgbClr val="000000">
                <a:alpha val="12000"/>
              </a:srgbClr>
            </a:outerShdw>
          </a:effectLst>
        </p:spPr>
      </p:sp>
      <p:sp>
        <p:nvSpPr>
          <p:cNvPr id="13" name="Text 11"/>
          <p:cNvSpPr/>
          <p:nvPr/>
        </p:nvSpPr>
        <p:spPr>
          <a:xfrm>
            <a:off x="8412480" y="2944368"/>
            <a:ext cx="2743200" cy="384048"/>
          </a:xfrm>
          <a:prstGeom prst="rect">
            <a:avLst/>
          </a:prstGeom>
          <a:noFill/>
          <a:ln/>
        </p:spPr>
        <p:txBody>
          <a:bodyPr wrap="square" lIns="0" tIns="0" rIns="0" bIns="0" rtlCol="0" anchor="ctr"/>
          <a:lstStyle/>
          <a:p>
            <a:pPr algn="ctr" indent="0" marL="0">
              <a:buNone/>
            </a:pPr>
            <a:r>
              <a:rPr lang="en-US" sz="1500" b="1" dirty="0">
                <a:solidFill>
                  <a:srgbClr val="1A3C29"/>
                </a:solidFill>
                <a:latin typeface="Calibri" pitchFamily="34" charset="0"/>
                <a:ea typeface="Calibri" pitchFamily="34" charset="-122"/>
                <a:cs typeface="Calibri" pitchFamily="34" charset="-120"/>
              </a:rPr>
              <a:t>Commit</a:t>
            </a:r>
            <a:endParaRPr lang="en-US" sz="1500" dirty="0"/>
          </a:p>
        </p:txBody>
      </p:sp>
      <p:sp>
        <p:nvSpPr>
          <p:cNvPr id="14" name="Text 12"/>
          <p:cNvSpPr/>
          <p:nvPr/>
        </p:nvSpPr>
        <p:spPr>
          <a:xfrm>
            <a:off x="8430768" y="3364992"/>
            <a:ext cx="2706624" cy="548640"/>
          </a:xfrm>
          <a:prstGeom prst="rect">
            <a:avLst/>
          </a:prstGeom>
          <a:noFill/>
          <a:ln/>
        </p:spPr>
        <p:txBody>
          <a:bodyPr wrap="square" lIns="0" tIns="0" rIns="0" bIns="0" rtlCol="0" anchor="ctr"/>
          <a:lstStyle/>
          <a:p>
            <a:pPr algn="ctr" indent="0" marL="0">
              <a:buNone/>
            </a:pPr>
            <a:r>
              <a:rPr lang="en-US" sz="1150" dirty="0">
                <a:solidFill>
                  <a:srgbClr val="5F5F5F"/>
                </a:solidFill>
                <a:latin typeface="Calibri" pitchFamily="34" charset="0"/>
                <a:ea typeface="Calibri" pitchFamily="34" charset="-122"/>
                <a:cs typeface="Calibri" pitchFamily="34" charset="-120"/>
              </a:rPr>
              <a:t>Sur une branche dédiée</a:t>
            </a:r>
            <a:endParaRPr lang="en-US" sz="1150" dirty="0"/>
          </a:p>
        </p:txBody>
      </p:sp>
      <p:sp>
        <p:nvSpPr>
          <p:cNvPr id="15" name="Shape 13"/>
          <p:cNvSpPr/>
          <p:nvPr/>
        </p:nvSpPr>
        <p:spPr>
          <a:xfrm>
            <a:off x="640080" y="5120640"/>
            <a:ext cx="10881360" cy="777240"/>
          </a:xfrm>
          <a:prstGeom prst="roundRect">
            <a:avLst>
              <a:gd name="adj" fmla="val 7059"/>
            </a:avLst>
          </a:prstGeom>
          <a:solidFill>
            <a:srgbClr val="1A3C29"/>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16" name="Text 14"/>
          <p:cNvSpPr/>
          <p:nvPr/>
        </p:nvSpPr>
        <p:spPr>
          <a:xfrm>
            <a:off x="914400" y="5257800"/>
            <a:ext cx="10332720" cy="502920"/>
          </a:xfrm>
          <a:prstGeom prst="rect">
            <a:avLst/>
          </a:prstGeom>
          <a:noFill/>
          <a:ln/>
        </p:spPr>
        <p:txBody>
          <a:bodyPr wrap="square" lIns="0" tIns="0" rIns="0" bIns="0" rtlCol="0" anchor="ctr"/>
          <a:lstStyle/>
          <a:p>
            <a:pPr algn="ctr" indent="0" marL="0">
              <a:buNone/>
            </a:pPr>
            <a:r>
              <a:rPr lang="en-US" sz="1350" dirty="0">
                <a:solidFill>
                  <a:srgbClr val="D9D2C7"/>
                </a:solidFill>
                <a:latin typeface="Calibri" pitchFamily="34" charset="0"/>
                <a:ea typeface="Calibri" pitchFamily="34" charset="-122"/>
                <a:cs typeface="Calibri" pitchFamily="34" charset="-120"/>
              </a:rPr>
              <a:t>Le développement se fait toujours sur une branche dédiée, jamais directement sur master.</a:t>
            </a:r>
            <a:endParaRPr lang="en-US" sz="1350" dirty="0"/>
          </a:p>
        </p:txBody>
      </p:sp>
      <p:sp>
        <p:nvSpPr>
          <p:cNvPr id="17" name="Shape 15"/>
          <p:cNvSpPr/>
          <p:nvPr/>
        </p:nvSpPr>
        <p:spPr>
          <a:xfrm>
            <a:off x="0" y="6355080"/>
            <a:ext cx="12188952" cy="502920"/>
          </a:xfrm>
          <a:prstGeom prst="rect">
            <a:avLst/>
          </a:prstGeom>
          <a:solidFill>
            <a:srgbClr val="1A3C29"/>
          </a:solidFill>
          <a:ln w="12700">
            <a:solidFill>
              <a:srgbClr val="1A3C29"/>
            </a:solidFill>
            <a:prstDash val="solid"/>
          </a:ln>
        </p:spPr>
      </p:sp>
      <p:sp>
        <p:nvSpPr>
          <p:cNvPr id="18" name="Text 16"/>
          <p:cNvSpPr/>
          <p:nvPr/>
        </p:nvSpPr>
        <p:spPr>
          <a:xfrm>
            <a:off x="502920" y="6382512"/>
            <a:ext cx="4572000" cy="237744"/>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RENOIR&amp;ALINE</a:t>
            </a:r>
            <a:endParaRPr lang="en-US" sz="1000" dirty="0"/>
          </a:p>
        </p:txBody>
      </p:sp>
      <p:sp>
        <p:nvSpPr>
          <p:cNvPr id="19" name="Text 17"/>
          <p:cNvSpPr/>
          <p:nvPr/>
        </p:nvSpPr>
        <p:spPr>
          <a:xfrm>
            <a:off x="502920" y="6601968"/>
            <a:ext cx="4572000" cy="182880"/>
          </a:xfrm>
          <a:prstGeom prst="rect">
            <a:avLst/>
          </a:prstGeom>
          <a:noFill/>
          <a:ln/>
        </p:spPr>
        <p:txBody>
          <a:bodyPr wrap="square" lIns="0" tIns="0" rIns="0" bIns="0" rtlCol="0" anchor="ctr"/>
          <a:lstStyle/>
          <a:p>
            <a:pPr indent="0" marL="0">
              <a:buNone/>
            </a:pPr>
            <a:r>
              <a:rPr lang="en-US" sz="700" spc="200" kern="0" dirty="0">
                <a:solidFill>
                  <a:srgbClr val="8AA595"/>
                </a:solidFill>
                <a:latin typeface="Calibri" pitchFamily="34" charset="0"/>
                <a:ea typeface="Calibri" pitchFamily="34" charset="-122"/>
                <a:cs typeface="Calibri" pitchFamily="34" charset="-120"/>
              </a:rPr>
              <a:t>CONSTRUCTEUR DE SITE WEB</a:t>
            </a:r>
            <a:endParaRPr lang="en-US" sz="700" dirty="0"/>
          </a:p>
        </p:txBody>
      </p:sp>
      <p:sp>
        <p:nvSpPr>
          <p:cNvPr id="20" name="Text 18"/>
          <p:cNvSpPr/>
          <p:nvPr/>
        </p:nvSpPr>
        <p:spPr>
          <a:xfrm>
            <a:off x="10241280" y="6419088"/>
            <a:ext cx="1417320" cy="365760"/>
          </a:xfrm>
          <a:prstGeom prst="rect">
            <a:avLst/>
          </a:prstGeom>
          <a:noFill/>
          <a:ln/>
        </p:spPr>
        <p:txBody>
          <a:bodyPr wrap="square" lIns="0" tIns="0" rIns="0" bIns="0" rtlCol="0" anchor="ctr"/>
          <a:lstStyle/>
          <a:p>
            <a:pPr algn="r" indent="0" marL="0">
              <a:buNone/>
            </a:pPr>
            <a:r>
              <a:rPr lang="en-US" sz="1000" b="1" dirty="0">
                <a:solidFill>
                  <a:srgbClr val="FFFFFF"/>
                </a:solidFill>
                <a:latin typeface="Calibri" pitchFamily="34" charset="0"/>
                <a:ea typeface="Calibri" pitchFamily="34" charset="-122"/>
                <a:cs typeface="Calibri" pitchFamily="34" charset="-120"/>
              </a:rPr>
              <a:t>Page 8/21</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1ECE6"/>
        </a:solidFill>
      </p:bgPr>
    </p:bg>
    <p:spTree>
      <p:nvGrpSpPr>
        <p:cNvPr id="1" name=""/>
        <p:cNvGrpSpPr/>
        <p:nvPr/>
      </p:nvGrpSpPr>
      <p:grpSpPr>
        <a:xfrm>
          <a:off x="0" y="0"/>
          <a:ext cx="0" cy="0"/>
          <a:chOff x="0" y="0"/>
          <a:chExt cx="0" cy="0"/>
        </a:xfrm>
      </p:grpSpPr>
      <p:sp>
        <p:nvSpPr>
          <p:cNvPr id="2" name="Text 0"/>
          <p:cNvSpPr/>
          <p:nvPr/>
        </p:nvSpPr>
        <p:spPr>
          <a:xfrm>
            <a:off x="640080" y="384048"/>
            <a:ext cx="10881360" cy="292608"/>
          </a:xfrm>
          <a:prstGeom prst="rect">
            <a:avLst/>
          </a:prstGeom>
          <a:noFill/>
          <a:ln/>
        </p:spPr>
        <p:txBody>
          <a:bodyPr wrap="square" lIns="0" tIns="0" rIns="0" bIns="0" rtlCol="0" anchor="ctr"/>
          <a:lstStyle/>
          <a:p>
            <a:pPr indent="0" marL="0">
              <a:buNone/>
            </a:pPr>
            <a:r>
              <a:rPr lang="en-US" sz="1300" b="1" dirty="0">
                <a:solidFill>
                  <a:srgbClr val="C3612D"/>
                </a:solidFill>
                <a:latin typeface="Calibri" pitchFamily="34" charset="0"/>
                <a:ea typeface="Calibri" pitchFamily="34" charset="-122"/>
                <a:cs typeface="Calibri" pitchFamily="34" charset="-120"/>
              </a:rPr>
              <a:t>Processus de déploiement</a:t>
            </a:r>
            <a:endParaRPr lang="en-US" sz="1300" dirty="0"/>
          </a:p>
        </p:txBody>
      </p:sp>
      <p:sp>
        <p:nvSpPr>
          <p:cNvPr id="3" name="Text 1"/>
          <p:cNvSpPr/>
          <p:nvPr/>
        </p:nvSpPr>
        <p:spPr>
          <a:xfrm>
            <a:off x="640080" y="713232"/>
            <a:ext cx="10881360" cy="822960"/>
          </a:xfrm>
          <a:prstGeom prst="rect">
            <a:avLst/>
          </a:prstGeom>
          <a:noFill/>
          <a:ln/>
        </p:spPr>
        <p:txBody>
          <a:bodyPr wrap="square" lIns="0" tIns="0" rIns="0" bIns="0" rtlCol="0" anchor="ctr"/>
          <a:lstStyle/>
          <a:p>
            <a:pPr indent="0" marL="0">
              <a:buNone/>
            </a:pPr>
            <a:r>
              <a:rPr lang="en-US" sz="3400" b="1" dirty="0">
                <a:solidFill>
                  <a:srgbClr val="1A3C29"/>
                </a:solidFill>
                <a:latin typeface="Calibri" pitchFamily="34" charset="0"/>
                <a:ea typeface="Calibri" pitchFamily="34" charset="-122"/>
                <a:cs typeface="Calibri" pitchFamily="34" charset="-120"/>
              </a:rPr>
              <a:t>Étape 2 — Push &amp; Pull Request</a:t>
            </a:r>
            <a:endParaRPr lang="en-US" sz="3400" dirty="0"/>
          </a:p>
        </p:txBody>
      </p:sp>
      <p:sp>
        <p:nvSpPr>
          <p:cNvPr id="4" name="Shape 2"/>
          <p:cNvSpPr/>
          <p:nvPr/>
        </p:nvSpPr>
        <p:spPr>
          <a:xfrm>
            <a:off x="914400" y="2743200"/>
            <a:ext cx="2926080" cy="1371600"/>
          </a:xfrm>
          <a:prstGeom prst="roundRect">
            <a:avLst>
              <a:gd name="adj" fmla="val 5333"/>
            </a:avLst>
          </a:prstGeom>
          <a:solidFill>
            <a:srgbClr val="FFFFFF"/>
          </a:solidFill>
          <a:ln w="25400">
            <a:solidFill>
              <a:srgbClr val="1A3C29"/>
            </a:solidFill>
            <a:prstDash val="solid"/>
          </a:ln>
          <a:effectLst>
            <a:outerShdw sx="100000" sy="100000" kx="0" ky="0" algn="bl" rotWithShape="0" blurRad="88900" dist="38100" dir="5400000">
              <a:srgbClr val="000000">
                <a:alpha val="12000"/>
              </a:srgbClr>
            </a:outerShdw>
          </a:effectLst>
        </p:spPr>
      </p:sp>
      <p:sp>
        <p:nvSpPr>
          <p:cNvPr id="5" name="Text 3"/>
          <p:cNvSpPr/>
          <p:nvPr/>
        </p:nvSpPr>
        <p:spPr>
          <a:xfrm>
            <a:off x="1005840" y="2944368"/>
            <a:ext cx="2743200" cy="384048"/>
          </a:xfrm>
          <a:prstGeom prst="rect">
            <a:avLst/>
          </a:prstGeom>
          <a:noFill/>
          <a:ln/>
        </p:spPr>
        <p:txBody>
          <a:bodyPr wrap="square" lIns="0" tIns="0" rIns="0" bIns="0" rtlCol="0" anchor="ctr"/>
          <a:lstStyle/>
          <a:p>
            <a:pPr algn="ctr" indent="0" marL="0">
              <a:buNone/>
            </a:pPr>
            <a:r>
              <a:rPr lang="en-US" sz="1500" b="1" dirty="0">
                <a:solidFill>
                  <a:srgbClr val="1A3C29"/>
                </a:solidFill>
                <a:latin typeface="Calibri" pitchFamily="34" charset="0"/>
                <a:ea typeface="Calibri" pitchFamily="34" charset="-122"/>
                <a:cs typeface="Calibri" pitchFamily="34" charset="-120"/>
              </a:rPr>
              <a:t>Branche locale</a:t>
            </a:r>
            <a:endParaRPr lang="en-US" sz="1500" dirty="0"/>
          </a:p>
        </p:txBody>
      </p:sp>
      <p:sp>
        <p:nvSpPr>
          <p:cNvPr id="6" name="Text 4"/>
          <p:cNvSpPr/>
          <p:nvPr/>
        </p:nvSpPr>
        <p:spPr>
          <a:xfrm>
            <a:off x="1024128" y="3364992"/>
            <a:ext cx="2706624" cy="548640"/>
          </a:xfrm>
          <a:prstGeom prst="rect">
            <a:avLst/>
          </a:prstGeom>
          <a:noFill/>
          <a:ln/>
        </p:spPr>
        <p:txBody>
          <a:bodyPr wrap="square" lIns="0" tIns="0" rIns="0" bIns="0" rtlCol="0" anchor="ctr"/>
          <a:lstStyle/>
          <a:p>
            <a:pPr algn="ctr" indent="0" marL="0">
              <a:buNone/>
            </a:pPr>
            <a:r>
              <a:rPr lang="en-US" sz="1150" dirty="0">
                <a:solidFill>
                  <a:srgbClr val="5F5F5F"/>
                </a:solidFill>
                <a:latin typeface="Calibri" pitchFamily="34" charset="0"/>
                <a:ea typeface="Calibri" pitchFamily="34" charset="-122"/>
                <a:cs typeface="Calibri" pitchFamily="34" charset="-120"/>
              </a:rPr>
              <a:t>Travail isolé du code stable</a:t>
            </a:r>
            <a:endParaRPr lang="en-US" sz="1150" dirty="0"/>
          </a:p>
        </p:txBody>
      </p:sp>
      <p:sp>
        <p:nvSpPr>
          <p:cNvPr id="7" name="Text 5"/>
          <p:cNvSpPr/>
          <p:nvPr/>
        </p:nvSpPr>
        <p:spPr>
          <a:xfrm>
            <a:off x="3886200" y="3200400"/>
            <a:ext cx="640080" cy="457200"/>
          </a:xfrm>
          <a:prstGeom prst="rect">
            <a:avLst/>
          </a:prstGeom>
          <a:noFill/>
          <a:ln/>
        </p:spPr>
        <p:txBody>
          <a:bodyPr wrap="square" lIns="0" tIns="0" rIns="0" bIns="0" rtlCol="0" anchor="ctr"/>
          <a:lstStyle/>
          <a:p>
            <a:pPr algn="ctr" indent="0" marL="0">
              <a:buNone/>
            </a:pPr>
            <a:r>
              <a:rPr lang="en-US" sz="2400" b="1" dirty="0">
                <a:solidFill>
                  <a:srgbClr val="C3612D"/>
                </a:solidFill>
                <a:latin typeface="Calibri" pitchFamily="34" charset="0"/>
                <a:ea typeface="Calibri" pitchFamily="34" charset="-122"/>
                <a:cs typeface="Calibri" pitchFamily="34" charset="-120"/>
              </a:rPr>
              <a:t>→</a:t>
            </a:r>
            <a:endParaRPr lang="en-US" sz="2400" dirty="0"/>
          </a:p>
        </p:txBody>
      </p:sp>
      <p:sp>
        <p:nvSpPr>
          <p:cNvPr id="8" name="Text 6"/>
          <p:cNvSpPr/>
          <p:nvPr/>
        </p:nvSpPr>
        <p:spPr>
          <a:xfrm>
            <a:off x="3611880" y="3602736"/>
            <a:ext cx="1188720" cy="274320"/>
          </a:xfrm>
          <a:prstGeom prst="rect">
            <a:avLst/>
          </a:prstGeom>
          <a:noFill/>
          <a:ln/>
        </p:spPr>
        <p:txBody>
          <a:bodyPr wrap="square" lIns="0" tIns="0" rIns="0" bIns="0" rtlCol="0" anchor="ctr"/>
          <a:lstStyle/>
          <a:p>
            <a:pPr algn="ctr" indent="0" marL="0">
              <a:buNone/>
            </a:pPr>
            <a:r>
              <a:rPr lang="en-US" sz="950" i="1" dirty="0">
                <a:solidFill>
                  <a:srgbClr val="C3612D"/>
                </a:solidFill>
                <a:latin typeface="Calibri" pitchFamily="34" charset="0"/>
                <a:ea typeface="Calibri" pitchFamily="34" charset="-122"/>
                <a:cs typeface="Calibri" pitchFamily="34" charset="-120"/>
              </a:rPr>
              <a:t>git push</a:t>
            </a:r>
            <a:endParaRPr lang="en-US" sz="950" dirty="0"/>
          </a:p>
        </p:txBody>
      </p:sp>
      <p:sp>
        <p:nvSpPr>
          <p:cNvPr id="9" name="Shape 7"/>
          <p:cNvSpPr/>
          <p:nvPr/>
        </p:nvSpPr>
        <p:spPr>
          <a:xfrm>
            <a:off x="4617720" y="2743200"/>
            <a:ext cx="2926080" cy="1371600"/>
          </a:xfrm>
          <a:prstGeom prst="roundRect">
            <a:avLst>
              <a:gd name="adj" fmla="val 5333"/>
            </a:avLst>
          </a:prstGeom>
          <a:solidFill>
            <a:srgbClr val="FFFFFF"/>
          </a:solidFill>
          <a:ln w="25400">
            <a:solidFill>
              <a:srgbClr val="1A3C29"/>
            </a:solidFill>
            <a:prstDash val="solid"/>
          </a:ln>
          <a:effectLst>
            <a:outerShdw sx="100000" sy="100000" kx="0" ky="0" algn="bl" rotWithShape="0" blurRad="88900" dist="38100" dir="5400000">
              <a:srgbClr val="000000">
                <a:alpha val="12000"/>
              </a:srgbClr>
            </a:outerShdw>
          </a:effectLst>
        </p:spPr>
      </p:sp>
      <p:sp>
        <p:nvSpPr>
          <p:cNvPr id="10" name="Text 8"/>
          <p:cNvSpPr/>
          <p:nvPr/>
        </p:nvSpPr>
        <p:spPr>
          <a:xfrm>
            <a:off x="4709160" y="2944368"/>
            <a:ext cx="2743200" cy="384048"/>
          </a:xfrm>
          <a:prstGeom prst="rect">
            <a:avLst/>
          </a:prstGeom>
          <a:noFill/>
          <a:ln/>
        </p:spPr>
        <p:txBody>
          <a:bodyPr wrap="square" lIns="0" tIns="0" rIns="0" bIns="0" rtlCol="0" anchor="ctr"/>
          <a:lstStyle/>
          <a:p>
            <a:pPr algn="ctr" indent="0" marL="0">
              <a:buNone/>
            </a:pPr>
            <a:r>
              <a:rPr lang="en-US" sz="1500" b="1" dirty="0">
                <a:solidFill>
                  <a:srgbClr val="1A3C29"/>
                </a:solidFill>
                <a:latin typeface="Calibri" pitchFamily="34" charset="0"/>
                <a:ea typeface="Calibri" pitchFamily="34" charset="-122"/>
                <a:cs typeface="Calibri" pitchFamily="34" charset="-120"/>
              </a:rPr>
              <a:t>Dépôt GitHub</a:t>
            </a:r>
            <a:endParaRPr lang="en-US" sz="1500" dirty="0"/>
          </a:p>
        </p:txBody>
      </p:sp>
      <p:sp>
        <p:nvSpPr>
          <p:cNvPr id="11" name="Text 9"/>
          <p:cNvSpPr/>
          <p:nvPr/>
        </p:nvSpPr>
        <p:spPr>
          <a:xfrm>
            <a:off x="4727448" y="3364992"/>
            <a:ext cx="2706624" cy="548640"/>
          </a:xfrm>
          <a:prstGeom prst="rect">
            <a:avLst/>
          </a:prstGeom>
          <a:noFill/>
          <a:ln/>
        </p:spPr>
        <p:txBody>
          <a:bodyPr wrap="square" lIns="0" tIns="0" rIns="0" bIns="0" rtlCol="0" anchor="ctr"/>
          <a:lstStyle/>
          <a:p>
            <a:pPr algn="ctr" indent="0" marL="0">
              <a:buNone/>
            </a:pPr>
            <a:r>
              <a:rPr lang="en-US" sz="1150" dirty="0">
                <a:solidFill>
                  <a:srgbClr val="5F5F5F"/>
                </a:solidFill>
                <a:latin typeface="Calibri" pitchFamily="34" charset="0"/>
                <a:ea typeface="Calibri" pitchFamily="34" charset="-122"/>
                <a:cs typeface="Calibri" pitchFamily="34" charset="-120"/>
              </a:rPr>
              <a:t>Branche distante créée</a:t>
            </a:r>
            <a:endParaRPr lang="en-US" sz="1150" dirty="0"/>
          </a:p>
        </p:txBody>
      </p:sp>
      <p:sp>
        <p:nvSpPr>
          <p:cNvPr id="12" name="Text 10"/>
          <p:cNvSpPr/>
          <p:nvPr/>
        </p:nvSpPr>
        <p:spPr>
          <a:xfrm>
            <a:off x="7589520" y="3200400"/>
            <a:ext cx="640080" cy="457200"/>
          </a:xfrm>
          <a:prstGeom prst="rect">
            <a:avLst/>
          </a:prstGeom>
          <a:noFill/>
          <a:ln/>
        </p:spPr>
        <p:txBody>
          <a:bodyPr wrap="square" lIns="0" tIns="0" rIns="0" bIns="0" rtlCol="0" anchor="ctr"/>
          <a:lstStyle/>
          <a:p>
            <a:pPr algn="ctr" indent="0" marL="0">
              <a:buNone/>
            </a:pPr>
            <a:r>
              <a:rPr lang="en-US" sz="2400" b="1" dirty="0">
                <a:solidFill>
                  <a:srgbClr val="C3612D"/>
                </a:solidFill>
                <a:latin typeface="Calibri" pitchFamily="34" charset="0"/>
                <a:ea typeface="Calibri" pitchFamily="34" charset="-122"/>
                <a:cs typeface="Calibri" pitchFamily="34" charset="-120"/>
              </a:rPr>
              <a:t>→</a:t>
            </a:r>
            <a:endParaRPr lang="en-US" sz="2400" dirty="0"/>
          </a:p>
        </p:txBody>
      </p:sp>
      <p:sp>
        <p:nvSpPr>
          <p:cNvPr id="13" name="Text 11"/>
          <p:cNvSpPr/>
          <p:nvPr/>
        </p:nvSpPr>
        <p:spPr>
          <a:xfrm>
            <a:off x="7315200" y="3602736"/>
            <a:ext cx="1188720" cy="274320"/>
          </a:xfrm>
          <a:prstGeom prst="rect">
            <a:avLst/>
          </a:prstGeom>
          <a:noFill/>
          <a:ln/>
        </p:spPr>
        <p:txBody>
          <a:bodyPr wrap="square" lIns="0" tIns="0" rIns="0" bIns="0" rtlCol="0" anchor="ctr"/>
          <a:lstStyle/>
          <a:p>
            <a:pPr algn="ctr" indent="0" marL="0">
              <a:buNone/>
            </a:pPr>
            <a:r>
              <a:rPr lang="en-US" sz="950" i="1" dirty="0">
                <a:solidFill>
                  <a:srgbClr val="C3612D"/>
                </a:solidFill>
                <a:latin typeface="Calibri" pitchFamily="34" charset="0"/>
                <a:ea typeface="Calibri" pitchFamily="34" charset="-122"/>
                <a:cs typeface="Calibri" pitchFamily="34" charset="-120"/>
              </a:rPr>
              <a:t>Pull Request</a:t>
            </a:r>
            <a:endParaRPr lang="en-US" sz="950" dirty="0"/>
          </a:p>
        </p:txBody>
      </p:sp>
      <p:sp>
        <p:nvSpPr>
          <p:cNvPr id="14" name="Shape 12"/>
          <p:cNvSpPr/>
          <p:nvPr/>
        </p:nvSpPr>
        <p:spPr>
          <a:xfrm>
            <a:off x="8321040" y="2743200"/>
            <a:ext cx="2926080" cy="1371600"/>
          </a:xfrm>
          <a:prstGeom prst="roundRect">
            <a:avLst>
              <a:gd name="adj" fmla="val 5333"/>
            </a:avLst>
          </a:prstGeom>
          <a:solidFill>
            <a:srgbClr val="FFFFFF"/>
          </a:solidFill>
          <a:ln w="25400">
            <a:solidFill>
              <a:srgbClr val="1A3C29"/>
            </a:solidFill>
            <a:prstDash val="solid"/>
          </a:ln>
          <a:effectLst>
            <a:outerShdw sx="100000" sy="100000" kx="0" ky="0" algn="bl" rotWithShape="0" blurRad="88900" dist="38100" dir="5400000">
              <a:srgbClr val="000000">
                <a:alpha val="12000"/>
              </a:srgbClr>
            </a:outerShdw>
          </a:effectLst>
        </p:spPr>
      </p:sp>
      <p:sp>
        <p:nvSpPr>
          <p:cNvPr id="15" name="Text 13"/>
          <p:cNvSpPr/>
          <p:nvPr/>
        </p:nvSpPr>
        <p:spPr>
          <a:xfrm>
            <a:off x="8412480" y="2944368"/>
            <a:ext cx="2743200" cy="384048"/>
          </a:xfrm>
          <a:prstGeom prst="rect">
            <a:avLst/>
          </a:prstGeom>
          <a:noFill/>
          <a:ln/>
        </p:spPr>
        <p:txBody>
          <a:bodyPr wrap="square" lIns="0" tIns="0" rIns="0" bIns="0" rtlCol="0" anchor="ctr"/>
          <a:lstStyle/>
          <a:p>
            <a:pPr algn="ctr" indent="0" marL="0">
              <a:buNone/>
            </a:pPr>
            <a:r>
              <a:rPr lang="en-US" sz="1500" b="1" dirty="0">
                <a:solidFill>
                  <a:srgbClr val="1A3C29"/>
                </a:solidFill>
                <a:latin typeface="Calibri" pitchFamily="34" charset="0"/>
                <a:ea typeface="Calibri" pitchFamily="34" charset="-122"/>
                <a:cs typeface="Calibri" pitchFamily="34" charset="-120"/>
              </a:rPr>
              <a:t>Demande de fusion</a:t>
            </a:r>
            <a:endParaRPr lang="en-US" sz="1500" dirty="0"/>
          </a:p>
        </p:txBody>
      </p:sp>
      <p:sp>
        <p:nvSpPr>
          <p:cNvPr id="16" name="Text 14"/>
          <p:cNvSpPr/>
          <p:nvPr/>
        </p:nvSpPr>
        <p:spPr>
          <a:xfrm>
            <a:off x="8430768" y="3364992"/>
            <a:ext cx="2706624" cy="548640"/>
          </a:xfrm>
          <a:prstGeom prst="rect">
            <a:avLst/>
          </a:prstGeom>
          <a:noFill/>
          <a:ln/>
        </p:spPr>
        <p:txBody>
          <a:bodyPr wrap="square" lIns="0" tIns="0" rIns="0" bIns="0" rtlCol="0" anchor="ctr"/>
          <a:lstStyle/>
          <a:p>
            <a:pPr algn="ctr" indent="0" marL="0">
              <a:buNone/>
            </a:pPr>
            <a:r>
              <a:rPr lang="en-US" sz="1150" dirty="0">
                <a:solidFill>
                  <a:srgbClr val="5F5F5F"/>
                </a:solidFill>
                <a:latin typeface="Calibri" pitchFamily="34" charset="0"/>
                <a:ea typeface="Calibri" pitchFamily="34" charset="-122"/>
                <a:cs typeface="Calibri" pitchFamily="34" charset="-120"/>
              </a:rPr>
              <a:t>Relecture avant intégration</a:t>
            </a:r>
            <a:endParaRPr lang="en-US" sz="1150" dirty="0"/>
          </a:p>
        </p:txBody>
      </p:sp>
      <p:sp>
        <p:nvSpPr>
          <p:cNvPr id="17" name="Shape 15"/>
          <p:cNvSpPr/>
          <p:nvPr/>
        </p:nvSpPr>
        <p:spPr>
          <a:xfrm>
            <a:off x="640080" y="5120640"/>
            <a:ext cx="10881360" cy="777240"/>
          </a:xfrm>
          <a:prstGeom prst="roundRect">
            <a:avLst>
              <a:gd name="adj" fmla="val 7059"/>
            </a:avLst>
          </a:prstGeom>
          <a:solidFill>
            <a:srgbClr val="1A3C29"/>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18" name="Text 16"/>
          <p:cNvSpPr/>
          <p:nvPr/>
        </p:nvSpPr>
        <p:spPr>
          <a:xfrm>
            <a:off x="914400" y="5257800"/>
            <a:ext cx="10332720" cy="502920"/>
          </a:xfrm>
          <a:prstGeom prst="rect">
            <a:avLst/>
          </a:prstGeom>
          <a:noFill/>
          <a:ln/>
        </p:spPr>
        <p:txBody>
          <a:bodyPr wrap="square" lIns="0" tIns="0" rIns="0" bIns="0" rtlCol="0" anchor="ctr"/>
          <a:lstStyle/>
          <a:p>
            <a:pPr algn="ctr" indent="0" marL="0">
              <a:buNone/>
            </a:pPr>
            <a:r>
              <a:rPr lang="en-US" sz="1350" dirty="0">
                <a:solidFill>
                  <a:srgbClr val="D9D2C7"/>
                </a:solidFill>
                <a:latin typeface="Calibri" pitchFamily="34" charset="0"/>
                <a:ea typeface="Calibri" pitchFamily="34" charset="-122"/>
                <a:cs typeface="Calibri" pitchFamily="34" charset="-120"/>
              </a:rPr>
              <a:t>La Pull Request permet de relire et de valider le code avant toute intégration.</a:t>
            </a:r>
            <a:endParaRPr lang="en-US" sz="1350" dirty="0"/>
          </a:p>
        </p:txBody>
      </p:sp>
      <p:sp>
        <p:nvSpPr>
          <p:cNvPr id="19" name="Shape 17"/>
          <p:cNvSpPr/>
          <p:nvPr/>
        </p:nvSpPr>
        <p:spPr>
          <a:xfrm>
            <a:off x="0" y="6355080"/>
            <a:ext cx="12188952" cy="502920"/>
          </a:xfrm>
          <a:prstGeom prst="rect">
            <a:avLst/>
          </a:prstGeom>
          <a:solidFill>
            <a:srgbClr val="1A3C29"/>
          </a:solidFill>
          <a:ln w="12700">
            <a:solidFill>
              <a:srgbClr val="1A3C29"/>
            </a:solidFill>
            <a:prstDash val="solid"/>
          </a:ln>
        </p:spPr>
      </p:sp>
      <p:sp>
        <p:nvSpPr>
          <p:cNvPr id="20" name="Text 18"/>
          <p:cNvSpPr/>
          <p:nvPr/>
        </p:nvSpPr>
        <p:spPr>
          <a:xfrm>
            <a:off x="502920" y="6382512"/>
            <a:ext cx="4572000" cy="237744"/>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RENOIR&amp;ALINE</a:t>
            </a:r>
            <a:endParaRPr lang="en-US" sz="1000" dirty="0"/>
          </a:p>
        </p:txBody>
      </p:sp>
      <p:sp>
        <p:nvSpPr>
          <p:cNvPr id="21" name="Text 19"/>
          <p:cNvSpPr/>
          <p:nvPr/>
        </p:nvSpPr>
        <p:spPr>
          <a:xfrm>
            <a:off x="502920" y="6601968"/>
            <a:ext cx="4572000" cy="182880"/>
          </a:xfrm>
          <a:prstGeom prst="rect">
            <a:avLst/>
          </a:prstGeom>
          <a:noFill/>
          <a:ln/>
        </p:spPr>
        <p:txBody>
          <a:bodyPr wrap="square" lIns="0" tIns="0" rIns="0" bIns="0" rtlCol="0" anchor="ctr"/>
          <a:lstStyle/>
          <a:p>
            <a:pPr indent="0" marL="0">
              <a:buNone/>
            </a:pPr>
            <a:r>
              <a:rPr lang="en-US" sz="700" spc="200" kern="0" dirty="0">
                <a:solidFill>
                  <a:srgbClr val="8AA595"/>
                </a:solidFill>
                <a:latin typeface="Calibri" pitchFamily="34" charset="0"/>
                <a:ea typeface="Calibri" pitchFamily="34" charset="-122"/>
                <a:cs typeface="Calibri" pitchFamily="34" charset="-120"/>
              </a:rPr>
              <a:t>CONSTRUCTEUR DE SITE WEB</a:t>
            </a:r>
            <a:endParaRPr lang="en-US" sz="700" dirty="0"/>
          </a:p>
        </p:txBody>
      </p:sp>
      <p:sp>
        <p:nvSpPr>
          <p:cNvPr id="22" name="Text 20"/>
          <p:cNvSpPr/>
          <p:nvPr/>
        </p:nvSpPr>
        <p:spPr>
          <a:xfrm>
            <a:off x="10241280" y="6419088"/>
            <a:ext cx="1417320" cy="365760"/>
          </a:xfrm>
          <a:prstGeom prst="rect">
            <a:avLst/>
          </a:prstGeom>
          <a:noFill/>
          <a:ln/>
        </p:spPr>
        <p:txBody>
          <a:bodyPr wrap="square" lIns="0" tIns="0" rIns="0" bIns="0" rtlCol="0" anchor="ctr"/>
          <a:lstStyle/>
          <a:p>
            <a:pPr algn="r" indent="0" marL="0">
              <a:buNone/>
            </a:pPr>
            <a:r>
              <a:rPr lang="en-US" sz="1000" b="1" dirty="0">
                <a:solidFill>
                  <a:srgbClr val="FFFFFF"/>
                </a:solidFill>
                <a:latin typeface="Calibri" pitchFamily="34" charset="0"/>
                <a:ea typeface="Calibri" pitchFamily="34" charset="-122"/>
                <a:cs typeface="Calibri" pitchFamily="34" charset="-120"/>
              </a:rPr>
              <a:t>Page 9/21</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1ECE6"/>
        </a:solidFill>
      </p:bgPr>
    </p:bg>
    <p:spTree>
      <p:nvGrpSpPr>
        <p:cNvPr id="1" name=""/>
        <p:cNvGrpSpPr/>
        <p:nvPr/>
      </p:nvGrpSpPr>
      <p:grpSpPr>
        <a:xfrm>
          <a:off x="0" y="0"/>
          <a:ext cx="0" cy="0"/>
          <a:chOff x="0" y="0"/>
          <a:chExt cx="0" cy="0"/>
        </a:xfrm>
      </p:grpSpPr>
      <p:sp>
        <p:nvSpPr>
          <p:cNvPr id="2" name="Text 0"/>
          <p:cNvSpPr/>
          <p:nvPr/>
        </p:nvSpPr>
        <p:spPr>
          <a:xfrm>
            <a:off x="640080" y="384048"/>
            <a:ext cx="10881360" cy="292608"/>
          </a:xfrm>
          <a:prstGeom prst="rect">
            <a:avLst/>
          </a:prstGeom>
          <a:noFill/>
          <a:ln/>
        </p:spPr>
        <p:txBody>
          <a:bodyPr wrap="square" lIns="0" tIns="0" rIns="0" bIns="0" rtlCol="0" anchor="ctr"/>
          <a:lstStyle/>
          <a:p>
            <a:pPr indent="0" marL="0">
              <a:buNone/>
            </a:pPr>
            <a:r>
              <a:rPr lang="en-US" sz="1300" b="1" dirty="0">
                <a:solidFill>
                  <a:srgbClr val="C3612D"/>
                </a:solidFill>
                <a:latin typeface="Calibri" pitchFamily="34" charset="0"/>
                <a:ea typeface="Calibri" pitchFamily="34" charset="-122"/>
                <a:cs typeface="Calibri" pitchFamily="34" charset="-120"/>
              </a:rPr>
              <a:t>Processus de déploiement</a:t>
            </a:r>
            <a:endParaRPr lang="en-US" sz="1300" dirty="0"/>
          </a:p>
        </p:txBody>
      </p:sp>
      <p:sp>
        <p:nvSpPr>
          <p:cNvPr id="3" name="Text 1"/>
          <p:cNvSpPr/>
          <p:nvPr/>
        </p:nvSpPr>
        <p:spPr>
          <a:xfrm>
            <a:off x="640080" y="713232"/>
            <a:ext cx="10881360" cy="822960"/>
          </a:xfrm>
          <a:prstGeom prst="rect">
            <a:avLst/>
          </a:prstGeom>
          <a:noFill/>
          <a:ln/>
        </p:spPr>
        <p:txBody>
          <a:bodyPr wrap="square" lIns="0" tIns="0" rIns="0" bIns="0" rtlCol="0" anchor="ctr"/>
          <a:lstStyle/>
          <a:p>
            <a:pPr indent="0" marL="0">
              <a:buNone/>
            </a:pPr>
            <a:r>
              <a:rPr lang="en-US" sz="3400" b="1" dirty="0">
                <a:solidFill>
                  <a:srgbClr val="1A3C29"/>
                </a:solidFill>
                <a:latin typeface="Calibri" pitchFamily="34" charset="0"/>
                <a:ea typeface="Calibri" pitchFamily="34" charset="-122"/>
                <a:cs typeface="Calibri" pitchFamily="34" charset="-120"/>
              </a:rPr>
              <a:t>Étape 3 — Intégration continue</a:t>
            </a:r>
            <a:endParaRPr lang="en-US" sz="3400" dirty="0"/>
          </a:p>
        </p:txBody>
      </p:sp>
      <p:sp>
        <p:nvSpPr>
          <p:cNvPr id="4" name="Shape 2"/>
          <p:cNvSpPr/>
          <p:nvPr/>
        </p:nvSpPr>
        <p:spPr>
          <a:xfrm>
            <a:off x="640080" y="2971800"/>
            <a:ext cx="2651760" cy="1234440"/>
          </a:xfrm>
          <a:prstGeom prst="roundRect">
            <a:avLst>
              <a:gd name="adj" fmla="val 5926"/>
            </a:avLst>
          </a:prstGeom>
          <a:solidFill>
            <a:srgbClr val="FFFFFF"/>
          </a:solidFill>
          <a:ln w="25400">
            <a:solidFill>
              <a:srgbClr val="1A3C29"/>
            </a:solidFill>
            <a:prstDash val="solid"/>
          </a:ln>
          <a:effectLst>
            <a:outerShdw sx="100000" sy="100000" kx="0" ky="0" algn="bl" rotWithShape="0" blurRad="88900" dist="38100" dir="5400000">
              <a:srgbClr val="000000">
                <a:alpha val="12000"/>
              </a:srgbClr>
            </a:outerShdw>
          </a:effectLst>
        </p:spPr>
      </p:sp>
      <p:sp>
        <p:nvSpPr>
          <p:cNvPr id="5" name="Text 3"/>
          <p:cNvSpPr/>
          <p:nvPr/>
        </p:nvSpPr>
        <p:spPr>
          <a:xfrm>
            <a:off x="731520" y="3172968"/>
            <a:ext cx="2468880" cy="384048"/>
          </a:xfrm>
          <a:prstGeom prst="rect">
            <a:avLst/>
          </a:prstGeom>
          <a:noFill/>
          <a:ln/>
        </p:spPr>
        <p:txBody>
          <a:bodyPr wrap="square" lIns="0" tIns="0" rIns="0" bIns="0" rtlCol="0" anchor="ctr"/>
          <a:lstStyle/>
          <a:p>
            <a:pPr algn="ctr" indent="0" marL="0">
              <a:buNone/>
            </a:pPr>
            <a:r>
              <a:rPr lang="en-US" sz="1500" b="1" dirty="0">
                <a:solidFill>
                  <a:srgbClr val="1A3C29"/>
                </a:solidFill>
                <a:latin typeface="Calibri" pitchFamily="34" charset="0"/>
                <a:ea typeface="Calibri" pitchFamily="34" charset="-122"/>
                <a:cs typeface="Calibri" pitchFamily="34" charset="-120"/>
              </a:rPr>
              <a:t>Déclenchement</a:t>
            </a:r>
            <a:endParaRPr lang="en-US" sz="1500" dirty="0"/>
          </a:p>
        </p:txBody>
      </p:sp>
      <p:sp>
        <p:nvSpPr>
          <p:cNvPr id="6" name="Text 4"/>
          <p:cNvSpPr/>
          <p:nvPr/>
        </p:nvSpPr>
        <p:spPr>
          <a:xfrm>
            <a:off x="749808" y="3593592"/>
            <a:ext cx="2432304" cy="548640"/>
          </a:xfrm>
          <a:prstGeom prst="rect">
            <a:avLst/>
          </a:prstGeom>
          <a:noFill/>
          <a:ln/>
        </p:spPr>
        <p:txBody>
          <a:bodyPr wrap="square" lIns="0" tIns="0" rIns="0" bIns="0" rtlCol="0" anchor="ctr"/>
          <a:lstStyle/>
          <a:p>
            <a:pPr algn="ctr" indent="0" marL="0">
              <a:buNone/>
            </a:pPr>
            <a:r>
              <a:rPr lang="en-US" sz="1150" dirty="0">
                <a:solidFill>
                  <a:srgbClr val="5F5F5F"/>
                </a:solidFill>
                <a:latin typeface="Calibri" pitchFamily="34" charset="0"/>
                <a:ea typeface="Calibri" pitchFamily="34" charset="-122"/>
                <a:cs typeface="Calibri" pitchFamily="34" charset="-120"/>
              </a:rPr>
              <a:t>Push ou Pull Request</a:t>
            </a:r>
            <a:endParaRPr lang="en-US" sz="1150" dirty="0"/>
          </a:p>
        </p:txBody>
      </p:sp>
      <p:sp>
        <p:nvSpPr>
          <p:cNvPr id="7" name="Text 5"/>
          <p:cNvSpPr/>
          <p:nvPr/>
        </p:nvSpPr>
        <p:spPr>
          <a:xfrm>
            <a:off x="3383280" y="3291840"/>
            <a:ext cx="640080" cy="457200"/>
          </a:xfrm>
          <a:prstGeom prst="rect">
            <a:avLst/>
          </a:prstGeom>
          <a:noFill/>
          <a:ln/>
        </p:spPr>
        <p:txBody>
          <a:bodyPr wrap="square" lIns="0" tIns="0" rIns="0" bIns="0" rtlCol="0" anchor="ctr"/>
          <a:lstStyle/>
          <a:p>
            <a:pPr algn="ctr" indent="0" marL="0">
              <a:buNone/>
            </a:pPr>
            <a:r>
              <a:rPr lang="en-US" sz="2400" b="1" dirty="0">
                <a:solidFill>
                  <a:srgbClr val="C3612D"/>
                </a:solidFill>
                <a:latin typeface="Calibri" pitchFamily="34" charset="0"/>
                <a:ea typeface="Calibri" pitchFamily="34" charset="-122"/>
                <a:cs typeface="Calibri" pitchFamily="34" charset="-120"/>
              </a:rPr>
              <a:t>→</a:t>
            </a:r>
            <a:endParaRPr lang="en-US" sz="2400" dirty="0"/>
          </a:p>
        </p:txBody>
      </p:sp>
      <p:sp>
        <p:nvSpPr>
          <p:cNvPr id="8" name="Shape 6"/>
          <p:cNvSpPr/>
          <p:nvPr/>
        </p:nvSpPr>
        <p:spPr>
          <a:xfrm>
            <a:off x="4114800" y="2240280"/>
            <a:ext cx="3566160" cy="1188720"/>
          </a:xfrm>
          <a:prstGeom prst="roundRect">
            <a:avLst>
              <a:gd name="adj" fmla="val 6154"/>
            </a:avLst>
          </a:prstGeom>
          <a:solidFill>
            <a:srgbClr val="FFFFFF"/>
          </a:solidFill>
          <a:ln w="25400">
            <a:solidFill>
              <a:srgbClr val="1A3C29"/>
            </a:solidFill>
            <a:prstDash val="solid"/>
          </a:ln>
          <a:effectLst>
            <a:outerShdw sx="100000" sy="100000" kx="0" ky="0" algn="bl" rotWithShape="0" blurRad="88900" dist="38100" dir="5400000">
              <a:srgbClr val="000000">
                <a:alpha val="12000"/>
              </a:srgbClr>
            </a:outerShdw>
          </a:effectLst>
        </p:spPr>
      </p:sp>
      <p:sp>
        <p:nvSpPr>
          <p:cNvPr id="9" name="Text 7"/>
          <p:cNvSpPr/>
          <p:nvPr/>
        </p:nvSpPr>
        <p:spPr>
          <a:xfrm>
            <a:off x="4206240" y="2441448"/>
            <a:ext cx="3383280" cy="384048"/>
          </a:xfrm>
          <a:prstGeom prst="rect">
            <a:avLst/>
          </a:prstGeom>
          <a:noFill/>
          <a:ln/>
        </p:spPr>
        <p:txBody>
          <a:bodyPr wrap="square" lIns="0" tIns="0" rIns="0" bIns="0" rtlCol="0" anchor="ctr"/>
          <a:lstStyle/>
          <a:p>
            <a:pPr algn="ctr" indent="0" marL="0">
              <a:buNone/>
            </a:pPr>
            <a:r>
              <a:rPr lang="en-US" sz="1500" b="1" dirty="0">
                <a:solidFill>
                  <a:srgbClr val="1A3C29"/>
                </a:solidFill>
                <a:latin typeface="Calibri" pitchFamily="34" charset="0"/>
                <a:ea typeface="Calibri" pitchFamily="34" charset="-122"/>
                <a:cs typeface="Calibri" pitchFamily="34" charset="-120"/>
              </a:rPr>
              <a:t>Job Backend</a:t>
            </a:r>
            <a:endParaRPr lang="en-US" sz="1500" dirty="0"/>
          </a:p>
        </p:txBody>
      </p:sp>
      <p:sp>
        <p:nvSpPr>
          <p:cNvPr id="10" name="Text 8"/>
          <p:cNvSpPr/>
          <p:nvPr/>
        </p:nvSpPr>
        <p:spPr>
          <a:xfrm>
            <a:off x="4224528" y="2862072"/>
            <a:ext cx="3346704" cy="548640"/>
          </a:xfrm>
          <a:prstGeom prst="rect">
            <a:avLst/>
          </a:prstGeom>
          <a:noFill/>
          <a:ln/>
        </p:spPr>
        <p:txBody>
          <a:bodyPr wrap="square" lIns="0" tIns="0" rIns="0" bIns="0" rtlCol="0" anchor="ctr"/>
          <a:lstStyle/>
          <a:p>
            <a:pPr algn="ctr" indent="0" marL="0">
              <a:buNone/>
            </a:pPr>
            <a:r>
              <a:rPr lang="en-US" sz="1150" dirty="0">
                <a:solidFill>
                  <a:srgbClr val="5F5F5F"/>
                </a:solidFill>
                <a:latin typeface="Calibri" pitchFamily="34" charset="0"/>
                <a:ea typeface="Calibri" pitchFamily="34" charset="-122"/>
                <a:cs typeface="Calibri" pitchFamily="34" charset="-120"/>
              </a:rPr>
              <a:t>Analyse de code + 43 tests</a:t>
            </a:r>
            <a:endParaRPr lang="en-US" sz="1150" dirty="0"/>
          </a:p>
        </p:txBody>
      </p:sp>
      <p:sp>
        <p:nvSpPr>
          <p:cNvPr id="11" name="Shape 9"/>
          <p:cNvSpPr/>
          <p:nvPr/>
        </p:nvSpPr>
        <p:spPr>
          <a:xfrm>
            <a:off x="4114800" y="3794760"/>
            <a:ext cx="3566160" cy="1188720"/>
          </a:xfrm>
          <a:prstGeom prst="roundRect">
            <a:avLst>
              <a:gd name="adj" fmla="val 6154"/>
            </a:avLst>
          </a:prstGeom>
          <a:solidFill>
            <a:srgbClr val="FFFFFF"/>
          </a:solidFill>
          <a:ln w="25400">
            <a:solidFill>
              <a:srgbClr val="296E4A"/>
            </a:solidFill>
            <a:prstDash val="solid"/>
          </a:ln>
          <a:effectLst>
            <a:outerShdw sx="100000" sy="100000" kx="0" ky="0" algn="bl" rotWithShape="0" blurRad="88900" dist="38100" dir="5400000">
              <a:srgbClr val="000000">
                <a:alpha val="12000"/>
              </a:srgbClr>
            </a:outerShdw>
          </a:effectLst>
        </p:spPr>
      </p:sp>
      <p:sp>
        <p:nvSpPr>
          <p:cNvPr id="12" name="Text 10"/>
          <p:cNvSpPr/>
          <p:nvPr/>
        </p:nvSpPr>
        <p:spPr>
          <a:xfrm>
            <a:off x="4206240" y="3995928"/>
            <a:ext cx="3383280" cy="384048"/>
          </a:xfrm>
          <a:prstGeom prst="rect">
            <a:avLst/>
          </a:prstGeom>
          <a:noFill/>
          <a:ln/>
        </p:spPr>
        <p:txBody>
          <a:bodyPr wrap="square" lIns="0" tIns="0" rIns="0" bIns="0" rtlCol="0" anchor="ctr"/>
          <a:lstStyle/>
          <a:p>
            <a:pPr algn="ctr" indent="0" marL="0">
              <a:buNone/>
            </a:pPr>
            <a:r>
              <a:rPr lang="en-US" sz="1500" b="1" dirty="0">
                <a:solidFill>
                  <a:srgbClr val="296E4A"/>
                </a:solidFill>
                <a:latin typeface="Calibri" pitchFamily="34" charset="0"/>
                <a:ea typeface="Calibri" pitchFamily="34" charset="-122"/>
                <a:cs typeface="Calibri" pitchFamily="34" charset="-120"/>
              </a:rPr>
              <a:t>Job Frontend</a:t>
            </a:r>
            <a:endParaRPr lang="en-US" sz="1500" dirty="0"/>
          </a:p>
        </p:txBody>
      </p:sp>
      <p:sp>
        <p:nvSpPr>
          <p:cNvPr id="13" name="Text 11"/>
          <p:cNvSpPr/>
          <p:nvPr/>
        </p:nvSpPr>
        <p:spPr>
          <a:xfrm>
            <a:off x="4224528" y="4416552"/>
            <a:ext cx="3346704" cy="548640"/>
          </a:xfrm>
          <a:prstGeom prst="rect">
            <a:avLst/>
          </a:prstGeom>
          <a:noFill/>
          <a:ln/>
        </p:spPr>
        <p:txBody>
          <a:bodyPr wrap="square" lIns="0" tIns="0" rIns="0" bIns="0" rtlCol="0" anchor="ctr"/>
          <a:lstStyle/>
          <a:p>
            <a:pPr algn="ctr" indent="0" marL="0">
              <a:buNone/>
            </a:pPr>
            <a:r>
              <a:rPr lang="en-US" sz="1150" dirty="0">
                <a:solidFill>
                  <a:srgbClr val="5F5F5F"/>
                </a:solidFill>
                <a:latin typeface="Calibri" pitchFamily="34" charset="0"/>
                <a:ea typeface="Calibri" pitchFamily="34" charset="-122"/>
                <a:cs typeface="Calibri" pitchFamily="34" charset="-120"/>
              </a:rPr>
              <a:t>Compilation de l’application</a:t>
            </a:r>
            <a:endParaRPr lang="en-US" sz="1150" dirty="0"/>
          </a:p>
        </p:txBody>
      </p:sp>
      <p:sp>
        <p:nvSpPr>
          <p:cNvPr id="14" name="Text 12"/>
          <p:cNvSpPr/>
          <p:nvPr/>
        </p:nvSpPr>
        <p:spPr>
          <a:xfrm>
            <a:off x="7772400" y="3291840"/>
            <a:ext cx="640080" cy="457200"/>
          </a:xfrm>
          <a:prstGeom prst="rect">
            <a:avLst/>
          </a:prstGeom>
          <a:noFill/>
          <a:ln/>
        </p:spPr>
        <p:txBody>
          <a:bodyPr wrap="square" lIns="0" tIns="0" rIns="0" bIns="0" rtlCol="0" anchor="ctr"/>
          <a:lstStyle/>
          <a:p>
            <a:pPr algn="ctr" indent="0" marL="0">
              <a:buNone/>
            </a:pPr>
            <a:r>
              <a:rPr lang="en-US" sz="2400" b="1" dirty="0">
                <a:solidFill>
                  <a:srgbClr val="C3612D"/>
                </a:solidFill>
                <a:latin typeface="Calibri" pitchFamily="34" charset="0"/>
                <a:ea typeface="Calibri" pitchFamily="34" charset="-122"/>
                <a:cs typeface="Calibri" pitchFamily="34" charset="-120"/>
              </a:rPr>
              <a:t>→</a:t>
            </a:r>
            <a:endParaRPr lang="en-US" sz="2400" dirty="0"/>
          </a:p>
        </p:txBody>
      </p:sp>
      <p:sp>
        <p:nvSpPr>
          <p:cNvPr id="15" name="Shape 13"/>
          <p:cNvSpPr/>
          <p:nvPr/>
        </p:nvSpPr>
        <p:spPr>
          <a:xfrm>
            <a:off x="8503920" y="2971800"/>
            <a:ext cx="2834640" cy="1234440"/>
          </a:xfrm>
          <a:prstGeom prst="roundRect">
            <a:avLst>
              <a:gd name="adj" fmla="val 5926"/>
            </a:avLst>
          </a:prstGeom>
          <a:solidFill>
            <a:srgbClr val="FFFFFF"/>
          </a:solidFill>
          <a:ln w="25400">
            <a:solidFill>
              <a:srgbClr val="C3612D"/>
            </a:solidFill>
            <a:prstDash val="solid"/>
          </a:ln>
          <a:effectLst>
            <a:outerShdw sx="100000" sy="100000" kx="0" ky="0" algn="bl" rotWithShape="0" blurRad="88900" dist="38100" dir="5400000">
              <a:srgbClr val="000000">
                <a:alpha val="12000"/>
              </a:srgbClr>
            </a:outerShdw>
          </a:effectLst>
        </p:spPr>
      </p:sp>
      <p:sp>
        <p:nvSpPr>
          <p:cNvPr id="16" name="Text 14"/>
          <p:cNvSpPr/>
          <p:nvPr/>
        </p:nvSpPr>
        <p:spPr>
          <a:xfrm>
            <a:off x="8595360" y="3172968"/>
            <a:ext cx="2651760" cy="384048"/>
          </a:xfrm>
          <a:prstGeom prst="rect">
            <a:avLst/>
          </a:prstGeom>
          <a:noFill/>
          <a:ln/>
        </p:spPr>
        <p:txBody>
          <a:bodyPr wrap="square" lIns="0" tIns="0" rIns="0" bIns="0" rtlCol="0" anchor="ctr"/>
          <a:lstStyle/>
          <a:p>
            <a:pPr algn="ctr" indent="0" marL="0">
              <a:buNone/>
            </a:pPr>
            <a:r>
              <a:rPr lang="en-US" sz="1500" b="1" dirty="0">
                <a:solidFill>
                  <a:srgbClr val="C3612D"/>
                </a:solidFill>
                <a:latin typeface="Calibri" pitchFamily="34" charset="0"/>
                <a:ea typeface="Calibri" pitchFamily="34" charset="-122"/>
                <a:cs typeface="Calibri" pitchFamily="34" charset="-120"/>
              </a:rPr>
              <a:t>Résultat</a:t>
            </a:r>
            <a:endParaRPr lang="en-US" sz="1500" dirty="0"/>
          </a:p>
        </p:txBody>
      </p:sp>
      <p:sp>
        <p:nvSpPr>
          <p:cNvPr id="17" name="Text 15"/>
          <p:cNvSpPr/>
          <p:nvPr/>
        </p:nvSpPr>
        <p:spPr>
          <a:xfrm>
            <a:off x="8613648" y="3593592"/>
            <a:ext cx="2615184" cy="548640"/>
          </a:xfrm>
          <a:prstGeom prst="rect">
            <a:avLst/>
          </a:prstGeom>
          <a:noFill/>
          <a:ln/>
        </p:spPr>
        <p:txBody>
          <a:bodyPr wrap="square" lIns="0" tIns="0" rIns="0" bIns="0" rtlCol="0" anchor="ctr"/>
          <a:lstStyle/>
          <a:p>
            <a:pPr algn="ctr" indent="0" marL="0">
              <a:buNone/>
            </a:pPr>
            <a:r>
              <a:rPr lang="en-US" sz="1150" dirty="0">
                <a:solidFill>
                  <a:srgbClr val="5F5F5F"/>
                </a:solidFill>
                <a:latin typeface="Calibri" pitchFamily="34" charset="0"/>
                <a:ea typeface="Calibri" pitchFamily="34" charset="-122"/>
                <a:cs typeface="Calibri" pitchFamily="34" charset="-120"/>
              </a:rPr>
              <a:t>Au vert ou en échec</a:t>
            </a:r>
            <a:endParaRPr lang="en-US" sz="1150" dirty="0"/>
          </a:p>
        </p:txBody>
      </p:sp>
      <p:sp>
        <p:nvSpPr>
          <p:cNvPr id="18" name="Shape 16"/>
          <p:cNvSpPr/>
          <p:nvPr/>
        </p:nvSpPr>
        <p:spPr>
          <a:xfrm>
            <a:off x="640080" y="5120640"/>
            <a:ext cx="10881360" cy="777240"/>
          </a:xfrm>
          <a:prstGeom prst="roundRect">
            <a:avLst>
              <a:gd name="adj" fmla="val 7059"/>
            </a:avLst>
          </a:prstGeom>
          <a:solidFill>
            <a:srgbClr val="1A3C29"/>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19" name="Text 17"/>
          <p:cNvSpPr/>
          <p:nvPr/>
        </p:nvSpPr>
        <p:spPr>
          <a:xfrm>
            <a:off x="914400" y="5257800"/>
            <a:ext cx="10332720" cy="502920"/>
          </a:xfrm>
          <a:prstGeom prst="rect">
            <a:avLst/>
          </a:prstGeom>
          <a:noFill/>
          <a:ln/>
        </p:spPr>
        <p:txBody>
          <a:bodyPr wrap="square" lIns="0" tIns="0" rIns="0" bIns="0" rtlCol="0" anchor="ctr"/>
          <a:lstStyle/>
          <a:p>
            <a:pPr algn="ctr" indent="0" marL="0">
              <a:buNone/>
            </a:pPr>
            <a:r>
              <a:rPr lang="en-US" sz="1350" dirty="0">
                <a:solidFill>
                  <a:srgbClr val="D9D2C7"/>
                </a:solidFill>
                <a:latin typeface="Calibri" pitchFamily="34" charset="0"/>
                <a:ea typeface="Calibri" pitchFamily="34" charset="-122"/>
                <a:cs typeface="Calibri" pitchFamily="34" charset="-120"/>
              </a:rPr>
              <a:t>Deux jobs s’exécutent en parallèle à chaque modification : aucune vérification manuelle.</a:t>
            </a:r>
            <a:endParaRPr lang="en-US" sz="1350" dirty="0"/>
          </a:p>
        </p:txBody>
      </p:sp>
      <p:sp>
        <p:nvSpPr>
          <p:cNvPr id="20" name="Shape 18"/>
          <p:cNvSpPr/>
          <p:nvPr/>
        </p:nvSpPr>
        <p:spPr>
          <a:xfrm>
            <a:off x="0" y="6355080"/>
            <a:ext cx="12188952" cy="502920"/>
          </a:xfrm>
          <a:prstGeom prst="rect">
            <a:avLst/>
          </a:prstGeom>
          <a:solidFill>
            <a:srgbClr val="1A3C29"/>
          </a:solidFill>
          <a:ln w="12700">
            <a:solidFill>
              <a:srgbClr val="1A3C29"/>
            </a:solidFill>
            <a:prstDash val="solid"/>
          </a:ln>
        </p:spPr>
      </p:sp>
      <p:sp>
        <p:nvSpPr>
          <p:cNvPr id="21" name="Text 19"/>
          <p:cNvSpPr/>
          <p:nvPr/>
        </p:nvSpPr>
        <p:spPr>
          <a:xfrm>
            <a:off x="502920" y="6382512"/>
            <a:ext cx="4572000" cy="237744"/>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RENOIR&amp;ALINE</a:t>
            </a:r>
            <a:endParaRPr lang="en-US" sz="1000" dirty="0"/>
          </a:p>
        </p:txBody>
      </p:sp>
      <p:sp>
        <p:nvSpPr>
          <p:cNvPr id="22" name="Text 20"/>
          <p:cNvSpPr/>
          <p:nvPr/>
        </p:nvSpPr>
        <p:spPr>
          <a:xfrm>
            <a:off x="502920" y="6601968"/>
            <a:ext cx="4572000" cy="182880"/>
          </a:xfrm>
          <a:prstGeom prst="rect">
            <a:avLst/>
          </a:prstGeom>
          <a:noFill/>
          <a:ln/>
        </p:spPr>
        <p:txBody>
          <a:bodyPr wrap="square" lIns="0" tIns="0" rIns="0" bIns="0" rtlCol="0" anchor="ctr"/>
          <a:lstStyle/>
          <a:p>
            <a:pPr indent="0" marL="0">
              <a:buNone/>
            </a:pPr>
            <a:r>
              <a:rPr lang="en-US" sz="700" spc="200" kern="0" dirty="0">
                <a:solidFill>
                  <a:srgbClr val="8AA595"/>
                </a:solidFill>
                <a:latin typeface="Calibri" pitchFamily="34" charset="0"/>
                <a:ea typeface="Calibri" pitchFamily="34" charset="-122"/>
                <a:cs typeface="Calibri" pitchFamily="34" charset="-120"/>
              </a:rPr>
              <a:t>CONSTRUCTEUR DE SITE WEB</a:t>
            </a:r>
            <a:endParaRPr lang="en-US" sz="700" dirty="0"/>
          </a:p>
        </p:txBody>
      </p:sp>
      <p:sp>
        <p:nvSpPr>
          <p:cNvPr id="23" name="Text 21"/>
          <p:cNvSpPr/>
          <p:nvPr/>
        </p:nvSpPr>
        <p:spPr>
          <a:xfrm>
            <a:off x="10241280" y="6419088"/>
            <a:ext cx="1417320" cy="365760"/>
          </a:xfrm>
          <a:prstGeom prst="rect">
            <a:avLst/>
          </a:prstGeom>
          <a:noFill/>
          <a:ln/>
        </p:spPr>
        <p:txBody>
          <a:bodyPr wrap="square" lIns="0" tIns="0" rIns="0" bIns="0" rtlCol="0" anchor="ctr"/>
          <a:lstStyle/>
          <a:p>
            <a:pPr algn="r" indent="0" marL="0">
              <a:buNone/>
            </a:pPr>
            <a:r>
              <a:rPr lang="en-US" sz="1000" b="1" dirty="0">
                <a:solidFill>
                  <a:srgbClr val="FFFFFF"/>
                </a:solidFill>
                <a:latin typeface="Calibri" pitchFamily="34" charset="0"/>
                <a:ea typeface="Calibri" pitchFamily="34" charset="-122"/>
                <a:cs typeface="Calibri" pitchFamily="34" charset="-120"/>
              </a:rPr>
              <a:t>Page 10/21</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1ECE6"/>
        </a:solidFill>
      </p:bgPr>
    </p:bg>
    <p:spTree>
      <p:nvGrpSpPr>
        <p:cNvPr id="1" name=""/>
        <p:cNvGrpSpPr/>
        <p:nvPr/>
      </p:nvGrpSpPr>
      <p:grpSpPr>
        <a:xfrm>
          <a:off x="0" y="0"/>
          <a:ext cx="0" cy="0"/>
          <a:chOff x="0" y="0"/>
          <a:chExt cx="0" cy="0"/>
        </a:xfrm>
      </p:grpSpPr>
      <p:sp>
        <p:nvSpPr>
          <p:cNvPr id="2" name="Text 0"/>
          <p:cNvSpPr/>
          <p:nvPr/>
        </p:nvSpPr>
        <p:spPr>
          <a:xfrm>
            <a:off x="640080" y="384048"/>
            <a:ext cx="10881360" cy="292608"/>
          </a:xfrm>
          <a:prstGeom prst="rect">
            <a:avLst/>
          </a:prstGeom>
          <a:noFill/>
          <a:ln/>
        </p:spPr>
        <p:txBody>
          <a:bodyPr wrap="square" lIns="0" tIns="0" rIns="0" bIns="0" rtlCol="0" anchor="ctr"/>
          <a:lstStyle/>
          <a:p>
            <a:pPr indent="0" marL="0">
              <a:buNone/>
            </a:pPr>
            <a:r>
              <a:rPr lang="en-US" sz="1300" b="1" dirty="0">
                <a:solidFill>
                  <a:srgbClr val="C3612D"/>
                </a:solidFill>
                <a:latin typeface="Calibri" pitchFamily="34" charset="0"/>
                <a:ea typeface="Calibri" pitchFamily="34" charset="-122"/>
                <a:cs typeface="Calibri" pitchFamily="34" charset="-120"/>
              </a:rPr>
              <a:t>Processus de déploiement</a:t>
            </a:r>
            <a:endParaRPr lang="en-US" sz="1300" dirty="0"/>
          </a:p>
        </p:txBody>
      </p:sp>
      <p:sp>
        <p:nvSpPr>
          <p:cNvPr id="3" name="Text 1"/>
          <p:cNvSpPr/>
          <p:nvPr/>
        </p:nvSpPr>
        <p:spPr>
          <a:xfrm>
            <a:off x="640080" y="713232"/>
            <a:ext cx="10881360" cy="822960"/>
          </a:xfrm>
          <a:prstGeom prst="rect">
            <a:avLst/>
          </a:prstGeom>
          <a:noFill/>
          <a:ln/>
        </p:spPr>
        <p:txBody>
          <a:bodyPr wrap="square" lIns="0" tIns="0" rIns="0" bIns="0" rtlCol="0" anchor="ctr"/>
          <a:lstStyle/>
          <a:p>
            <a:pPr indent="0" marL="0">
              <a:buNone/>
            </a:pPr>
            <a:r>
              <a:rPr lang="en-US" sz="3400" b="1" dirty="0">
                <a:solidFill>
                  <a:srgbClr val="1A3C29"/>
                </a:solidFill>
                <a:latin typeface="Calibri" pitchFamily="34" charset="0"/>
                <a:ea typeface="Calibri" pitchFamily="34" charset="-122"/>
                <a:cs typeface="Calibri" pitchFamily="34" charset="-120"/>
              </a:rPr>
              <a:t>Étape 4 — Fusion validée</a:t>
            </a:r>
            <a:endParaRPr lang="en-US" sz="3400" dirty="0"/>
          </a:p>
        </p:txBody>
      </p:sp>
      <p:sp>
        <p:nvSpPr>
          <p:cNvPr id="4" name="Shape 2"/>
          <p:cNvSpPr/>
          <p:nvPr/>
        </p:nvSpPr>
        <p:spPr>
          <a:xfrm>
            <a:off x="731520" y="2971800"/>
            <a:ext cx="2926080" cy="1280160"/>
          </a:xfrm>
          <a:prstGeom prst="roundRect">
            <a:avLst>
              <a:gd name="adj" fmla="val 5714"/>
            </a:avLst>
          </a:prstGeom>
          <a:solidFill>
            <a:srgbClr val="FFFFFF"/>
          </a:solidFill>
          <a:ln w="25400">
            <a:solidFill>
              <a:srgbClr val="1A3C29"/>
            </a:solidFill>
            <a:prstDash val="solid"/>
          </a:ln>
          <a:effectLst>
            <a:outerShdw sx="100000" sy="100000" kx="0" ky="0" algn="bl" rotWithShape="0" blurRad="88900" dist="38100" dir="5400000">
              <a:srgbClr val="000000">
                <a:alpha val="12000"/>
              </a:srgbClr>
            </a:outerShdw>
          </a:effectLst>
        </p:spPr>
      </p:sp>
      <p:sp>
        <p:nvSpPr>
          <p:cNvPr id="5" name="Text 3"/>
          <p:cNvSpPr/>
          <p:nvPr/>
        </p:nvSpPr>
        <p:spPr>
          <a:xfrm>
            <a:off x="822960" y="3172968"/>
            <a:ext cx="2743200" cy="384048"/>
          </a:xfrm>
          <a:prstGeom prst="rect">
            <a:avLst/>
          </a:prstGeom>
          <a:noFill/>
          <a:ln/>
        </p:spPr>
        <p:txBody>
          <a:bodyPr wrap="square" lIns="0" tIns="0" rIns="0" bIns="0" rtlCol="0" anchor="ctr"/>
          <a:lstStyle/>
          <a:p>
            <a:pPr algn="ctr" indent="0" marL="0">
              <a:buNone/>
            </a:pPr>
            <a:r>
              <a:rPr lang="en-US" sz="1500" b="1" dirty="0">
                <a:solidFill>
                  <a:srgbClr val="1A3C29"/>
                </a:solidFill>
                <a:latin typeface="Calibri" pitchFamily="34" charset="0"/>
                <a:ea typeface="Calibri" pitchFamily="34" charset="-122"/>
                <a:cs typeface="Calibri" pitchFamily="34" charset="-120"/>
              </a:rPr>
              <a:t>Vérifications</a:t>
            </a:r>
            <a:endParaRPr lang="en-US" sz="1500" dirty="0"/>
          </a:p>
        </p:txBody>
      </p:sp>
      <p:sp>
        <p:nvSpPr>
          <p:cNvPr id="6" name="Text 4"/>
          <p:cNvSpPr/>
          <p:nvPr/>
        </p:nvSpPr>
        <p:spPr>
          <a:xfrm>
            <a:off x="841248" y="3593592"/>
            <a:ext cx="2706624" cy="548640"/>
          </a:xfrm>
          <a:prstGeom prst="rect">
            <a:avLst/>
          </a:prstGeom>
          <a:noFill/>
          <a:ln/>
        </p:spPr>
        <p:txBody>
          <a:bodyPr wrap="square" lIns="0" tIns="0" rIns="0" bIns="0" rtlCol="0" anchor="ctr"/>
          <a:lstStyle/>
          <a:p>
            <a:pPr algn="ctr" indent="0" marL="0">
              <a:buNone/>
            </a:pPr>
            <a:r>
              <a:rPr lang="en-US" sz="1150" dirty="0">
                <a:solidFill>
                  <a:srgbClr val="5F5F5F"/>
                </a:solidFill>
                <a:latin typeface="Calibri" pitchFamily="34" charset="0"/>
                <a:ea typeface="Calibri" pitchFamily="34" charset="-122"/>
                <a:cs typeface="Calibri" pitchFamily="34" charset="-120"/>
              </a:rPr>
              <a:t>Résultat de la CI</a:t>
            </a:r>
            <a:endParaRPr lang="en-US" sz="1150" dirty="0"/>
          </a:p>
        </p:txBody>
      </p:sp>
      <p:sp>
        <p:nvSpPr>
          <p:cNvPr id="7" name="Text 5"/>
          <p:cNvSpPr/>
          <p:nvPr/>
        </p:nvSpPr>
        <p:spPr>
          <a:xfrm>
            <a:off x="3794760" y="3291840"/>
            <a:ext cx="640080" cy="457200"/>
          </a:xfrm>
          <a:prstGeom prst="rect">
            <a:avLst/>
          </a:prstGeom>
          <a:noFill/>
          <a:ln/>
        </p:spPr>
        <p:txBody>
          <a:bodyPr wrap="square" lIns="0" tIns="0" rIns="0" bIns="0" rtlCol="0" anchor="ctr"/>
          <a:lstStyle/>
          <a:p>
            <a:pPr algn="ctr" indent="0" marL="0">
              <a:buNone/>
            </a:pPr>
            <a:r>
              <a:rPr lang="en-US" sz="2400" b="1" dirty="0">
                <a:solidFill>
                  <a:srgbClr val="C3612D"/>
                </a:solidFill>
                <a:latin typeface="Calibri" pitchFamily="34" charset="0"/>
                <a:ea typeface="Calibri" pitchFamily="34" charset="-122"/>
                <a:cs typeface="Calibri" pitchFamily="34" charset="-120"/>
              </a:rPr>
              <a:t>→</a:t>
            </a:r>
            <a:endParaRPr lang="en-US" sz="2400" dirty="0"/>
          </a:p>
        </p:txBody>
      </p:sp>
      <p:sp>
        <p:nvSpPr>
          <p:cNvPr id="8" name="Shape 6"/>
          <p:cNvSpPr/>
          <p:nvPr/>
        </p:nvSpPr>
        <p:spPr>
          <a:xfrm>
            <a:off x="4617720" y="2286000"/>
            <a:ext cx="6766560" cy="1234440"/>
          </a:xfrm>
          <a:prstGeom prst="roundRect">
            <a:avLst>
              <a:gd name="adj" fmla="val 5926"/>
            </a:avLst>
          </a:prstGeom>
          <a:solidFill>
            <a:srgbClr val="FFFFFF"/>
          </a:solidFill>
          <a:ln w="25400">
            <a:solidFill>
              <a:srgbClr val="1A3C29"/>
            </a:solidFill>
            <a:prstDash val="solid"/>
          </a:ln>
          <a:effectLst>
            <a:outerShdw sx="100000" sy="100000" kx="0" ky="0" algn="bl" rotWithShape="0" blurRad="88900" dist="38100" dir="5400000">
              <a:srgbClr val="000000">
                <a:alpha val="12000"/>
              </a:srgbClr>
            </a:outerShdw>
          </a:effectLst>
        </p:spPr>
      </p:sp>
      <p:sp>
        <p:nvSpPr>
          <p:cNvPr id="9" name="Text 7"/>
          <p:cNvSpPr/>
          <p:nvPr/>
        </p:nvSpPr>
        <p:spPr>
          <a:xfrm>
            <a:off x="4709160" y="2487168"/>
            <a:ext cx="6583680" cy="384048"/>
          </a:xfrm>
          <a:prstGeom prst="rect">
            <a:avLst/>
          </a:prstGeom>
          <a:noFill/>
          <a:ln/>
        </p:spPr>
        <p:txBody>
          <a:bodyPr wrap="square" lIns="0" tIns="0" rIns="0" bIns="0" rtlCol="0" anchor="ctr"/>
          <a:lstStyle/>
          <a:p>
            <a:pPr algn="ctr" indent="0" marL="0">
              <a:buNone/>
            </a:pPr>
            <a:r>
              <a:rPr lang="en-US" sz="1500" b="1" dirty="0">
                <a:solidFill>
                  <a:srgbClr val="1A3C29"/>
                </a:solidFill>
                <a:latin typeface="Calibri" pitchFamily="34" charset="0"/>
                <a:ea typeface="Calibri" pitchFamily="34" charset="-122"/>
                <a:cs typeface="Calibri" pitchFamily="34" charset="-120"/>
              </a:rPr>
              <a:t>Tout au vert : fusion autorisée</a:t>
            </a:r>
            <a:endParaRPr lang="en-US" sz="1500" dirty="0"/>
          </a:p>
        </p:txBody>
      </p:sp>
      <p:sp>
        <p:nvSpPr>
          <p:cNvPr id="10" name="Text 8"/>
          <p:cNvSpPr/>
          <p:nvPr/>
        </p:nvSpPr>
        <p:spPr>
          <a:xfrm>
            <a:off x="4727448" y="2907792"/>
            <a:ext cx="6547104" cy="548640"/>
          </a:xfrm>
          <a:prstGeom prst="rect">
            <a:avLst/>
          </a:prstGeom>
          <a:noFill/>
          <a:ln/>
        </p:spPr>
        <p:txBody>
          <a:bodyPr wrap="square" lIns="0" tIns="0" rIns="0" bIns="0" rtlCol="0" anchor="ctr"/>
          <a:lstStyle/>
          <a:p>
            <a:pPr algn="ctr" indent="0" marL="0">
              <a:buNone/>
            </a:pPr>
            <a:r>
              <a:rPr lang="en-US" sz="1150" dirty="0">
                <a:solidFill>
                  <a:srgbClr val="5F5F5F"/>
                </a:solidFill>
                <a:latin typeface="Calibri" pitchFamily="34" charset="0"/>
                <a:ea typeface="Calibri" pitchFamily="34" charset="-122"/>
                <a:cs typeface="Calibri" pitchFamily="34" charset="-120"/>
              </a:rPr>
              <a:t>master est mis à jour et reste déployable</a:t>
            </a:r>
            <a:endParaRPr lang="en-US" sz="1150" dirty="0"/>
          </a:p>
        </p:txBody>
      </p:sp>
      <p:sp>
        <p:nvSpPr>
          <p:cNvPr id="11" name="Shape 9"/>
          <p:cNvSpPr/>
          <p:nvPr/>
        </p:nvSpPr>
        <p:spPr>
          <a:xfrm>
            <a:off x="4617720" y="3794760"/>
            <a:ext cx="6766560" cy="1234440"/>
          </a:xfrm>
          <a:prstGeom prst="roundRect">
            <a:avLst>
              <a:gd name="adj" fmla="val 5926"/>
            </a:avLst>
          </a:prstGeom>
          <a:solidFill>
            <a:srgbClr val="FFFFFF"/>
          </a:solidFill>
          <a:ln w="25400">
            <a:solidFill>
              <a:srgbClr val="C3612D"/>
            </a:solidFill>
            <a:prstDash val="solid"/>
          </a:ln>
          <a:effectLst>
            <a:outerShdw sx="100000" sy="100000" kx="0" ky="0" algn="bl" rotWithShape="0" blurRad="88900" dist="38100" dir="5400000">
              <a:srgbClr val="000000">
                <a:alpha val="12000"/>
              </a:srgbClr>
            </a:outerShdw>
          </a:effectLst>
        </p:spPr>
      </p:sp>
      <p:sp>
        <p:nvSpPr>
          <p:cNvPr id="12" name="Text 10"/>
          <p:cNvSpPr/>
          <p:nvPr/>
        </p:nvSpPr>
        <p:spPr>
          <a:xfrm>
            <a:off x="4709160" y="3995928"/>
            <a:ext cx="6583680" cy="384048"/>
          </a:xfrm>
          <a:prstGeom prst="rect">
            <a:avLst/>
          </a:prstGeom>
          <a:noFill/>
          <a:ln/>
        </p:spPr>
        <p:txBody>
          <a:bodyPr wrap="square" lIns="0" tIns="0" rIns="0" bIns="0" rtlCol="0" anchor="ctr"/>
          <a:lstStyle/>
          <a:p>
            <a:pPr algn="ctr" indent="0" marL="0">
              <a:buNone/>
            </a:pPr>
            <a:r>
              <a:rPr lang="en-US" sz="1500" b="1" dirty="0">
                <a:solidFill>
                  <a:srgbClr val="C3612D"/>
                </a:solidFill>
                <a:latin typeface="Calibri" pitchFamily="34" charset="0"/>
                <a:ea typeface="Calibri" pitchFamily="34" charset="-122"/>
                <a:cs typeface="Calibri" pitchFamily="34" charset="-120"/>
              </a:rPr>
              <a:t>Un test échoue : fusion bloquée</a:t>
            </a:r>
            <a:endParaRPr lang="en-US" sz="1500" dirty="0"/>
          </a:p>
        </p:txBody>
      </p:sp>
      <p:sp>
        <p:nvSpPr>
          <p:cNvPr id="13" name="Text 11"/>
          <p:cNvSpPr/>
          <p:nvPr/>
        </p:nvSpPr>
        <p:spPr>
          <a:xfrm>
            <a:off x="4727448" y="4416552"/>
            <a:ext cx="6547104" cy="548640"/>
          </a:xfrm>
          <a:prstGeom prst="rect">
            <a:avLst/>
          </a:prstGeom>
          <a:noFill/>
          <a:ln/>
        </p:spPr>
        <p:txBody>
          <a:bodyPr wrap="square" lIns="0" tIns="0" rIns="0" bIns="0" rtlCol="0" anchor="ctr"/>
          <a:lstStyle/>
          <a:p>
            <a:pPr algn="ctr" indent="0" marL="0">
              <a:buNone/>
            </a:pPr>
            <a:r>
              <a:rPr lang="en-US" sz="1150" dirty="0">
                <a:solidFill>
                  <a:srgbClr val="5F5F5F"/>
                </a:solidFill>
                <a:latin typeface="Calibri" pitchFamily="34" charset="0"/>
                <a:ea typeface="Calibri" pitchFamily="34" charset="-122"/>
                <a:cs typeface="Calibri" pitchFamily="34" charset="-120"/>
              </a:rPr>
              <a:t>Le développeur corrige, puis le cycle recommence</a:t>
            </a:r>
            <a:endParaRPr lang="en-US" sz="1150" dirty="0"/>
          </a:p>
        </p:txBody>
      </p:sp>
      <p:sp>
        <p:nvSpPr>
          <p:cNvPr id="14" name="Shape 12"/>
          <p:cNvSpPr/>
          <p:nvPr/>
        </p:nvSpPr>
        <p:spPr>
          <a:xfrm>
            <a:off x="640080" y="5120640"/>
            <a:ext cx="10881360" cy="777240"/>
          </a:xfrm>
          <a:prstGeom prst="roundRect">
            <a:avLst>
              <a:gd name="adj" fmla="val 7059"/>
            </a:avLst>
          </a:prstGeom>
          <a:solidFill>
            <a:srgbClr val="1A3C29"/>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15" name="Text 13"/>
          <p:cNvSpPr/>
          <p:nvPr/>
        </p:nvSpPr>
        <p:spPr>
          <a:xfrm>
            <a:off x="914400" y="5257800"/>
            <a:ext cx="10332720" cy="502920"/>
          </a:xfrm>
          <a:prstGeom prst="rect">
            <a:avLst/>
          </a:prstGeom>
          <a:noFill/>
          <a:ln/>
        </p:spPr>
        <p:txBody>
          <a:bodyPr wrap="square" lIns="0" tIns="0" rIns="0" bIns="0" rtlCol="0" anchor="ctr"/>
          <a:lstStyle/>
          <a:p>
            <a:pPr algn="ctr" indent="0" marL="0">
              <a:buNone/>
            </a:pPr>
            <a:r>
              <a:rPr lang="en-US" sz="1350" dirty="0">
                <a:solidFill>
                  <a:srgbClr val="D9D2C7"/>
                </a:solidFill>
                <a:latin typeface="Calibri" pitchFamily="34" charset="0"/>
                <a:ea typeface="Calibri" pitchFamily="34" charset="-122"/>
                <a:cs typeface="Calibri" pitchFamily="34" charset="-120"/>
              </a:rPr>
              <a:t>master reste toujours stable : aucune régression ne peut être intégrée.</a:t>
            </a:r>
            <a:endParaRPr lang="en-US" sz="1350" dirty="0"/>
          </a:p>
        </p:txBody>
      </p:sp>
      <p:sp>
        <p:nvSpPr>
          <p:cNvPr id="16" name="Shape 14"/>
          <p:cNvSpPr/>
          <p:nvPr/>
        </p:nvSpPr>
        <p:spPr>
          <a:xfrm>
            <a:off x="0" y="6355080"/>
            <a:ext cx="12188952" cy="502920"/>
          </a:xfrm>
          <a:prstGeom prst="rect">
            <a:avLst/>
          </a:prstGeom>
          <a:solidFill>
            <a:srgbClr val="1A3C29"/>
          </a:solidFill>
          <a:ln w="12700">
            <a:solidFill>
              <a:srgbClr val="1A3C29"/>
            </a:solidFill>
            <a:prstDash val="solid"/>
          </a:ln>
        </p:spPr>
      </p:sp>
      <p:sp>
        <p:nvSpPr>
          <p:cNvPr id="17" name="Text 15"/>
          <p:cNvSpPr/>
          <p:nvPr/>
        </p:nvSpPr>
        <p:spPr>
          <a:xfrm>
            <a:off x="502920" y="6382512"/>
            <a:ext cx="4572000" cy="237744"/>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RENOIR&amp;ALINE</a:t>
            </a:r>
            <a:endParaRPr lang="en-US" sz="1000" dirty="0"/>
          </a:p>
        </p:txBody>
      </p:sp>
      <p:sp>
        <p:nvSpPr>
          <p:cNvPr id="18" name="Text 16"/>
          <p:cNvSpPr/>
          <p:nvPr/>
        </p:nvSpPr>
        <p:spPr>
          <a:xfrm>
            <a:off x="502920" y="6601968"/>
            <a:ext cx="4572000" cy="182880"/>
          </a:xfrm>
          <a:prstGeom prst="rect">
            <a:avLst/>
          </a:prstGeom>
          <a:noFill/>
          <a:ln/>
        </p:spPr>
        <p:txBody>
          <a:bodyPr wrap="square" lIns="0" tIns="0" rIns="0" bIns="0" rtlCol="0" anchor="ctr"/>
          <a:lstStyle/>
          <a:p>
            <a:pPr indent="0" marL="0">
              <a:buNone/>
            </a:pPr>
            <a:r>
              <a:rPr lang="en-US" sz="700" spc="200" kern="0" dirty="0">
                <a:solidFill>
                  <a:srgbClr val="8AA595"/>
                </a:solidFill>
                <a:latin typeface="Calibri" pitchFamily="34" charset="0"/>
                <a:ea typeface="Calibri" pitchFamily="34" charset="-122"/>
                <a:cs typeface="Calibri" pitchFamily="34" charset="-120"/>
              </a:rPr>
              <a:t>CONSTRUCTEUR DE SITE WEB</a:t>
            </a:r>
            <a:endParaRPr lang="en-US" sz="700" dirty="0"/>
          </a:p>
        </p:txBody>
      </p:sp>
      <p:sp>
        <p:nvSpPr>
          <p:cNvPr id="19" name="Text 17"/>
          <p:cNvSpPr/>
          <p:nvPr/>
        </p:nvSpPr>
        <p:spPr>
          <a:xfrm>
            <a:off x="10241280" y="6419088"/>
            <a:ext cx="1417320" cy="365760"/>
          </a:xfrm>
          <a:prstGeom prst="rect">
            <a:avLst/>
          </a:prstGeom>
          <a:noFill/>
          <a:ln/>
        </p:spPr>
        <p:txBody>
          <a:bodyPr wrap="square" lIns="0" tIns="0" rIns="0" bIns="0" rtlCol="0" anchor="ctr"/>
          <a:lstStyle/>
          <a:p>
            <a:pPr algn="r" indent="0" marL="0">
              <a:buNone/>
            </a:pPr>
            <a:r>
              <a:rPr lang="en-US" sz="1000" b="1" dirty="0">
                <a:solidFill>
                  <a:srgbClr val="FFFFFF"/>
                </a:solidFill>
                <a:latin typeface="Calibri" pitchFamily="34" charset="0"/>
                <a:ea typeface="Calibri" pitchFamily="34" charset="-122"/>
                <a:cs typeface="Calibri" pitchFamily="34" charset="-120"/>
              </a:rPr>
              <a:t>Page 11/21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1ECE6"/>
        </a:solidFill>
      </p:bgPr>
    </p:bg>
    <p:spTree>
      <p:nvGrpSpPr>
        <p:cNvPr id="1" name=""/>
        <p:cNvGrpSpPr/>
        <p:nvPr/>
      </p:nvGrpSpPr>
      <p:grpSpPr>
        <a:xfrm>
          <a:off x="0" y="0"/>
          <a:ext cx="0" cy="0"/>
          <a:chOff x="0" y="0"/>
          <a:chExt cx="0" cy="0"/>
        </a:xfrm>
      </p:grpSpPr>
      <p:sp>
        <p:nvSpPr>
          <p:cNvPr id="2" name="Text 0"/>
          <p:cNvSpPr/>
          <p:nvPr/>
        </p:nvSpPr>
        <p:spPr>
          <a:xfrm>
            <a:off x="640080" y="384048"/>
            <a:ext cx="10881360" cy="292608"/>
          </a:xfrm>
          <a:prstGeom prst="rect">
            <a:avLst/>
          </a:prstGeom>
          <a:noFill/>
          <a:ln/>
        </p:spPr>
        <p:txBody>
          <a:bodyPr wrap="square" lIns="0" tIns="0" rIns="0" bIns="0" rtlCol="0" anchor="ctr"/>
          <a:lstStyle/>
          <a:p>
            <a:pPr indent="0" marL="0">
              <a:buNone/>
            </a:pPr>
            <a:r>
              <a:rPr lang="en-US" sz="1300" b="1" dirty="0">
                <a:solidFill>
                  <a:srgbClr val="C3612D"/>
                </a:solidFill>
                <a:latin typeface="Calibri" pitchFamily="34" charset="0"/>
                <a:ea typeface="Calibri" pitchFamily="34" charset="-122"/>
                <a:cs typeface="Calibri" pitchFamily="34" charset="-120"/>
              </a:rPr>
              <a:t>Processus de déploiement</a:t>
            </a:r>
            <a:endParaRPr lang="en-US" sz="1300" dirty="0"/>
          </a:p>
        </p:txBody>
      </p:sp>
      <p:sp>
        <p:nvSpPr>
          <p:cNvPr id="3" name="Text 1"/>
          <p:cNvSpPr/>
          <p:nvPr/>
        </p:nvSpPr>
        <p:spPr>
          <a:xfrm>
            <a:off x="640080" y="713232"/>
            <a:ext cx="10881360" cy="822960"/>
          </a:xfrm>
          <a:prstGeom prst="rect">
            <a:avLst/>
          </a:prstGeom>
          <a:noFill/>
          <a:ln/>
        </p:spPr>
        <p:txBody>
          <a:bodyPr wrap="square" lIns="0" tIns="0" rIns="0" bIns="0" rtlCol="0" anchor="ctr"/>
          <a:lstStyle/>
          <a:p>
            <a:pPr indent="0" marL="0">
              <a:buNone/>
            </a:pPr>
            <a:r>
              <a:rPr lang="en-US" sz="3400" b="1" dirty="0">
                <a:solidFill>
                  <a:srgbClr val="1A3C29"/>
                </a:solidFill>
                <a:latin typeface="Calibri" pitchFamily="34" charset="0"/>
                <a:ea typeface="Calibri" pitchFamily="34" charset="-122"/>
                <a:cs typeface="Calibri" pitchFamily="34" charset="-120"/>
              </a:rPr>
              <a:t>Étape 5 — Déploiement Docker</a:t>
            </a:r>
            <a:endParaRPr lang="en-US" sz="3400" dirty="0"/>
          </a:p>
        </p:txBody>
      </p:sp>
      <p:sp>
        <p:nvSpPr>
          <p:cNvPr id="4" name="Shape 2"/>
          <p:cNvSpPr/>
          <p:nvPr/>
        </p:nvSpPr>
        <p:spPr>
          <a:xfrm>
            <a:off x="685800" y="3017520"/>
            <a:ext cx="2651760" cy="1188720"/>
          </a:xfrm>
          <a:prstGeom prst="roundRect">
            <a:avLst>
              <a:gd name="adj" fmla="val 6154"/>
            </a:avLst>
          </a:prstGeom>
          <a:solidFill>
            <a:srgbClr val="FFFFFF"/>
          </a:solidFill>
          <a:ln w="25400">
            <a:solidFill>
              <a:srgbClr val="1A3C29"/>
            </a:solidFill>
            <a:prstDash val="solid"/>
          </a:ln>
          <a:effectLst>
            <a:outerShdw sx="100000" sy="100000" kx="0" ky="0" algn="bl" rotWithShape="0" blurRad="88900" dist="38100" dir="5400000">
              <a:srgbClr val="000000">
                <a:alpha val="12000"/>
              </a:srgbClr>
            </a:outerShdw>
          </a:effectLst>
        </p:spPr>
      </p:sp>
      <p:sp>
        <p:nvSpPr>
          <p:cNvPr id="5" name="Text 3"/>
          <p:cNvSpPr/>
          <p:nvPr/>
        </p:nvSpPr>
        <p:spPr>
          <a:xfrm>
            <a:off x="777240" y="3218688"/>
            <a:ext cx="2468880" cy="384048"/>
          </a:xfrm>
          <a:prstGeom prst="rect">
            <a:avLst/>
          </a:prstGeom>
          <a:noFill/>
          <a:ln/>
        </p:spPr>
        <p:txBody>
          <a:bodyPr wrap="square" lIns="0" tIns="0" rIns="0" bIns="0" rtlCol="0" anchor="ctr"/>
          <a:lstStyle/>
          <a:p>
            <a:pPr algn="ctr" indent="0" marL="0">
              <a:buNone/>
            </a:pPr>
            <a:r>
              <a:rPr lang="en-US" sz="1500" b="1" dirty="0">
                <a:solidFill>
                  <a:srgbClr val="1A3C29"/>
                </a:solidFill>
                <a:latin typeface="Calibri" pitchFamily="34" charset="0"/>
                <a:ea typeface="Calibri" pitchFamily="34" charset="-122"/>
                <a:cs typeface="Calibri" pitchFamily="34" charset="-120"/>
              </a:rPr>
              <a:t>docker compose up</a:t>
            </a:r>
            <a:endParaRPr lang="en-US" sz="1500" dirty="0"/>
          </a:p>
        </p:txBody>
      </p:sp>
      <p:sp>
        <p:nvSpPr>
          <p:cNvPr id="6" name="Text 4"/>
          <p:cNvSpPr/>
          <p:nvPr/>
        </p:nvSpPr>
        <p:spPr>
          <a:xfrm>
            <a:off x="795528" y="3639312"/>
            <a:ext cx="2432304" cy="548640"/>
          </a:xfrm>
          <a:prstGeom prst="rect">
            <a:avLst/>
          </a:prstGeom>
          <a:noFill/>
          <a:ln/>
        </p:spPr>
        <p:txBody>
          <a:bodyPr wrap="square" lIns="0" tIns="0" rIns="0" bIns="0" rtlCol="0" anchor="ctr"/>
          <a:lstStyle/>
          <a:p>
            <a:pPr algn="ctr" indent="0" marL="0">
              <a:buNone/>
            </a:pPr>
            <a:r>
              <a:rPr lang="en-US" sz="1150" dirty="0">
                <a:solidFill>
                  <a:srgbClr val="5F5F5F"/>
                </a:solidFill>
                <a:latin typeface="Calibri" pitchFamily="34" charset="0"/>
                <a:ea typeface="Calibri" pitchFamily="34" charset="-122"/>
                <a:cs typeface="Calibri" pitchFamily="34" charset="-120"/>
              </a:rPr>
              <a:t>Une seule commande</a:t>
            </a:r>
            <a:endParaRPr lang="en-US" sz="1150" dirty="0"/>
          </a:p>
        </p:txBody>
      </p:sp>
      <p:sp>
        <p:nvSpPr>
          <p:cNvPr id="7" name="Text 5"/>
          <p:cNvSpPr/>
          <p:nvPr/>
        </p:nvSpPr>
        <p:spPr>
          <a:xfrm>
            <a:off x="3429000" y="3337560"/>
            <a:ext cx="640080" cy="457200"/>
          </a:xfrm>
          <a:prstGeom prst="rect">
            <a:avLst/>
          </a:prstGeom>
          <a:noFill/>
          <a:ln/>
        </p:spPr>
        <p:txBody>
          <a:bodyPr wrap="square" lIns="0" tIns="0" rIns="0" bIns="0" rtlCol="0" anchor="ctr"/>
          <a:lstStyle/>
          <a:p>
            <a:pPr algn="ctr" indent="0" marL="0">
              <a:buNone/>
            </a:pPr>
            <a:r>
              <a:rPr lang="en-US" sz="2400" b="1" dirty="0">
                <a:solidFill>
                  <a:srgbClr val="C3612D"/>
                </a:solidFill>
                <a:latin typeface="Calibri" pitchFamily="34" charset="0"/>
                <a:ea typeface="Calibri" pitchFamily="34" charset="-122"/>
                <a:cs typeface="Calibri" pitchFamily="34" charset="-120"/>
              </a:rPr>
              <a:t>→</a:t>
            </a:r>
            <a:endParaRPr lang="en-US" sz="2400" dirty="0"/>
          </a:p>
        </p:txBody>
      </p:sp>
      <p:sp>
        <p:nvSpPr>
          <p:cNvPr id="8" name="Shape 6"/>
          <p:cNvSpPr/>
          <p:nvPr/>
        </p:nvSpPr>
        <p:spPr>
          <a:xfrm>
            <a:off x="4206240" y="2286000"/>
            <a:ext cx="7315200" cy="2743200"/>
          </a:xfrm>
          <a:prstGeom prst="roundRect">
            <a:avLst>
              <a:gd name="adj" fmla="val 2000"/>
            </a:avLst>
          </a:prstGeom>
          <a:solidFill>
            <a:srgbClr val="E8F1EA"/>
          </a:solidFill>
          <a:ln w="25400">
            <a:solidFill>
              <a:srgbClr val="1A3C29"/>
            </a:solidFill>
            <a:prstDash val="solid"/>
          </a:ln>
        </p:spPr>
      </p:sp>
      <p:sp>
        <p:nvSpPr>
          <p:cNvPr id="9" name="Text 7"/>
          <p:cNvSpPr/>
          <p:nvPr/>
        </p:nvSpPr>
        <p:spPr>
          <a:xfrm>
            <a:off x="4206240" y="2423160"/>
            <a:ext cx="7315200" cy="365760"/>
          </a:xfrm>
          <a:prstGeom prst="rect">
            <a:avLst/>
          </a:prstGeom>
          <a:noFill/>
          <a:ln/>
        </p:spPr>
        <p:txBody>
          <a:bodyPr wrap="square" lIns="0" tIns="0" rIns="0" bIns="0" rtlCol="0" anchor="ctr"/>
          <a:lstStyle/>
          <a:p>
            <a:pPr algn="ctr" indent="0" marL="0">
              <a:buNone/>
            </a:pPr>
            <a:r>
              <a:rPr lang="en-US" sz="1400" b="1" dirty="0">
                <a:solidFill>
                  <a:srgbClr val="1A3C29"/>
                </a:solidFill>
                <a:latin typeface="Calibri" pitchFamily="34" charset="0"/>
                <a:ea typeface="Calibri" pitchFamily="34" charset="-122"/>
                <a:cs typeface="Calibri" pitchFamily="34" charset="-120"/>
              </a:rPr>
              <a:t>Réseau Docker privé</a:t>
            </a:r>
            <a:endParaRPr lang="en-US" sz="1400" dirty="0"/>
          </a:p>
        </p:txBody>
      </p:sp>
      <p:sp>
        <p:nvSpPr>
          <p:cNvPr id="10" name="Shape 8"/>
          <p:cNvSpPr/>
          <p:nvPr/>
        </p:nvSpPr>
        <p:spPr>
          <a:xfrm>
            <a:off x="4434840" y="3200400"/>
            <a:ext cx="2103120" cy="1188720"/>
          </a:xfrm>
          <a:prstGeom prst="roundRect">
            <a:avLst>
              <a:gd name="adj" fmla="val 6154"/>
            </a:avLst>
          </a:prstGeom>
          <a:solidFill>
            <a:srgbClr val="FFFFFF"/>
          </a:solidFill>
          <a:ln w="25400">
            <a:solidFill>
              <a:srgbClr val="1A3C29"/>
            </a:solidFill>
            <a:prstDash val="solid"/>
          </a:ln>
          <a:effectLst>
            <a:outerShdw sx="100000" sy="100000" kx="0" ky="0" algn="bl" rotWithShape="0" blurRad="88900" dist="38100" dir="5400000">
              <a:srgbClr val="000000">
                <a:alpha val="12000"/>
              </a:srgbClr>
            </a:outerShdw>
          </a:effectLst>
        </p:spPr>
      </p:sp>
      <p:sp>
        <p:nvSpPr>
          <p:cNvPr id="11" name="Text 9"/>
          <p:cNvSpPr/>
          <p:nvPr/>
        </p:nvSpPr>
        <p:spPr>
          <a:xfrm>
            <a:off x="4526280" y="3401568"/>
            <a:ext cx="1920240" cy="384048"/>
          </a:xfrm>
          <a:prstGeom prst="rect">
            <a:avLst/>
          </a:prstGeom>
          <a:noFill/>
          <a:ln/>
        </p:spPr>
        <p:txBody>
          <a:bodyPr wrap="square" lIns="0" tIns="0" rIns="0" bIns="0" rtlCol="0" anchor="ctr"/>
          <a:lstStyle/>
          <a:p>
            <a:pPr algn="ctr" indent="0" marL="0">
              <a:buNone/>
            </a:pPr>
            <a:r>
              <a:rPr lang="en-US" sz="1500" b="1" dirty="0">
                <a:solidFill>
                  <a:srgbClr val="1A3C29"/>
                </a:solidFill>
                <a:latin typeface="Calibri" pitchFamily="34" charset="0"/>
                <a:ea typeface="Calibri" pitchFamily="34" charset="-122"/>
                <a:cs typeface="Calibri" pitchFamily="34" charset="-120"/>
              </a:rPr>
              <a:t>Frontend</a:t>
            </a:r>
            <a:endParaRPr lang="en-US" sz="1500" dirty="0"/>
          </a:p>
        </p:txBody>
      </p:sp>
      <p:sp>
        <p:nvSpPr>
          <p:cNvPr id="12" name="Text 10"/>
          <p:cNvSpPr/>
          <p:nvPr/>
        </p:nvSpPr>
        <p:spPr>
          <a:xfrm>
            <a:off x="4544568" y="3822192"/>
            <a:ext cx="1883664" cy="548640"/>
          </a:xfrm>
          <a:prstGeom prst="rect">
            <a:avLst/>
          </a:prstGeom>
          <a:noFill/>
          <a:ln/>
        </p:spPr>
        <p:txBody>
          <a:bodyPr wrap="square" lIns="0" tIns="0" rIns="0" bIns="0" rtlCol="0" anchor="ctr"/>
          <a:lstStyle/>
          <a:p>
            <a:pPr algn="ctr" indent="0" marL="0">
              <a:buNone/>
            </a:pPr>
            <a:r>
              <a:rPr lang="en-US" sz="1150" dirty="0">
                <a:solidFill>
                  <a:srgbClr val="5F5F5F"/>
                </a:solidFill>
                <a:latin typeface="Calibri" pitchFamily="34" charset="0"/>
                <a:ea typeface="Calibri" pitchFamily="34" charset="-122"/>
                <a:cs typeface="Calibri" pitchFamily="34" charset="-120"/>
              </a:rPr>
              <a:t>port 3000</a:t>
            </a:r>
            <a:endParaRPr lang="en-US" sz="1150" dirty="0"/>
          </a:p>
        </p:txBody>
      </p:sp>
      <p:sp>
        <p:nvSpPr>
          <p:cNvPr id="13" name="Shape 11"/>
          <p:cNvSpPr/>
          <p:nvPr/>
        </p:nvSpPr>
        <p:spPr>
          <a:xfrm>
            <a:off x="6812280" y="3200400"/>
            <a:ext cx="2103120" cy="1188720"/>
          </a:xfrm>
          <a:prstGeom prst="roundRect">
            <a:avLst>
              <a:gd name="adj" fmla="val 6154"/>
            </a:avLst>
          </a:prstGeom>
          <a:solidFill>
            <a:srgbClr val="FFFFFF"/>
          </a:solidFill>
          <a:ln w="25400">
            <a:solidFill>
              <a:srgbClr val="296E4A"/>
            </a:solidFill>
            <a:prstDash val="solid"/>
          </a:ln>
          <a:effectLst>
            <a:outerShdw sx="100000" sy="100000" kx="0" ky="0" algn="bl" rotWithShape="0" blurRad="88900" dist="38100" dir="5400000">
              <a:srgbClr val="000000">
                <a:alpha val="12000"/>
              </a:srgbClr>
            </a:outerShdw>
          </a:effectLst>
        </p:spPr>
      </p:sp>
      <p:sp>
        <p:nvSpPr>
          <p:cNvPr id="14" name="Text 12"/>
          <p:cNvSpPr/>
          <p:nvPr/>
        </p:nvSpPr>
        <p:spPr>
          <a:xfrm>
            <a:off x="6903720" y="3401568"/>
            <a:ext cx="1920240" cy="384048"/>
          </a:xfrm>
          <a:prstGeom prst="rect">
            <a:avLst/>
          </a:prstGeom>
          <a:noFill/>
          <a:ln/>
        </p:spPr>
        <p:txBody>
          <a:bodyPr wrap="square" lIns="0" tIns="0" rIns="0" bIns="0" rtlCol="0" anchor="ctr"/>
          <a:lstStyle/>
          <a:p>
            <a:pPr algn="ctr" indent="0" marL="0">
              <a:buNone/>
            </a:pPr>
            <a:r>
              <a:rPr lang="en-US" sz="1500" b="1" dirty="0">
                <a:solidFill>
                  <a:srgbClr val="296E4A"/>
                </a:solidFill>
                <a:latin typeface="Calibri" pitchFamily="34" charset="0"/>
                <a:ea typeface="Calibri" pitchFamily="34" charset="-122"/>
                <a:cs typeface="Calibri" pitchFamily="34" charset="-120"/>
              </a:rPr>
              <a:t>Backend</a:t>
            </a:r>
            <a:endParaRPr lang="en-US" sz="1500" dirty="0"/>
          </a:p>
        </p:txBody>
      </p:sp>
      <p:sp>
        <p:nvSpPr>
          <p:cNvPr id="15" name="Text 13"/>
          <p:cNvSpPr/>
          <p:nvPr/>
        </p:nvSpPr>
        <p:spPr>
          <a:xfrm>
            <a:off x="6922008" y="3822192"/>
            <a:ext cx="1883664" cy="548640"/>
          </a:xfrm>
          <a:prstGeom prst="rect">
            <a:avLst/>
          </a:prstGeom>
          <a:noFill/>
          <a:ln/>
        </p:spPr>
        <p:txBody>
          <a:bodyPr wrap="square" lIns="0" tIns="0" rIns="0" bIns="0" rtlCol="0" anchor="ctr"/>
          <a:lstStyle/>
          <a:p>
            <a:pPr algn="ctr" indent="0" marL="0">
              <a:buNone/>
            </a:pPr>
            <a:r>
              <a:rPr lang="en-US" sz="1150" dirty="0">
                <a:solidFill>
                  <a:srgbClr val="5F5F5F"/>
                </a:solidFill>
                <a:latin typeface="Calibri" pitchFamily="34" charset="0"/>
                <a:ea typeface="Calibri" pitchFamily="34" charset="-122"/>
                <a:cs typeface="Calibri" pitchFamily="34" charset="-120"/>
              </a:rPr>
              <a:t>port 5001</a:t>
            </a:r>
            <a:endParaRPr lang="en-US" sz="1150" dirty="0"/>
          </a:p>
        </p:txBody>
      </p:sp>
      <p:sp>
        <p:nvSpPr>
          <p:cNvPr id="16" name="Shape 14"/>
          <p:cNvSpPr/>
          <p:nvPr/>
        </p:nvSpPr>
        <p:spPr>
          <a:xfrm>
            <a:off x="9189720" y="3200400"/>
            <a:ext cx="2103120" cy="1188720"/>
          </a:xfrm>
          <a:prstGeom prst="roundRect">
            <a:avLst>
              <a:gd name="adj" fmla="val 6154"/>
            </a:avLst>
          </a:prstGeom>
          <a:solidFill>
            <a:srgbClr val="FFFFFF"/>
          </a:solidFill>
          <a:ln w="25400">
            <a:solidFill>
              <a:srgbClr val="C3612D"/>
            </a:solidFill>
            <a:prstDash val="solid"/>
          </a:ln>
          <a:effectLst>
            <a:outerShdw sx="100000" sy="100000" kx="0" ky="0" algn="bl" rotWithShape="0" blurRad="88900" dist="38100" dir="5400000">
              <a:srgbClr val="000000">
                <a:alpha val="12000"/>
              </a:srgbClr>
            </a:outerShdw>
          </a:effectLst>
        </p:spPr>
      </p:sp>
      <p:sp>
        <p:nvSpPr>
          <p:cNvPr id="17" name="Text 15"/>
          <p:cNvSpPr/>
          <p:nvPr/>
        </p:nvSpPr>
        <p:spPr>
          <a:xfrm>
            <a:off x="9281160" y="3401568"/>
            <a:ext cx="1920240" cy="384048"/>
          </a:xfrm>
          <a:prstGeom prst="rect">
            <a:avLst/>
          </a:prstGeom>
          <a:noFill/>
          <a:ln/>
        </p:spPr>
        <p:txBody>
          <a:bodyPr wrap="square" lIns="0" tIns="0" rIns="0" bIns="0" rtlCol="0" anchor="ctr"/>
          <a:lstStyle/>
          <a:p>
            <a:pPr algn="ctr" indent="0" marL="0">
              <a:buNone/>
            </a:pPr>
            <a:r>
              <a:rPr lang="en-US" sz="1500" b="1" dirty="0">
                <a:solidFill>
                  <a:srgbClr val="C3612D"/>
                </a:solidFill>
                <a:latin typeface="Calibri" pitchFamily="34" charset="0"/>
                <a:ea typeface="Calibri" pitchFamily="34" charset="-122"/>
                <a:cs typeface="Calibri" pitchFamily="34" charset="-120"/>
              </a:rPr>
              <a:t>PostgreSQL</a:t>
            </a:r>
            <a:endParaRPr lang="en-US" sz="1500" dirty="0"/>
          </a:p>
        </p:txBody>
      </p:sp>
      <p:sp>
        <p:nvSpPr>
          <p:cNvPr id="18" name="Text 16"/>
          <p:cNvSpPr/>
          <p:nvPr/>
        </p:nvSpPr>
        <p:spPr>
          <a:xfrm>
            <a:off x="9299448" y="3822192"/>
            <a:ext cx="1883664" cy="548640"/>
          </a:xfrm>
          <a:prstGeom prst="rect">
            <a:avLst/>
          </a:prstGeom>
          <a:noFill/>
          <a:ln/>
        </p:spPr>
        <p:txBody>
          <a:bodyPr wrap="square" lIns="0" tIns="0" rIns="0" bIns="0" rtlCol="0" anchor="ctr"/>
          <a:lstStyle/>
          <a:p>
            <a:pPr algn="ctr" indent="0" marL="0">
              <a:buNone/>
            </a:pPr>
            <a:r>
              <a:rPr lang="en-US" sz="1150" dirty="0">
                <a:solidFill>
                  <a:srgbClr val="5F5F5F"/>
                </a:solidFill>
                <a:latin typeface="Calibri" pitchFamily="34" charset="0"/>
                <a:ea typeface="Calibri" pitchFamily="34" charset="-122"/>
                <a:cs typeface="Calibri" pitchFamily="34" charset="-120"/>
              </a:rPr>
              <a:t>port 5432</a:t>
            </a:r>
            <a:endParaRPr lang="en-US" sz="1150" dirty="0"/>
          </a:p>
        </p:txBody>
      </p:sp>
      <p:sp>
        <p:nvSpPr>
          <p:cNvPr id="19" name="Shape 17"/>
          <p:cNvSpPr/>
          <p:nvPr/>
        </p:nvSpPr>
        <p:spPr>
          <a:xfrm>
            <a:off x="640080" y="5120640"/>
            <a:ext cx="10881360" cy="777240"/>
          </a:xfrm>
          <a:prstGeom prst="roundRect">
            <a:avLst>
              <a:gd name="adj" fmla="val 7059"/>
            </a:avLst>
          </a:prstGeom>
          <a:solidFill>
            <a:srgbClr val="1A3C29"/>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20" name="Text 18"/>
          <p:cNvSpPr/>
          <p:nvPr/>
        </p:nvSpPr>
        <p:spPr>
          <a:xfrm>
            <a:off x="914400" y="5257800"/>
            <a:ext cx="10332720" cy="502920"/>
          </a:xfrm>
          <a:prstGeom prst="rect">
            <a:avLst/>
          </a:prstGeom>
          <a:noFill/>
          <a:ln/>
        </p:spPr>
        <p:txBody>
          <a:bodyPr wrap="square" lIns="0" tIns="0" rIns="0" bIns="0" rtlCol="0" anchor="ctr"/>
          <a:lstStyle/>
          <a:p>
            <a:pPr algn="ctr" indent="0" marL="0">
              <a:buNone/>
            </a:pPr>
            <a:r>
              <a:rPr lang="en-US" sz="1350" dirty="0">
                <a:solidFill>
                  <a:srgbClr val="D9D2C7"/>
                </a:solidFill>
                <a:latin typeface="Calibri" pitchFamily="34" charset="0"/>
                <a:ea typeface="Calibri" pitchFamily="34" charset="-122"/>
                <a:cs typeface="Calibri" pitchFamily="34" charset="-120"/>
              </a:rPr>
              <a:t>Une seule commande, un environnement strictement identique sur toutes les machines.</a:t>
            </a:r>
            <a:endParaRPr lang="en-US" sz="1350" dirty="0"/>
          </a:p>
        </p:txBody>
      </p:sp>
      <p:sp>
        <p:nvSpPr>
          <p:cNvPr id="21" name="Shape 19"/>
          <p:cNvSpPr/>
          <p:nvPr/>
        </p:nvSpPr>
        <p:spPr>
          <a:xfrm>
            <a:off x="0" y="6355080"/>
            <a:ext cx="12188952" cy="502920"/>
          </a:xfrm>
          <a:prstGeom prst="rect">
            <a:avLst/>
          </a:prstGeom>
          <a:solidFill>
            <a:srgbClr val="1A3C29"/>
          </a:solidFill>
          <a:ln w="12700">
            <a:solidFill>
              <a:srgbClr val="1A3C29"/>
            </a:solidFill>
            <a:prstDash val="solid"/>
          </a:ln>
        </p:spPr>
      </p:sp>
      <p:sp>
        <p:nvSpPr>
          <p:cNvPr id="22" name="Text 20"/>
          <p:cNvSpPr/>
          <p:nvPr/>
        </p:nvSpPr>
        <p:spPr>
          <a:xfrm>
            <a:off x="502920" y="6382512"/>
            <a:ext cx="4572000" cy="237744"/>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RENOIR&amp;ALINE</a:t>
            </a:r>
            <a:endParaRPr lang="en-US" sz="1000" dirty="0"/>
          </a:p>
        </p:txBody>
      </p:sp>
      <p:sp>
        <p:nvSpPr>
          <p:cNvPr id="23" name="Text 21"/>
          <p:cNvSpPr/>
          <p:nvPr/>
        </p:nvSpPr>
        <p:spPr>
          <a:xfrm>
            <a:off x="502920" y="6601968"/>
            <a:ext cx="4572000" cy="182880"/>
          </a:xfrm>
          <a:prstGeom prst="rect">
            <a:avLst/>
          </a:prstGeom>
          <a:noFill/>
          <a:ln/>
        </p:spPr>
        <p:txBody>
          <a:bodyPr wrap="square" lIns="0" tIns="0" rIns="0" bIns="0" rtlCol="0" anchor="ctr"/>
          <a:lstStyle/>
          <a:p>
            <a:pPr indent="0" marL="0">
              <a:buNone/>
            </a:pPr>
            <a:r>
              <a:rPr lang="en-US" sz="700" spc="200" kern="0" dirty="0">
                <a:solidFill>
                  <a:srgbClr val="8AA595"/>
                </a:solidFill>
                <a:latin typeface="Calibri" pitchFamily="34" charset="0"/>
                <a:ea typeface="Calibri" pitchFamily="34" charset="-122"/>
                <a:cs typeface="Calibri" pitchFamily="34" charset="-120"/>
              </a:rPr>
              <a:t>CONSTRUCTEUR DE SITE WEB</a:t>
            </a:r>
            <a:endParaRPr lang="en-US" sz="700" dirty="0"/>
          </a:p>
        </p:txBody>
      </p:sp>
      <p:sp>
        <p:nvSpPr>
          <p:cNvPr id="24" name="Text 22"/>
          <p:cNvSpPr/>
          <p:nvPr/>
        </p:nvSpPr>
        <p:spPr>
          <a:xfrm>
            <a:off x="10241280" y="6419088"/>
            <a:ext cx="1417320" cy="365760"/>
          </a:xfrm>
          <a:prstGeom prst="rect">
            <a:avLst/>
          </a:prstGeom>
          <a:noFill/>
          <a:ln/>
        </p:spPr>
        <p:txBody>
          <a:bodyPr wrap="square" lIns="0" tIns="0" rIns="0" bIns="0" rtlCol="0" anchor="ctr"/>
          <a:lstStyle/>
          <a:p>
            <a:pPr algn="r" indent="0" marL="0">
              <a:buNone/>
            </a:pPr>
            <a:r>
              <a:rPr lang="en-US" sz="1000" b="1" dirty="0">
                <a:solidFill>
                  <a:srgbClr val="FFFFFF"/>
                </a:solidFill>
                <a:latin typeface="Calibri" pitchFamily="34" charset="0"/>
                <a:ea typeface="Calibri" pitchFamily="34" charset="-122"/>
                <a:cs typeface="Calibri" pitchFamily="34" charset="-120"/>
              </a:rPr>
              <a:t>Page 12/21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Pipeline CI/CD">
    <p:bg>
      <p:bgPr>
        <a:solidFill>
          <a:srgbClr val="F1ECE6"/>
        </a:solidFill>
      </p:bgPr>
    </p:bg>
    <p:spTree>
      <p:nvGrpSpPr>
        <p:cNvPr id="1" name=""/>
        <p:cNvGrpSpPr/>
        <p:nvPr/>
      </p:nvGrpSpPr>
      <p:grpSpPr>
        <a:xfrm>
          <a:off x="0" y="0"/>
          <a:ext cx="0" cy="0"/>
          <a:chOff x="0" y="0"/>
          <a:chExt cx="0" cy="0"/>
        </a:xfrm>
      </p:grpSpPr>
      <p:sp>
        <p:nvSpPr>
          <p:cNvPr id="2" name="Text 2"/>
          <p:cNvSpPr/>
          <p:nvPr/>
        </p:nvSpPr>
        <p:spPr>
          <a:xfrm>
            <a:off x="640080" y="384048"/>
            <a:ext cx="10881360" cy="292608"/>
          </a:xfrm>
          <a:prstGeom prst="rect">
            <a:avLst/>
          </a:prstGeom>
          <a:noFill/>
          <a:ln/>
        </p:spPr>
        <p:txBody>
          <a:bodyPr wrap="square" lIns="0" tIns="0" rIns="0" bIns="0" rtlCol="0" anchor="ctr"/>
          <a:lstStyle/>
          <a:p>
            <a:pPr algn="l" indent="0" marL="0">
              <a:buNone/>
            </a:pPr>
            <a:r>
              <a:rPr lang="fr-FR" sz="1300" b="1" dirty="0">
                <a:solidFill>
                  <a:srgbClr val="C3612D"/>
                </a:solidFill>
                <a:latin typeface="Calibri" pitchFamily="34" charset="0"/>
                <a:ea typeface="Calibri" pitchFamily="34" charset="-122"/>
                <a:cs typeface="Calibri" pitchFamily="34" charset="-120"/>
              </a:rPr>
              <a:t>Automatisation</a:t>
            </a:r>
            <a:endParaRPr lang="fr-FR" sz="1300" dirty="0"/>
          </a:p>
        </p:txBody>
      </p:sp>
      <p:sp>
        <p:nvSpPr>
          <p:cNvPr id="3" name="Text 3"/>
          <p:cNvSpPr/>
          <p:nvPr/>
        </p:nvSpPr>
        <p:spPr>
          <a:xfrm>
            <a:off x="640080" y="713232"/>
            <a:ext cx="10881360" cy="822960"/>
          </a:xfrm>
          <a:prstGeom prst="rect">
            <a:avLst/>
          </a:prstGeom>
          <a:noFill/>
          <a:ln/>
        </p:spPr>
        <p:txBody>
          <a:bodyPr wrap="square" lIns="0" tIns="0" rIns="0" bIns="0" rtlCol="0" anchor="ctr"/>
          <a:lstStyle/>
          <a:p>
            <a:pPr algn="l" indent="0" marL="0">
              <a:buNone/>
            </a:pPr>
            <a:r>
              <a:rPr lang="fr-FR" sz="3400" b="1" dirty="0">
                <a:solidFill>
                  <a:srgbClr val="1A3C29"/>
                </a:solidFill>
                <a:latin typeface="Calibri" pitchFamily="34" charset="0"/>
                <a:ea typeface="Calibri" pitchFamily="34" charset="-122"/>
                <a:cs typeface="Calibri" pitchFamily="34" charset="-120"/>
              </a:rPr>
              <a:t>Pipeline CI/CD &amp; retour arrière</a:t>
            </a:r>
            <a:endParaRPr lang="fr-FR" sz="3400" dirty="0"/>
          </a:p>
        </p:txBody>
      </p:sp>
      <p:sp>
        <p:nvSpPr>
          <p:cNvPr id="4" name="Text 4"/>
          <p:cNvSpPr/>
          <p:nvPr/>
        </p:nvSpPr>
        <p:spPr>
          <a:xfrm>
            <a:off x="640080" y="1691640"/>
            <a:ext cx="5852160" cy="292608"/>
          </a:xfrm>
          <a:prstGeom prst="rect">
            <a:avLst/>
          </a:prstGeom>
          <a:noFill/>
          <a:ln/>
        </p:spPr>
        <p:txBody>
          <a:bodyPr wrap="square" lIns="0" tIns="0" rIns="0" bIns="0" rtlCol="0" anchor="ctr"/>
          <a:lstStyle/>
          <a:p>
            <a:pPr algn="l" indent="0" marL="0">
              <a:buNone/>
            </a:pPr>
            <a:r>
              <a:rPr lang="fr-FR" sz="1300" b="1" dirty="0">
                <a:solidFill>
                  <a:srgbClr val="1A3C29"/>
                </a:solidFill>
                <a:latin typeface="Calibri" pitchFamily="34" charset="0"/>
                <a:ea typeface="Calibri" pitchFamily="34" charset="-122"/>
                <a:cs typeface="Calibri" pitchFamily="34" charset="-120"/>
              </a:rPr>
              <a:t>Du code à la mise en ligne</a:t>
            </a:r>
            <a:endParaRPr lang="fr-FR" sz="1300" dirty="0"/>
          </a:p>
        </p:txBody>
      </p:sp>
      <p:sp>
        <p:nvSpPr>
          <p:cNvPr id="5" name="Text 5"/>
          <p:cNvSpPr/>
          <p:nvPr/>
        </p:nvSpPr>
        <p:spPr>
          <a:xfrm>
            <a:off x="6903720" y="1691640"/>
            <a:ext cx="4617720" cy="292608"/>
          </a:xfrm>
          <a:prstGeom prst="rect">
            <a:avLst/>
          </a:prstGeom>
          <a:noFill/>
          <a:ln/>
        </p:spPr>
        <p:txBody>
          <a:bodyPr wrap="square" lIns="0" tIns="0" rIns="0" bIns="0" rtlCol="0" anchor="ctr"/>
          <a:lstStyle/>
          <a:p>
            <a:pPr algn="l" indent="0" marL="0">
              <a:buNone/>
            </a:pPr>
            <a:r>
              <a:rPr lang="fr-FR" sz="1300" b="1" dirty="0">
                <a:solidFill>
                  <a:srgbClr val="1A3C29"/>
                </a:solidFill>
                <a:latin typeface="Calibri" pitchFamily="34" charset="0"/>
                <a:ea typeface="Calibri" pitchFamily="34" charset="-122"/>
                <a:cs typeface="Calibri" pitchFamily="34" charset="-120"/>
              </a:rPr>
              <a:t>Stratégie de retour arrière</a:t>
            </a:r>
            <a:endParaRPr lang="fr-FR" sz="1300" dirty="0"/>
          </a:p>
        </p:txBody>
      </p:sp>
      <p:sp>
        <p:nvSpPr>
          <p:cNvPr id="6" name="Shape 6"/>
          <p:cNvSpPr/>
          <p:nvPr/>
        </p:nvSpPr>
        <p:spPr>
          <a:xfrm>
            <a:off x="640080" y="2148840"/>
            <a:ext cx="5852160" cy="804672"/>
          </a:xfrm>
          <a:prstGeom prst="roundRect">
            <a:avLst>
              <a:gd name="adj" fmla="val 2727"/>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7" name="Shape 7"/>
          <p:cNvSpPr/>
          <p:nvPr/>
        </p:nvSpPr>
        <p:spPr>
          <a:xfrm>
            <a:off x="868680" y="2350008"/>
            <a:ext cx="402336" cy="402336"/>
          </a:xfrm>
          <a:prstGeom prst="ellipse">
            <a:avLst/>
          </a:prstGeom>
          <a:solidFill>
            <a:srgbClr val="1A3C29"/>
          </a:solidFill>
          <a:ln w="12700">
            <a:solidFill>
              <a:srgbClr val="1A3C29"/>
            </a:solidFill>
            <a:prstDash val="solid"/>
          </a:ln>
        </p:spPr>
      </p:sp>
      <p:sp>
        <p:nvSpPr>
          <p:cNvPr id="8" name="Text 8"/>
          <p:cNvSpPr/>
          <p:nvPr/>
        </p:nvSpPr>
        <p:spPr>
          <a:xfrm>
            <a:off x="868680" y="2350008"/>
            <a:ext cx="402336" cy="402336"/>
          </a:xfrm>
          <a:prstGeom prst="rect">
            <a:avLst/>
          </a:prstGeom>
          <a:noFill/>
          <a:ln/>
        </p:spPr>
        <p:txBody>
          <a:bodyPr wrap="square" lIns="0" tIns="0" rIns="0" bIns="0" rtlCol="0" anchor="ctr"/>
          <a:lstStyle/>
          <a:p>
            <a:pPr algn="ctr" indent="0" marL="0">
              <a:buNone/>
            </a:pPr>
            <a:r>
              <a:rPr lang="fr-FR" sz="1300" b="1" dirty="0">
                <a:solidFill>
                  <a:srgbClr val="FFFFFF"/>
                </a:solidFill>
                <a:latin typeface="Calibri" pitchFamily="34" charset="0"/>
                <a:ea typeface="Calibri" pitchFamily="34" charset="-122"/>
                <a:cs typeface="Calibri" pitchFamily="34" charset="-120"/>
              </a:rPr>
              <a:t>1</a:t>
            </a:r>
            <a:endParaRPr lang="fr-FR" sz="1300" dirty="0"/>
          </a:p>
        </p:txBody>
      </p:sp>
      <p:sp>
        <p:nvSpPr>
          <p:cNvPr id="9" name="Text 9"/>
          <p:cNvSpPr/>
          <p:nvPr/>
        </p:nvSpPr>
        <p:spPr>
          <a:xfrm>
            <a:off x="1463040" y="2276856"/>
            <a:ext cx="4846320" cy="274320"/>
          </a:xfrm>
          <a:prstGeom prst="rect">
            <a:avLst/>
          </a:prstGeom>
          <a:noFill/>
          <a:ln/>
        </p:spPr>
        <p:txBody>
          <a:bodyPr wrap="square" lIns="0" tIns="0" rIns="0" bIns="0" rtlCol="0" anchor="ctr"/>
          <a:lstStyle/>
          <a:p>
            <a:pPr algn="l" indent="0" marL="0">
              <a:buNone/>
            </a:pPr>
            <a:r>
              <a:rPr lang="fr-FR" sz="1250" b="1" dirty="0">
                <a:solidFill>
                  <a:srgbClr val="1A3C29"/>
                </a:solidFill>
                <a:latin typeface="Calibri" pitchFamily="34" charset="0"/>
                <a:ea typeface="Calibri" pitchFamily="34" charset="-122"/>
                <a:cs typeface="Calibri" pitchFamily="34" charset="-120"/>
              </a:rPr>
              <a:t>Pull Request</a:t>
            </a:r>
            <a:endParaRPr lang="fr-FR" sz="1250" dirty="0"/>
          </a:p>
        </p:txBody>
      </p:sp>
      <p:sp>
        <p:nvSpPr>
          <p:cNvPr id="10" name="Text 10"/>
          <p:cNvSpPr/>
          <p:nvPr/>
        </p:nvSpPr>
        <p:spPr>
          <a:xfrm>
            <a:off x="1463040" y="2569464"/>
            <a:ext cx="4846320" cy="274320"/>
          </a:xfrm>
          <a:prstGeom prst="rect">
            <a:avLst/>
          </a:prstGeom>
          <a:noFill/>
          <a:ln/>
        </p:spPr>
        <p:txBody>
          <a:bodyPr wrap="square" lIns="0" tIns="0" rIns="0" bIns="0" rtlCol="0" anchor="ctr"/>
          <a:lstStyle/>
          <a:p>
            <a:pPr algn="l" indent="0" marL="0">
              <a:buNone/>
            </a:pPr>
            <a:r>
              <a:rPr lang="fr-FR" sz="1000" dirty="0">
                <a:solidFill>
                  <a:srgbClr val="5F5F5F"/>
                </a:solidFill>
                <a:latin typeface="Calibri" pitchFamily="34" charset="0"/>
                <a:ea typeface="Calibri" pitchFamily="34" charset="-122"/>
                <a:cs typeface="Calibri" pitchFamily="34" charset="-120"/>
              </a:rPr>
              <a:t>Branche feat/… relue : aucun commit direct sur master</a:t>
            </a:r>
            <a:endParaRPr lang="fr-FR" sz="1000" dirty="0"/>
          </a:p>
        </p:txBody>
      </p:sp>
      <p:sp>
        <p:nvSpPr>
          <p:cNvPr id="11" name="Shape 11"/>
          <p:cNvSpPr/>
          <p:nvPr/>
        </p:nvSpPr>
        <p:spPr>
          <a:xfrm>
            <a:off x="1056132" y="2953512"/>
            <a:ext cx="27432" cy="146304"/>
          </a:xfrm>
          <a:prstGeom prst="rect">
            <a:avLst/>
          </a:prstGeom>
          <a:solidFill>
            <a:srgbClr val="E3DCD1"/>
          </a:solidFill>
          <a:ln w="12700">
            <a:solidFill>
              <a:srgbClr val="E3DCD1"/>
            </a:solidFill>
            <a:prstDash val="solid"/>
          </a:ln>
        </p:spPr>
      </p:sp>
      <p:sp>
        <p:nvSpPr>
          <p:cNvPr id="12" name="Shape 12"/>
          <p:cNvSpPr/>
          <p:nvPr/>
        </p:nvSpPr>
        <p:spPr>
          <a:xfrm>
            <a:off x="640080" y="3099816"/>
            <a:ext cx="5852160" cy="804672"/>
          </a:xfrm>
          <a:prstGeom prst="roundRect">
            <a:avLst>
              <a:gd name="adj" fmla="val 2727"/>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13" name="Shape 13"/>
          <p:cNvSpPr/>
          <p:nvPr/>
        </p:nvSpPr>
        <p:spPr>
          <a:xfrm>
            <a:off x="868680" y="3300984"/>
            <a:ext cx="402336" cy="402336"/>
          </a:xfrm>
          <a:prstGeom prst="ellipse">
            <a:avLst/>
          </a:prstGeom>
          <a:solidFill>
            <a:srgbClr val="1A3C29"/>
          </a:solidFill>
          <a:ln w="12700">
            <a:solidFill>
              <a:srgbClr val="1A3C29"/>
            </a:solidFill>
            <a:prstDash val="solid"/>
          </a:ln>
        </p:spPr>
      </p:sp>
      <p:sp>
        <p:nvSpPr>
          <p:cNvPr id="14" name="Text 14"/>
          <p:cNvSpPr/>
          <p:nvPr/>
        </p:nvSpPr>
        <p:spPr>
          <a:xfrm>
            <a:off x="868680" y="3300984"/>
            <a:ext cx="402336" cy="402336"/>
          </a:xfrm>
          <a:prstGeom prst="rect">
            <a:avLst/>
          </a:prstGeom>
          <a:noFill/>
          <a:ln/>
        </p:spPr>
        <p:txBody>
          <a:bodyPr wrap="square" lIns="0" tIns="0" rIns="0" bIns="0" rtlCol="0" anchor="ctr"/>
          <a:lstStyle/>
          <a:p>
            <a:pPr algn="ctr" indent="0" marL="0">
              <a:buNone/>
            </a:pPr>
            <a:r>
              <a:rPr lang="fr-FR" sz="1300" b="1" dirty="0">
                <a:solidFill>
                  <a:srgbClr val="FFFFFF"/>
                </a:solidFill>
                <a:latin typeface="Calibri" pitchFamily="34" charset="0"/>
                <a:ea typeface="Calibri" pitchFamily="34" charset="-122"/>
                <a:cs typeface="Calibri" pitchFamily="34" charset="-120"/>
              </a:rPr>
              <a:t>2</a:t>
            </a:r>
            <a:endParaRPr lang="fr-FR" sz="1300" dirty="0"/>
          </a:p>
        </p:txBody>
      </p:sp>
      <p:sp>
        <p:nvSpPr>
          <p:cNvPr id="15" name="Text 15"/>
          <p:cNvSpPr/>
          <p:nvPr/>
        </p:nvSpPr>
        <p:spPr>
          <a:xfrm>
            <a:off x="1463040" y="3227832"/>
            <a:ext cx="4846320" cy="274320"/>
          </a:xfrm>
          <a:prstGeom prst="rect">
            <a:avLst/>
          </a:prstGeom>
          <a:noFill/>
          <a:ln/>
        </p:spPr>
        <p:txBody>
          <a:bodyPr wrap="square" lIns="0" tIns="0" rIns="0" bIns="0" rtlCol="0" anchor="ctr"/>
          <a:lstStyle/>
          <a:p>
            <a:pPr algn="l" indent="0" marL="0">
              <a:buNone/>
            </a:pPr>
            <a:r>
              <a:rPr lang="fr-FR" sz="1250" b="1" dirty="0">
                <a:solidFill>
                  <a:srgbClr val="1A3C29"/>
                </a:solidFill>
                <a:latin typeface="Calibri" pitchFamily="34" charset="0"/>
                <a:ea typeface="Calibri" pitchFamily="34" charset="-122"/>
                <a:cs typeface="Calibri" pitchFamily="34" charset="-120"/>
              </a:rPr>
              <a:t>Intégration continue — GitHub Actions</a:t>
            </a:r>
            <a:endParaRPr lang="fr-FR" sz="1250" dirty="0"/>
          </a:p>
        </p:txBody>
      </p:sp>
      <p:sp>
        <p:nvSpPr>
          <p:cNvPr id="16" name="Text 16"/>
          <p:cNvSpPr/>
          <p:nvPr/>
        </p:nvSpPr>
        <p:spPr>
          <a:xfrm>
            <a:off x="1463040" y="3520440"/>
            <a:ext cx="4846320" cy="274320"/>
          </a:xfrm>
          <a:prstGeom prst="rect">
            <a:avLst/>
          </a:prstGeom>
          <a:noFill/>
          <a:ln/>
        </p:spPr>
        <p:txBody>
          <a:bodyPr wrap="square" lIns="0" tIns="0" rIns="0" bIns="0" rtlCol="0" anchor="ctr"/>
          <a:lstStyle/>
          <a:p>
            <a:pPr algn="l" indent="0" marL="0">
              <a:buNone/>
            </a:pPr>
            <a:r>
              <a:rPr lang="fr-FR" sz="1000" dirty="0">
                <a:solidFill>
                  <a:srgbClr val="5F5F5F"/>
                </a:solidFill>
                <a:latin typeface="Calibri" pitchFamily="34" charset="0"/>
                <a:ea typeface="Calibri" pitchFamily="34" charset="-122"/>
                <a:cs typeface="Calibri" pitchFamily="34" charset="-120"/>
              </a:rPr>
              <a:t>2 jobs parallèles : ESLint + 43 tests Jest · build React</a:t>
            </a:r>
            <a:endParaRPr lang="fr-FR" sz="1000" dirty="0"/>
          </a:p>
        </p:txBody>
      </p:sp>
      <p:sp>
        <p:nvSpPr>
          <p:cNvPr id="17" name="Shape 17"/>
          <p:cNvSpPr/>
          <p:nvPr/>
        </p:nvSpPr>
        <p:spPr>
          <a:xfrm>
            <a:off x="1056132" y="3904488"/>
            <a:ext cx="27432" cy="146304"/>
          </a:xfrm>
          <a:prstGeom prst="rect">
            <a:avLst/>
          </a:prstGeom>
          <a:solidFill>
            <a:srgbClr val="E3DCD1"/>
          </a:solidFill>
          <a:ln w="12700">
            <a:solidFill>
              <a:srgbClr val="E3DCD1"/>
            </a:solidFill>
            <a:prstDash val="solid"/>
          </a:ln>
        </p:spPr>
      </p:sp>
      <p:sp>
        <p:nvSpPr>
          <p:cNvPr id="18" name="Shape 18"/>
          <p:cNvSpPr/>
          <p:nvPr/>
        </p:nvSpPr>
        <p:spPr>
          <a:xfrm>
            <a:off x="640080" y="4050792"/>
            <a:ext cx="5852160" cy="804672"/>
          </a:xfrm>
          <a:prstGeom prst="roundRect">
            <a:avLst>
              <a:gd name="adj" fmla="val 2727"/>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19" name="Shape 19"/>
          <p:cNvSpPr/>
          <p:nvPr/>
        </p:nvSpPr>
        <p:spPr>
          <a:xfrm>
            <a:off x="868680" y="4251960"/>
            <a:ext cx="402336" cy="402336"/>
          </a:xfrm>
          <a:prstGeom prst="ellipse">
            <a:avLst/>
          </a:prstGeom>
          <a:solidFill>
            <a:srgbClr val="1A3C29"/>
          </a:solidFill>
          <a:ln w="12700">
            <a:solidFill>
              <a:srgbClr val="1A3C29"/>
            </a:solidFill>
            <a:prstDash val="solid"/>
          </a:ln>
        </p:spPr>
      </p:sp>
      <p:sp>
        <p:nvSpPr>
          <p:cNvPr id="20" name="Text 20"/>
          <p:cNvSpPr/>
          <p:nvPr/>
        </p:nvSpPr>
        <p:spPr>
          <a:xfrm>
            <a:off x="868680" y="4251960"/>
            <a:ext cx="402336" cy="402336"/>
          </a:xfrm>
          <a:prstGeom prst="rect">
            <a:avLst/>
          </a:prstGeom>
          <a:noFill/>
          <a:ln/>
        </p:spPr>
        <p:txBody>
          <a:bodyPr wrap="square" lIns="0" tIns="0" rIns="0" bIns="0" rtlCol="0" anchor="ctr"/>
          <a:lstStyle/>
          <a:p>
            <a:pPr algn="ctr" indent="0" marL="0">
              <a:buNone/>
            </a:pPr>
            <a:r>
              <a:rPr lang="fr-FR" sz="1300" b="1" dirty="0">
                <a:solidFill>
                  <a:srgbClr val="FFFFFF"/>
                </a:solidFill>
                <a:latin typeface="Calibri" pitchFamily="34" charset="0"/>
                <a:ea typeface="Calibri" pitchFamily="34" charset="-122"/>
                <a:cs typeface="Calibri" pitchFamily="34" charset="-120"/>
              </a:rPr>
              <a:t>3</a:t>
            </a:r>
            <a:endParaRPr lang="fr-FR" sz="1300" dirty="0"/>
          </a:p>
        </p:txBody>
      </p:sp>
      <p:sp>
        <p:nvSpPr>
          <p:cNvPr id="21" name="Text 21"/>
          <p:cNvSpPr/>
          <p:nvPr/>
        </p:nvSpPr>
        <p:spPr>
          <a:xfrm>
            <a:off x="1463040" y="4178808"/>
            <a:ext cx="4846320" cy="274320"/>
          </a:xfrm>
          <a:prstGeom prst="rect">
            <a:avLst/>
          </a:prstGeom>
          <a:noFill/>
          <a:ln/>
        </p:spPr>
        <p:txBody>
          <a:bodyPr wrap="square" lIns="0" tIns="0" rIns="0" bIns="0" rtlCol="0" anchor="ctr"/>
          <a:lstStyle/>
          <a:p>
            <a:pPr algn="l" indent="0" marL="0">
              <a:buNone/>
            </a:pPr>
            <a:r>
              <a:rPr lang="fr-FR" sz="1250" b="1" dirty="0">
                <a:solidFill>
                  <a:srgbClr val="1A3C29"/>
                </a:solidFill>
                <a:latin typeface="Calibri" pitchFamily="34" charset="0"/>
                <a:ea typeface="Calibri" pitchFamily="34" charset="-122"/>
                <a:cs typeface="Calibri" pitchFamily="34" charset="-120"/>
              </a:rPr>
              <a:t>Construction des images Docker</a:t>
            </a:r>
            <a:endParaRPr lang="fr-FR" sz="1250" dirty="0"/>
          </a:p>
        </p:txBody>
      </p:sp>
      <p:sp>
        <p:nvSpPr>
          <p:cNvPr id="22" name="Text 22"/>
          <p:cNvSpPr/>
          <p:nvPr/>
        </p:nvSpPr>
        <p:spPr>
          <a:xfrm>
            <a:off x="1463040" y="4471416"/>
            <a:ext cx="4846320" cy="274320"/>
          </a:xfrm>
          <a:prstGeom prst="rect">
            <a:avLst/>
          </a:prstGeom>
          <a:noFill/>
          <a:ln/>
        </p:spPr>
        <p:txBody>
          <a:bodyPr wrap="square" lIns="0" tIns="0" rIns="0" bIns="0" rtlCol="0" anchor="ctr"/>
          <a:lstStyle/>
          <a:p>
            <a:pPr algn="l" indent="0" marL="0">
              <a:buNone/>
            </a:pPr>
            <a:r>
              <a:rPr lang="fr-FR" sz="1000" dirty="0">
                <a:solidFill>
                  <a:srgbClr val="5F5F5F"/>
                </a:solidFill>
                <a:latin typeface="Calibri" pitchFamily="34" charset="0"/>
                <a:ea typeface="Calibri" pitchFamily="34" charset="-122"/>
                <a:cs typeface="Calibri" pitchFamily="34" charset="-120"/>
              </a:rPr>
              <a:t>3 images reproductibles : nginx, Node 20, PostgreSQL 16</a:t>
            </a:r>
            <a:endParaRPr lang="fr-FR" sz="1000" dirty="0"/>
          </a:p>
        </p:txBody>
      </p:sp>
      <p:sp>
        <p:nvSpPr>
          <p:cNvPr id="23" name="Shape 23"/>
          <p:cNvSpPr/>
          <p:nvPr/>
        </p:nvSpPr>
        <p:spPr>
          <a:xfrm>
            <a:off x="1056132" y="4855464"/>
            <a:ext cx="27432" cy="146304"/>
          </a:xfrm>
          <a:prstGeom prst="rect">
            <a:avLst/>
          </a:prstGeom>
          <a:solidFill>
            <a:srgbClr val="E3DCD1"/>
          </a:solidFill>
          <a:ln w="12700">
            <a:solidFill>
              <a:srgbClr val="E3DCD1"/>
            </a:solidFill>
            <a:prstDash val="solid"/>
          </a:ln>
        </p:spPr>
      </p:sp>
      <p:sp>
        <p:nvSpPr>
          <p:cNvPr id="24" name="Shape 24"/>
          <p:cNvSpPr/>
          <p:nvPr/>
        </p:nvSpPr>
        <p:spPr>
          <a:xfrm>
            <a:off x="640080" y="5001768"/>
            <a:ext cx="5852160" cy="804672"/>
          </a:xfrm>
          <a:prstGeom prst="roundRect">
            <a:avLst>
              <a:gd name="adj" fmla="val 2727"/>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25" name="Shape 25"/>
          <p:cNvSpPr/>
          <p:nvPr/>
        </p:nvSpPr>
        <p:spPr>
          <a:xfrm>
            <a:off x="868680" y="5202936"/>
            <a:ext cx="402336" cy="402336"/>
          </a:xfrm>
          <a:prstGeom prst="ellipse">
            <a:avLst/>
          </a:prstGeom>
          <a:solidFill>
            <a:srgbClr val="1A3C29"/>
          </a:solidFill>
          <a:ln w="12700">
            <a:solidFill>
              <a:srgbClr val="1A3C29"/>
            </a:solidFill>
            <a:prstDash val="solid"/>
          </a:ln>
        </p:spPr>
      </p:sp>
      <p:sp>
        <p:nvSpPr>
          <p:cNvPr id="26" name="Text 26"/>
          <p:cNvSpPr/>
          <p:nvPr/>
        </p:nvSpPr>
        <p:spPr>
          <a:xfrm>
            <a:off x="868680" y="5202936"/>
            <a:ext cx="402336" cy="402336"/>
          </a:xfrm>
          <a:prstGeom prst="rect">
            <a:avLst/>
          </a:prstGeom>
          <a:noFill/>
          <a:ln/>
        </p:spPr>
        <p:txBody>
          <a:bodyPr wrap="square" lIns="0" tIns="0" rIns="0" bIns="0" rtlCol="0" anchor="ctr"/>
          <a:lstStyle/>
          <a:p>
            <a:pPr algn="ctr" indent="0" marL="0">
              <a:buNone/>
            </a:pPr>
            <a:r>
              <a:rPr lang="fr-FR" sz="1300" b="1" dirty="0">
                <a:solidFill>
                  <a:srgbClr val="FFFFFF"/>
                </a:solidFill>
                <a:latin typeface="Calibri" pitchFamily="34" charset="0"/>
                <a:ea typeface="Calibri" pitchFamily="34" charset="-122"/>
                <a:cs typeface="Calibri" pitchFamily="34" charset="-120"/>
              </a:rPr>
              <a:t>4</a:t>
            </a:r>
            <a:endParaRPr lang="fr-FR" sz="1300" dirty="0"/>
          </a:p>
        </p:txBody>
      </p:sp>
      <p:sp>
        <p:nvSpPr>
          <p:cNvPr id="27" name="Text 27"/>
          <p:cNvSpPr/>
          <p:nvPr/>
        </p:nvSpPr>
        <p:spPr>
          <a:xfrm>
            <a:off x="1463040" y="5129784"/>
            <a:ext cx="4846320" cy="274320"/>
          </a:xfrm>
          <a:prstGeom prst="rect">
            <a:avLst/>
          </a:prstGeom>
          <a:noFill/>
          <a:ln/>
        </p:spPr>
        <p:txBody>
          <a:bodyPr wrap="square" lIns="0" tIns="0" rIns="0" bIns="0" rtlCol="0" anchor="ctr"/>
          <a:lstStyle/>
          <a:p>
            <a:pPr algn="l" indent="0" marL="0">
              <a:buNone/>
            </a:pPr>
            <a:r>
              <a:rPr lang="fr-FR" sz="1250" b="1" dirty="0">
                <a:solidFill>
                  <a:srgbClr val="1A3C29"/>
                </a:solidFill>
                <a:latin typeface="Calibri" pitchFamily="34" charset="0"/>
                <a:ea typeface="Calibri" pitchFamily="34" charset="-122"/>
                <a:cs typeface="Calibri" pitchFamily="34" charset="-120"/>
              </a:rPr>
              <a:t>Recette puis production</a:t>
            </a:r>
            <a:endParaRPr lang="fr-FR" sz="1250" dirty="0"/>
          </a:p>
        </p:txBody>
      </p:sp>
      <p:sp>
        <p:nvSpPr>
          <p:cNvPr id="28" name="Text 28"/>
          <p:cNvSpPr/>
          <p:nvPr/>
        </p:nvSpPr>
        <p:spPr>
          <a:xfrm>
            <a:off x="1463040" y="5422392"/>
            <a:ext cx="4846320" cy="274320"/>
          </a:xfrm>
          <a:prstGeom prst="rect">
            <a:avLst/>
          </a:prstGeom>
          <a:noFill/>
          <a:ln/>
        </p:spPr>
        <p:txBody>
          <a:bodyPr wrap="square" lIns="0" tIns="0" rIns="0" bIns="0" rtlCol="0" anchor="ctr"/>
          <a:lstStyle/>
          <a:p>
            <a:pPr algn="l" indent="0" marL="0">
              <a:buNone/>
            </a:pPr>
            <a:r>
              <a:rPr lang="fr-FR" sz="1000" dirty="0">
                <a:solidFill>
                  <a:srgbClr val="5F5F5F"/>
                </a:solidFill>
                <a:latin typeface="Calibri" pitchFamily="34" charset="0"/>
                <a:ea typeface="Calibri" pitchFamily="34" charset="-122"/>
                <a:cs typeface="Calibri" pitchFamily="34" charset="-120"/>
              </a:rPr>
              <a:t>docker compose up -d, contrôle des conteneurs, mise en ligne</a:t>
            </a:r>
            <a:endParaRPr lang="fr-FR" sz="1000" dirty="0"/>
          </a:p>
        </p:txBody>
      </p:sp>
      <p:sp>
        <p:nvSpPr>
          <p:cNvPr id="29" name="Shape 29"/>
          <p:cNvSpPr/>
          <p:nvPr/>
        </p:nvSpPr>
        <p:spPr>
          <a:xfrm>
            <a:off x="6903720" y="2148840"/>
            <a:ext cx="4617720" cy="804672"/>
          </a:xfrm>
          <a:prstGeom prst="roundRect">
            <a:avLst>
              <a:gd name="adj" fmla="val 2727"/>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30" name="Shape 30"/>
          <p:cNvSpPr/>
          <p:nvPr/>
        </p:nvSpPr>
        <p:spPr>
          <a:xfrm>
            <a:off x="6903720" y="2148840"/>
            <a:ext cx="82296" cy="804672"/>
          </a:xfrm>
          <a:prstGeom prst="rect">
            <a:avLst/>
          </a:prstGeom>
          <a:solidFill>
            <a:srgbClr val="1A3C29"/>
          </a:solidFill>
          <a:ln w="12700">
            <a:solidFill>
              <a:srgbClr val="1A3C29"/>
            </a:solidFill>
            <a:prstDash val="solid"/>
          </a:ln>
        </p:spPr>
      </p:sp>
      <p:sp>
        <p:nvSpPr>
          <p:cNvPr id="31" name="Text 31"/>
          <p:cNvSpPr/>
          <p:nvPr/>
        </p:nvSpPr>
        <p:spPr>
          <a:xfrm>
            <a:off x="7178040" y="2276856"/>
            <a:ext cx="4160520" cy="274320"/>
          </a:xfrm>
          <a:prstGeom prst="rect">
            <a:avLst/>
          </a:prstGeom>
          <a:noFill/>
          <a:ln/>
        </p:spPr>
        <p:txBody>
          <a:bodyPr wrap="square" lIns="0" tIns="0" rIns="0" bIns="0" rtlCol="0" anchor="ctr"/>
          <a:lstStyle/>
          <a:p>
            <a:pPr algn="l" indent="0" marL="0">
              <a:buNone/>
            </a:pPr>
            <a:r>
              <a:rPr lang="fr-FR" sz="1150" b="1" dirty="0">
                <a:solidFill>
                  <a:srgbClr val="1A3C29"/>
                </a:solidFill>
                <a:latin typeface="Calibri" pitchFamily="34" charset="0"/>
                <a:ea typeface="Calibri" pitchFamily="34" charset="-122"/>
                <a:cs typeface="Calibri" pitchFamily="34" charset="-120"/>
              </a:rPr>
              <a:t>CI rouge : fusion bloquée</a:t>
            </a:r>
            <a:endParaRPr lang="fr-FR" sz="1150" dirty="0"/>
          </a:p>
        </p:txBody>
      </p:sp>
      <p:sp>
        <p:nvSpPr>
          <p:cNvPr id="32" name="Text 32"/>
          <p:cNvSpPr/>
          <p:nvPr/>
        </p:nvSpPr>
        <p:spPr>
          <a:xfrm>
            <a:off x="7178040" y="2569464"/>
            <a:ext cx="4160520" cy="274320"/>
          </a:xfrm>
          <a:prstGeom prst="rect">
            <a:avLst/>
          </a:prstGeom>
          <a:noFill/>
          <a:ln/>
        </p:spPr>
        <p:txBody>
          <a:bodyPr wrap="square" lIns="0" tIns="0" rIns="0" bIns="0" rtlCol="0" anchor="ctr"/>
          <a:lstStyle/>
          <a:p>
            <a:pPr algn="l" indent="0" marL="0">
              <a:buNone/>
            </a:pPr>
            <a:r>
              <a:rPr lang="fr-FR" sz="950" dirty="0">
                <a:solidFill>
                  <a:srgbClr val="5F5F5F"/>
                </a:solidFill>
                <a:latin typeface="Calibri" pitchFamily="34" charset="0"/>
                <a:ea typeface="Calibri" pitchFamily="34" charset="-122"/>
                <a:cs typeface="Calibri" pitchFamily="34" charset="-120"/>
              </a:rPr>
              <a:t>Le défaut n’atteint jamais master</a:t>
            </a:r>
            <a:endParaRPr lang="fr-FR" sz="950" dirty="0"/>
          </a:p>
        </p:txBody>
      </p:sp>
      <p:sp>
        <p:nvSpPr>
          <p:cNvPr id="33" name="Shape 33"/>
          <p:cNvSpPr/>
          <p:nvPr/>
        </p:nvSpPr>
        <p:spPr>
          <a:xfrm>
            <a:off x="6903720" y="3099816"/>
            <a:ext cx="4617720" cy="804672"/>
          </a:xfrm>
          <a:prstGeom prst="roundRect">
            <a:avLst>
              <a:gd name="adj" fmla="val 2727"/>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34" name="Shape 34"/>
          <p:cNvSpPr/>
          <p:nvPr/>
        </p:nvSpPr>
        <p:spPr>
          <a:xfrm>
            <a:off x="6903720" y="3099816"/>
            <a:ext cx="82296" cy="804672"/>
          </a:xfrm>
          <a:prstGeom prst="rect">
            <a:avLst/>
          </a:prstGeom>
          <a:solidFill>
            <a:srgbClr val="8AA595"/>
          </a:solidFill>
          <a:ln w="12700">
            <a:solidFill>
              <a:srgbClr val="8AA595"/>
            </a:solidFill>
            <a:prstDash val="solid"/>
          </a:ln>
        </p:spPr>
      </p:sp>
      <p:sp>
        <p:nvSpPr>
          <p:cNvPr id="35" name="Text 35"/>
          <p:cNvSpPr/>
          <p:nvPr/>
        </p:nvSpPr>
        <p:spPr>
          <a:xfrm>
            <a:off x="7178040" y="3227832"/>
            <a:ext cx="4160520" cy="274320"/>
          </a:xfrm>
          <a:prstGeom prst="rect">
            <a:avLst/>
          </a:prstGeom>
          <a:noFill/>
          <a:ln/>
        </p:spPr>
        <p:txBody>
          <a:bodyPr wrap="square" lIns="0" tIns="0" rIns="0" bIns="0" rtlCol="0" anchor="ctr"/>
          <a:lstStyle/>
          <a:p>
            <a:pPr algn="l" indent="0" marL="0">
              <a:buNone/>
            </a:pPr>
            <a:r>
              <a:rPr lang="fr-FR" sz="1150" b="1" dirty="0">
                <a:solidFill>
                  <a:srgbClr val="1A3C29"/>
                </a:solidFill>
                <a:latin typeface="Calibri" pitchFamily="34" charset="0"/>
                <a:ea typeface="Calibri" pitchFamily="34" charset="-122"/>
                <a:cs typeface="Calibri" pitchFamily="34" charset="-120"/>
              </a:rPr>
              <a:t>Retour au commit précédent</a:t>
            </a:r>
            <a:endParaRPr lang="fr-FR" sz="1150" dirty="0"/>
          </a:p>
        </p:txBody>
      </p:sp>
      <p:sp>
        <p:nvSpPr>
          <p:cNvPr id="36" name="Text 36"/>
          <p:cNvSpPr/>
          <p:nvPr/>
        </p:nvSpPr>
        <p:spPr>
          <a:xfrm>
            <a:off x="7178040" y="3520440"/>
            <a:ext cx="4160520" cy="274320"/>
          </a:xfrm>
          <a:prstGeom prst="rect">
            <a:avLst/>
          </a:prstGeom>
          <a:noFill/>
          <a:ln/>
        </p:spPr>
        <p:txBody>
          <a:bodyPr wrap="square" lIns="0" tIns="0" rIns="0" bIns="0" rtlCol="0" anchor="ctr"/>
          <a:lstStyle/>
          <a:p>
            <a:pPr algn="l" indent="0" marL="0">
              <a:buNone/>
            </a:pPr>
            <a:r>
              <a:rPr lang="fr-FR" sz="950" dirty="0">
                <a:solidFill>
                  <a:srgbClr val="5F5F5F"/>
                </a:solidFill>
                <a:latin typeface="Calibri" pitchFamily="34" charset="0"/>
                <a:ea typeface="Calibri" pitchFamily="34" charset="-122"/>
                <a:cs typeface="Calibri" pitchFamily="34" charset="-120"/>
              </a:rPr>
              <a:t>git revert : master reste déployable</a:t>
            </a:r>
            <a:endParaRPr lang="fr-FR" sz="950" dirty="0"/>
          </a:p>
        </p:txBody>
      </p:sp>
      <p:sp>
        <p:nvSpPr>
          <p:cNvPr id="37" name="Shape 37"/>
          <p:cNvSpPr/>
          <p:nvPr/>
        </p:nvSpPr>
        <p:spPr>
          <a:xfrm>
            <a:off x="6903720" y="4050792"/>
            <a:ext cx="4617720" cy="804672"/>
          </a:xfrm>
          <a:prstGeom prst="roundRect">
            <a:avLst>
              <a:gd name="adj" fmla="val 2727"/>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38" name="Shape 38"/>
          <p:cNvSpPr/>
          <p:nvPr/>
        </p:nvSpPr>
        <p:spPr>
          <a:xfrm>
            <a:off x="6903720" y="4050792"/>
            <a:ext cx="82296" cy="804672"/>
          </a:xfrm>
          <a:prstGeom prst="rect">
            <a:avLst/>
          </a:prstGeom>
          <a:solidFill>
            <a:srgbClr val="C3612D"/>
          </a:solidFill>
          <a:ln w="12700">
            <a:solidFill>
              <a:srgbClr val="C3612D"/>
            </a:solidFill>
            <a:prstDash val="solid"/>
          </a:ln>
        </p:spPr>
      </p:sp>
      <p:sp>
        <p:nvSpPr>
          <p:cNvPr id="39" name="Text 39"/>
          <p:cNvSpPr/>
          <p:nvPr/>
        </p:nvSpPr>
        <p:spPr>
          <a:xfrm>
            <a:off x="7178040" y="4178808"/>
            <a:ext cx="4160520" cy="274320"/>
          </a:xfrm>
          <a:prstGeom prst="rect">
            <a:avLst/>
          </a:prstGeom>
          <a:noFill/>
          <a:ln/>
        </p:spPr>
        <p:txBody>
          <a:bodyPr wrap="square" lIns="0" tIns="0" rIns="0" bIns="0" rtlCol="0" anchor="ctr"/>
          <a:lstStyle/>
          <a:p>
            <a:pPr algn="l" indent="0" marL="0">
              <a:buNone/>
            </a:pPr>
            <a:r>
              <a:rPr lang="fr-FR" sz="1150" b="1" dirty="0">
                <a:solidFill>
                  <a:srgbClr val="1A3C29"/>
                </a:solidFill>
                <a:latin typeface="Calibri" pitchFamily="34" charset="0"/>
                <a:ea typeface="Calibri" pitchFamily="34" charset="-122"/>
                <a:cs typeface="Calibri" pitchFamily="34" charset="-120"/>
              </a:rPr>
              <a:t>Image Docker N-1</a:t>
            </a:r>
            <a:endParaRPr lang="fr-FR" sz="1150" dirty="0"/>
          </a:p>
        </p:txBody>
      </p:sp>
      <p:sp>
        <p:nvSpPr>
          <p:cNvPr id="40" name="Text 40"/>
          <p:cNvSpPr/>
          <p:nvPr/>
        </p:nvSpPr>
        <p:spPr>
          <a:xfrm>
            <a:off x="7178040" y="4471416"/>
            <a:ext cx="4160520" cy="274320"/>
          </a:xfrm>
          <a:prstGeom prst="rect">
            <a:avLst/>
          </a:prstGeom>
          <a:noFill/>
          <a:ln/>
        </p:spPr>
        <p:txBody>
          <a:bodyPr wrap="square" lIns="0" tIns="0" rIns="0" bIns="0" rtlCol="0" anchor="ctr"/>
          <a:lstStyle/>
          <a:p>
            <a:pPr algn="l" indent="0" marL="0">
              <a:buNone/>
            </a:pPr>
            <a:r>
              <a:rPr lang="fr-FR" sz="950" dirty="0">
                <a:solidFill>
                  <a:srgbClr val="5F5F5F"/>
                </a:solidFill>
                <a:latin typeface="Calibri" pitchFamily="34" charset="0"/>
                <a:ea typeface="Calibri" pitchFamily="34" charset="-122"/>
                <a:cs typeface="Calibri" pitchFamily="34" charset="-120"/>
              </a:rPr>
              <a:t>Conteneurs immuables : on relance la version précédente</a:t>
            </a:r>
            <a:endParaRPr lang="fr-FR" sz="950" dirty="0"/>
          </a:p>
        </p:txBody>
      </p:sp>
      <p:sp>
        <p:nvSpPr>
          <p:cNvPr id="41" name="Shape 41"/>
          <p:cNvSpPr/>
          <p:nvPr/>
        </p:nvSpPr>
        <p:spPr>
          <a:xfrm>
            <a:off x="6903720" y="5001768"/>
            <a:ext cx="4617720" cy="804672"/>
          </a:xfrm>
          <a:prstGeom prst="roundRect">
            <a:avLst>
              <a:gd name="adj" fmla="val 2727"/>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42" name="Shape 42"/>
          <p:cNvSpPr/>
          <p:nvPr/>
        </p:nvSpPr>
        <p:spPr>
          <a:xfrm>
            <a:off x="6903720" y="5001768"/>
            <a:ext cx="82296" cy="804672"/>
          </a:xfrm>
          <a:prstGeom prst="rect">
            <a:avLst/>
          </a:prstGeom>
          <a:solidFill>
            <a:srgbClr val="5F5F5F"/>
          </a:solidFill>
          <a:ln w="12700">
            <a:solidFill>
              <a:srgbClr val="5F5F5F"/>
            </a:solidFill>
            <a:prstDash val="solid"/>
          </a:ln>
        </p:spPr>
      </p:sp>
      <p:sp>
        <p:nvSpPr>
          <p:cNvPr id="43" name="Text 43"/>
          <p:cNvSpPr/>
          <p:nvPr/>
        </p:nvSpPr>
        <p:spPr>
          <a:xfrm>
            <a:off x="7178040" y="5129784"/>
            <a:ext cx="4160520" cy="274320"/>
          </a:xfrm>
          <a:prstGeom prst="rect">
            <a:avLst/>
          </a:prstGeom>
          <a:noFill/>
          <a:ln/>
        </p:spPr>
        <p:txBody>
          <a:bodyPr wrap="square" lIns="0" tIns="0" rIns="0" bIns="0" rtlCol="0" anchor="ctr"/>
          <a:lstStyle/>
          <a:p>
            <a:pPr algn="l" indent="0" marL="0">
              <a:buNone/>
            </a:pPr>
            <a:r>
              <a:rPr lang="fr-FR" sz="1150" b="1" dirty="0">
                <a:solidFill>
                  <a:srgbClr val="1A3C29"/>
                </a:solidFill>
                <a:latin typeface="Calibri" pitchFamily="34" charset="0"/>
                <a:ea typeface="Calibri" pitchFamily="34" charset="-122"/>
                <a:cs typeface="Calibri" pitchFamily="34" charset="-120"/>
              </a:rPr>
              <a:t>Restauration de la base</a:t>
            </a:r>
            <a:endParaRPr lang="fr-FR" sz="1150" dirty="0"/>
          </a:p>
        </p:txBody>
      </p:sp>
      <p:sp>
        <p:nvSpPr>
          <p:cNvPr id="44" name="Text 44"/>
          <p:cNvSpPr/>
          <p:nvPr/>
        </p:nvSpPr>
        <p:spPr>
          <a:xfrm>
            <a:off x="7178040" y="5422392"/>
            <a:ext cx="4160520" cy="274320"/>
          </a:xfrm>
          <a:prstGeom prst="rect">
            <a:avLst/>
          </a:prstGeom>
          <a:noFill/>
          <a:ln/>
        </p:spPr>
        <p:txBody>
          <a:bodyPr wrap="square" lIns="0" tIns="0" rIns="0" bIns="0" rtlCol="0" anchor="ctr"/>
          <a:lstStyle/>
          <a:p>
            <a:pPr algn="l" indent="0" marL="0">
              <a:buNone/>
            </a:pPr>
            <a:r>
              <a:rPr lang="fr-FR" sz="950" dirty="0">
                <a:solidFill>
                  <a:srgbClr val="5F5F5F"/>
                </a:solidFill>
                <a:latin typeface="Calibri" pitchFamily="34" charset="0"/>
                <a:ea typeface="Calibri" pitchFamily="34" charset="-122"/>
                <a:cs typeface="Calibri" pitchFamily="34" charset="-120"/>
              </a:rPr>
              <a:t>Sauvegarde PostgreSQL avant chaque montée de version</a:t>
            </a:r>
            <a:endParaRPr lang="fr-FR" sz="950" dirty="0"/>
          </a:p>
        </p:txBody>
      </p:sp>
      <p:sp>
        <p:nvSpPr>
          <p:cNvPr id="45" name="Shape 45"/>
          <p:cNvSpPr/>
          <p:nvPr/>
        </p:nvSpPr>
        <p:spPr>
          <a:xfrm>
            <a:off x="0" y="6355080"/>
            <a:ext cx="12188952" cy="502920"/>
          </a:xfrm>
          <a:prstGeom prst="rect">
            <a:avLst/>
          </a:prstGeom>
          <a:solidFill>
            <a:srgbClr val="1A3C29"/>
          </a:solidFill>
          <a:ln w="12700">
            <a:solidFill>
              <a:srgbClr val="1A3C29"/>
            </a:solidFill>
            <a:prstDash val="solid"/>
          </a:ln>
        </p:spPr>
      </p:sp>
      <p:sp>
        <p:nvSpPr>
          <p:cNvPr id="46" name="Text 46"/>
          <p:cNvSpPr/>
          <p:nvPr/>
        </p:nvSpPr>
        <p:spPr>
          <a:xfrm>
            <a:off x="502920" y="6382512"/>
            <a:ext cx="4572000" cy="237744"/>
          </a:xfrm>
          <a:prstGeom prst="rect">
            <a:avLst/>
          </a:prstGeom>
          <a:noFill/>
          <a:ln/>
        </p:spPr>
        <p:txBody>
          <a:bodyPr wrap="square" lIns="0" tIns="0" rIns="0" bIns="0" rtlCol="0" anchor="ctr"/>
          <a:lstStyle/>
          <a:p>
            <a:pPr algn="l" indent="0" marL="0">
              <a:buNone/>
            </a:pPr>
            <a:r>
              <a:rPr lang="fr-FR" sz="1000" b="1" dirty="0">
                <a:solidFill>
                  <a:srgbClr val="FFFFFF"/>
                </a:solidFill>
                <a:latin typeface="Calibri" pitchFamily="34" charset="0"/>
                <a:ea typeface="Calibri" pitchFamily="34" charset="-122"/>
                <a:cs typeface="Calibri" pitchFamily="34" charset="-120"/>
              </a:rPr>
              <a:t>RENOIR&amp;ALINE</a:t>
            </a:r>
            <a:endParaRPr lang="fr-FR" sz="1000" dirty="0"/>
          </a:p>
        </p:txBody>
      </p:sp>
      <p:sp>
        <p:nvSpPr>
          <p:cNvPr id="47" name="Text 47"/>
          <p:cNvSpPr/>
          <p:nvPr/>
        </p:nvSpPr>
        <p:spPr>
          <a:xfrm>
            <a:off x="502920" y="6601968"/>
            <a:ext cx="4572000" cy="182880"/>
          </a:xfrm>
          <a:prstGeom prst="rect">
            <a:avLst/>
          </a:prstGeom>
          <a:noFill/>
          <a:ln/>
        </p:spPr>
        <p:txBody>
          <a:bodyPr wrap="square" lIns="0" tIns="0" rIns="0" bIns="0" rtlCol="0" anchor="ctr"/>
          <a:lstStyle/>
          <a:p>
            <a:pPr algn="l" indent="0" marL="0">
              <a:buNone/>
            </a:pPr>
            <a:r>
              <a:rPr lang="fr-FR" sz="700" spc="200" kern="0" dirty="0">
                <a:solidFill>
                  <a:srgbClr val="8AA595"/>
                </a:solidFill>
                <a:latin typeface="Calibri" pitchFamily="34" charset="0"/>
                <a:ea typeface="Calibri" pitchFamily="34" charset="-122"/>
                <a:cs typeface="Calibri" pitchFamily="34" charset="-120"/>
              </a:rPr>
              <a:t>CONSTRUCTEUR DE SITE WEB</a:t>
            </a:r>
            <a:endParaRPr lang="fr-FR" sz="700" dirty="0"/>
          </a:p>
        </p:txBody>
      </p:sp>
      <p:sp>
        <p:nvSpPr>
          <p:cNvPr id="48" name="Text 48"/>
          <p:cNvSpPr/>
          <p:nvPr/>
        </p:nvSpPr>
        <p:spPr>
          <a:xfrm>
            <a:off x="10241280" y="6419088"/>
            <a:ext cx="1417320" cy="365760"/>
          </a:xfrm>
          <a:prstGeom prst="rect">
            <a:avLst/>
          </a:prstGeom>
          <a:noFill/>
          <a:ln/>
        </p:spPr>
        <p:txBody>
          <a:bodyPr wrap="square" lIns="0" tIns="0" rIns="0" bIns="0" rtlCol="0" anchor="ctr"/>
          <a:lstStyle/>
          <a:p>
            <a:pPr algn="r" indent="0" marL="0">
              <a:buNone/>
            </a:pPr>
            <a:r>
              <a:rPr lang="fr-FR" sz="1000" b="1" dirty="0">
                <a:solidFill>
                  <a:srgbClr val="FFFFFF"/>
                </a:solidFill>
                <a:latin typeface="Calibri" pitchFamily="34" charset="0"/>
                <a:ea typeface="Calibri" pitchFamily="34" charset="-122"/>
                <a:cs typeface="Calibri" pitchFamily="34" charset="-120"/>
              </a:rPr>
              <a:t>Page 13/21</a:t>
            </a:r>
            <a:endParaRPr lang="fr-FR"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1ECE6"/>
        </a:solidFill>
      </p:bgPr>
    </p:bg>
    <p:spTree>
      <p:nvGrpSpPr>
        <p:cNvPr id="1" name=""/>
        <p:cNvGrpSpPr/>
        <p:nvPr/>
      </p:nvGrpSpPr>
      <p:grpSpPr>
        <a:xfrm>
          <a:off x="0" y="0"/>
          <a:ext cx="0" cy="0"/>
          <a:chOff x="0" y="0"/>
          <a:chExt cx="0" cy="0"/>
        </a:xfrm>
      </p:grpSpPr>
      <p:sp>
        <p:nvSpPr>
          <p:cNvPr id="2" name="Text 0"/>
          <p:cNvSpPr/>
          <p:nvPr/>
        </p:nvSpPr>
        <p:spPr>
          <a:xfrm>
            <a:off x="640080" y="384048"/>
            <a:ext cx="10881360" cy="292608"/>
          </a:xfrm>
          <a:prstGeom prst="rect">
            <a:avLst/>
          </a:prstGeom>
          <a:noFill/>
          <a:ln/>
        </p:spPr>
        <p:txBody>
          <a:bodyPr wrap="square" lIns="0" tIns="0" rIns="0" bIns="0" rtlCol="0" anchor="ctr"/>
          <a:lstStyle/>
          <a:p>
            <a:pPr indent="0" marL="0">
              <a:buNone/>
            </a:pPr>
            <a:r>
              <a:rPr lang="en-US" sz="1300" b="1" dirty="0">
                <a:solidFill>
                  <a:srgbClr val="C3612D"/>
                </a:solidFill>
                <a:latin typeface="Calibri" pitchFamily="34" charset="0"/>
                <a:ea typeface="Calibri" pitchFamily="34" charset="-122"/>
                <a:cs typeface="Calibri" pitchFamily="34" charset="-120"/>
              </a:rPr>
              <a:t>Maintenance</a:t>
            </a:r>
            <a:endParaRPr lang="en-US" sz="1300" dirty="0"/>
          </a:p>
        </p:txBody>
      </p:sp>
      <p:sp>
        <p:nvSpPr>
          <p:cNvPr id="3" name="Text 1"/>
          <p:cNvSpPr/>
          <p:nvPr/>
        </p:nvSpPr>
        <p:spPr>
          <a:xfrm>
            <a:off x="640080" y="713232"/>
            <a:ext cx="10881360" cy="822960"/>
          </a:xfrm>
          <a:prstGeom prst="rect">
            <a:avLst/>
          </a:prstGeom>
          <a:noFill/>
          <a:ln/>
        </p:spPr>
        <p:txBody>
          <a:bodyPr wrap="square" lIns="0" tIns="0" rIns="0" bIns="0" rtlCol="0" anchor="ctr"/>
          <a:lstStyle/>
          <a:p>
            <a:pPr indent="0" marL="0">
              <a:buNone/>
            </a:pPr>
            <a:r>
              <a:rPr lang="en-US" sz="3400" b="1" dirty="0">
                <a:solidFill>
                  <a:srgbClr val="1A3C29"/>
                </a:solidFill>
                <a:latin typeface="Calibri" pitchFamily="34" charset="0"/>
                <a:ea typeface="Calibri" pitchFamily="34" charset="-122"/>
                <a:cs typeface="Calibri" pitchFamily="34" charset="-120"/>
              </a:rPr>
              <a:t>Gestion des tickets — Jira</a:t>
            </a:r>
            <a:endParaRPr lang="en-US" sz="3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7315200" cy="914400"/>
        </p:xfrm>
        <a:graphic>
          <a:graphicData uri="http://schemas.openxmlformats.org/drawingml/2006/table">
            <a:tbl>
              <a:tblPr/>
              <a:tblGrid>
                <a:gridCol w="3108960"/>
                <a:gridCol w="2103120"/>
                <a:gridCol w="2103120"/>
              </a:tblGrid>
              <a:tr h="45720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Sévérité</a:t>
                      </a:r>
                      <a:endParaRPr lang="en-US" sz="1400" dirty="0">
                        <a:latin typeface="Calibri" charset="0"/>
                        <a:ea typeface="Calibri" charset="0"/>
                        <a:cs typeface="Calibri" charset="0"/>
                      </a:endParaRPr>
                    </a:p>
                  </a:txBody>
                  <a:tcPr marL="91440" marR="91440" marT="45720" marB="45720" anchor="ctr">
                    <a:lnL w="12700" cap="flat" cmpd="sng" algn="ctr">
                      <a:solidFill>
                        <a:srgbClr val="D5CEC2"/>
                      </a:solidFill>
                      <a:prstDash val="solid"/>
                      <a:round/>
                      <a:headEnd type="none" w="med" len="med"/>
                      <a:tailEnd type="none" w="med" len="med"/>
                    </a:lnL>
                    <a:lnR w="12700" cap="flat" cmpd="sng" algn="ctr">
                      <a:solidFill>
                        <a:srgbClr val="D5CEC2"/>
                      </a:solidFill>
                      <a:prstDash val="solid"/>
                      <a:round/>
                      <a:headEnd type="none" w="med" len="med"/>
                      <a:tailEnd type="none" w="med" len="med"/>
                    </a:lnR>
                    <a:lnT w="12700" cap="flat" cmpd="sng" algn="ctr">
                      <a:solidFill>
                        <a:srgbClr val="D5CEC2"/>
                      </a:solidFill>
                      <a:prstDash val="solid"/>
                      <a:round/>
                      <a:headEnd type="none" w="med" len="med"/>
                      <a:tailEnd type="none" w="med" len="med"/>
                    </a:lnT>
                    <a:lnB w="12700" cap="flat" cmpd="sng" algn="ctr">
                      <a:solidFill>
                        <a:srgbClr val="D5CEC2"/>
                      </a:solidFill>
                      <a:prstDash val="solid"/>
                      <a:round/>
                      <a:headEnd type="none" w="med" len="med"/>
                      <a:tailEnd type="none" w="med" len="med"/>
                    </a:lnB>
                    <a:solidFill>
                      <a:srgbClr val="1A3C29"/>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Prise en compte</a:t>
                      </a:r>
                      <a:endParaRPr lang="en-US" sz="1400" dirty="0">
                        <a:latin typeface="Calibri" charset="0"/>
                        <a:ea typeface="Calibri" charset="0"/>
                        <a:cs typeface="Calibri" charset="0"/>
                      </a:endParaRPr>
                    </a:p>
                  </a:txBody>
                  <a:tcPr marL="91440" marR="91440" marT="45720" marB="45720" anchor="ctr">
                    <a:lnL w="12700" cap="flat" cmpd="sng" algn="ctr">
                      <a:solidFill>
                        <a:srgbClr val="D5CEC2"/>
                      </a:solidFill>
                      <a:prstDash val="solid"/>
                      <a:round/>
                      <a:headEnd type="none" w="med" len="med"/>
                      <a:tailEnd type="none" w="med" len="med"/>
                    </a:lnL>
                    <a:lnR w="12700" cap="flat" cmpd="sng" algn="ctr">
                      <a:solidFill>
                        <a:srgbClr val="D5CEC2"/>
                      </a:solidFill>
                      <a:prstDash val="solid"/>
                      <a:round/>
                      <a:headEnd type="none" w="med" len="med"/>
                      <a:tailEnd type="none" w="med" len="med"/>
                    </a:lnR>
                    <a:lnT w="12700" cap="flat" cmpd="sng" algn="ctr">
                      <a:solidFill>
                        <a:srgbClr val="D5CEC2"/>
                      </a:solidFill>
                      <a:prstDash val="solid"/>
                      <a:round/>
                      <a:headEnd type="none" w="med" len="med"/>
                      <a:tailEnd type="none" w="med" len="med"/>
                    </a:lnT>
                    <a:lnB w="12700" cap="flat" cmpd="sng" algn="ctr">
                      <a:solidFill>
                        <a:srgbClr val="D5CEC2"/>
                      </a:solidFill>
                      <a:prstDash val="solid"/>
                      <a:round/>
                      <a:headEnd type="none" w="med" len="med"/>
                      <a:tailEnd type="none" w="med" len="med"/>
                    </a:lnB>
                    <a:solidFill>
                      <a:srgbClr val="1A3C29"/>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Correction</a:t>
                      </a:r>
                      <a:endParaRPr lang="en-US" sz="1400" dirty="0">
                        <a:latin typeface="Calibri" charset="0"/>
                        <a:ea typeface="Calibri" charset="0"/>
                        <a:cs typeface="Calibri" charset="0"/>
                      </a:endParaRPr>
                    </a:p>
                  </a:txBody>
                  <a:tcPr marL="91440" marR="91440" marT="45720" marB="45720" anchor="ctr">
                    <a:lnL w="12700" cap="flat" cmpd="sng" algn="ctr">
                      <a:solidFill>
                        <a:srgbClr val="D5CEC2"/>
                      </a:solidFill>
                      <a:prstDash val="solid"/>
                      <a:round/>
                      <a:headEnd type="none" w="med" len="med"/>
                      <a:tailEnd type="none" w="med" len="med"/>
                    </a:lnL>
                    <a:lnR w="12700" cap="flat" cmpd="sng" algn="ctr">
                      <a:solidFill>
                        <a:srgbClr val="D5CEC2"/>
                      </a:solidFill>
                      <a:prstDash val="solid"/>
                      <a:round/>
                      <a:headEnd type="none" w="med" len="med"/>
                      <a:tailEnd type="none" w="med" len="med"/>
                    </a:lnR>
                    <a:lnT w="12700" cap="flat" cmpd="sng" algn="ctr">
                      <a:solidFill>
                        <a:srgbClr val="D5CEC2"/>
                      </a:solidFill>
                      <a:prstDash val="solid"/>
                      <a:round/>
                      <a:headEnd type="none" w="med" len="med"/>
                      <a:tailEnd type="none" w="med" len="med"/>
                    </a:lnT>
                    <a:lnB w="12700" cap="flat" cmpd="sng" algn="ctr">
                      <a:solidFill>
                        <a:srgbClr val="D5CEC2"/>
                      </a:solidFill>
                      <a:prstDash val="solid"/>
                      <a:round/>
                      <a:headEnd type="none" w="med" len="med"/>
                      <a:tailEnd type="none" w="med" len="med"/>
                    </a:lnB>
                    <a:solidFill>
                      <a:srgbClr val="1A3C29"/>
                    </a:solidFill>
                  </a:tcPr>
                </a:tc>
              </a:tr>
              <a:tr h="566928">
                <a:tc>
                  <a:txBody>
                    <a:bodyPr/>
                    <a:lstStyle/>
                    <a:p>
                      <a:pPr algn="ctr" indent="0" marL="0">
                        <a:buNone/>
                      </a:pPr>
                      <a:r>
                        <a:rPr lang="en-US" sz="1300" b="1" dirty="0">
                          <a:solidFill>
                            <a:srgbClr val="1A3C29"/>
                          </a:solidFill>
                          <a:latin typeface="Calibri" pitchFamily="34" charset="0"/>
                          <a:ea typeface="Calibri" pitchFamily="34" charset="-122"/>
                          <a:cs typeface="Calibri" pitchFamily="34" charset="-120"/>
                        </a:rPr>
                        <a:t>Bloquant (critique)</a:t>
                      </a:r>
                      <a:endParaRPr lang="en-US" sz="1300" dirty="0">
                        <a:latin typeface="Calibri" charset="0"/>
                        <a:ea typeface="Calibri" charset="0"/>
                        <a:cs typeface="Calibri" charset="0"/>
                      </a:endParaRPr>
                    </a:p>
                  </a:txBody>
                  <a:tcPr marL="91440" marR="91440" marT="45720" marB="45720" anchor="ctr">
                    <a:lnL w="12700" cap="flat" cmpd="sng" algn="ctr">
                      <a:solidFill>
                        <a:srgbClr val="D5CEC2"/>
                      </a:solidFill>
                      <a:prstDash val="solid"/>
                      <a:round/>
                      <a:headEnd type="none" w="med" len="med"/>
                      <a:tailEnd type="none" w="med" len="med"/>
                    </a:lnL>
                    <a:lnR w="12700" cap="flat" cmpd="sng" algn="ctr">
                      <a:solidFill>
                        <a:srgbClr val="D5CEC2"/>
                      </a:solidFill>
                      <a:prstDash val="solid"/>
                      <a:round/>
                      <a:headEnd type="none" w="med" len="med"/>
                      <a:tailEnd type="none" w="med" len="med"/>
                    </a:lnR>
                    <a:lnT w="12700" cap="flat" cmpd="sng" algn="ctr">
                      <a:solidFill>
                        <a:srgbClr val="D5CEC2"/>
                      </a:solidFill>
                      <a:prstDash val="solid"/>
                      <a:round/>
                      <a:headEnd type="none" w="med" len="med"/>
                      <a:tailEnd type="none" w="med" len="med"/>
                    </a:lnT>
                    <a:lnB w="12700" cap="flat" cmpd="sng" algn="ctr">
                      <a:solidFill>
                        <a:srgbClr val="D5CEC2"/>
                      </a:solidFill>
                      <a:prstDash val="solid"/>
                      <a:round/>
                      <a:headEnd type="none" w="med" len="med"/>
                      <a:tailEnd type="none" w="med" len="med"/>
                    </a:lnB>
                    <a:solidFill>
                      <a:srgbClr val="E8F1EA"/>
                    </a:solidFill>
                  </a:tcPr>
                </a:tc>
                <a:tc>
                  <a:txBody>
                    <a:bodyPr/>
                    <a:lstStyle/>
                    <a:p>
                      <a:pPr algn="ctr" indent="0" marL="0">
                        <a:buNone/>
                      </a:pPr>
                      <a:r>
                        <a:rPr lang="en-US" sz="1300" dirty="0">
                          <a:solidFill>
                            <a:srgbClr val="2C2C2C"/>
                          </a:solidFill>
                          <a:latin typeface="Calibri" pitchFamily="34" charset="0"/>
                          <a:ea typeface="Calibri" pitchFamily="34" charset="-122"/>
                          <a:cs typeface="Calibri" pitchFamily="34" charset="-120"/>
                        </a:rPr>
                        <a:t>1 h ouvrée</a:t>
                      </a:r>
                      <a:endParaRPr lang="en-US" sz="1300" dirty="0">
                        <a:latin typeface="Calibri" charset="0"/>
                        <a:ea typeface="Calibri" charset="0"/>
                        <a:cs typeface="Calibri" charset="0"/>
                      </a:endParaRPr>
                    </a:p>
                  </a:txBody>
                  <a:tcPr marL="91440" marR="91440" marT="45720" marB="45720" anchor="ctr">
                    <a:lnL w="12700" cap="flat" cmpd="sng" algn="ctr">
                      <a:solidFill>
                        <a:srgbClr val="D5CEC2"/>
                      </a:solidFill>
                      <a:prstDash val="solid"/>
                      <a:round/>
                      <a:headEnd type="none" w="med" len="med"/>
                      <a:tailEnd type="none" w="med" len="med"/>
                    </a:lnL>
                    <a:lnR w="12700" cap="flat" cmpd="sng" algn="ctr">
                      <a:solidFill>
                        <a:srgbClr val="D5CEC2"/>
                      </a:solidFill>
                      <a:prstDash val="solid"/>
                      <a:round/>
                      <a:headEnd type="none" w="med" len="med"/>
                      <a:tailEnd type="none" w="med" len="med"/>
                    </a:lnR>
                    <a:lnT w="12700" cap="flat" cmpd="sng" algn="ctr">
                      <a:solidFill>
                        <a:srgbClr val="D5CEC2"/>
                      </a:solidFill>
                      <a:prstDash val="solid"/>
                      <a:round/>
                      <a:headEnd type="none" w="med" len="med"/>
                      <a:tailEnd type="none" w="med" len="med"/>
                    </a:lnT>
                    <a:lnB w="12700" cap="flat" cmpd="sng" algn="ctr">
                      <a:solidFill>
                        <a:srgbClr val="D5CEC2"/>
                      </a:solidFill>
                      <a:prstDash val="solid"/>
                      <a:round/>
                      <a:headEnd type="none" w="med" len="med"/>
                      <a:tailEnd type="none" w="med" len="med"/>
                    </a:lnB>
                    <a:solidFill>
                      <a:srgbClr val="E8F1EA"/>
                    </a:solidFill>
                  </a:tcPr>
                </a:tc>
                <a:tc>
                  <a:txBody>
                    <a:bodyPr/>
                    <a:lstStyle/>
                    <a:p>
                      <a:pPr algn="ctr" indent="0" marL="0">
                        <a:buNone/>
                      </a:pPr>
                      <a:r>
                        <a:rPr lang="en-US" sz="1300" dirty="0">
                          <a:solidFill>
                            <a:srgbClr val="2C2C2C"/>
                          </a:solidFill>
                          <a:latin typeface="Calibri" pitchFamily="34" charset="0"/>
                          <a:ea typeface="Calibri" pitchFamily="34" charset="-122"/>
                          <a:cs typeface="Calibri" pitchFamily="34" charset="-120"/>
                        </a:rPr>
                        <a:t>3 h ouvrées</a:t>
                      </a:r>
                      <a:endParaRPr lang="en-US" sz="1300" dirty="0">
                        <a:latin typeface="Calibri" charset="0"/>
                        <a:ea typeface="Calibri" charset="0"/>
                        <a:cs typeface="Calibri" charset="0"/>
                      </a:endParaRPr>
                    </a:p>
                  </a:txBody>
                  <a:tcPr marL="91440" marR="91440" marT="45720" marB="45720" anchor="ctr">
                    <a:lnL w="12700" cap="flat" cmpd="sng" algn="ctr">
                      <a:solidFill>
                        <a:srgbClr val="D5CEC2"/>
                      </a:solidFill>
                      <a:prstDash val="solid"/>
                      <a:round/>
                      <a:headEnd type="none" w="med" len="med"/>
                      <a:tailEnd type="none" w="med" len="med"/>
                    </a:lnL>
                    <a:lnR w="12700" cap="flat" cmpd="sng" algn="ctr">
                      <a:solidFill>
                        <a:srgbClr val="D5CEC2"/>
                      </a:solidFill>
                      <a:prstDash val="solid"/>
                      <a:round/>
                      <a:headEnd type="none" w="med" len="med"/>
                      <a:tailEnd type="none" w="med" len="med"/>
                    </a:lnR>
                    <a:lnT w="12700" cap="flat" cmpd="sng" algn="ctr">
                      <a:solidFill>
                        <a:srgbClr val="D5CEC2"/>
                      </a:solidFill>
                      <a:prstDash val="solid"/>
                      <a:round/>
                      <a:headEnd type="none" w="med" len="med"/>
                      <a:tailEnd type="none" w="med" len="med"/>
                    </a:lnT>
                    <a:lnB w="12700" cap="flat" cmpd="sng" algn="ctr">
                      <a:solidFill>
                        <a:srgbClr val="D5CEC2"/>
                      </a:solidFill>
                      <a:prstDash val="solid"/>
                      <a:round/>
                      <a:headEnd type="none" w="med" len="med"/>
                      <a:tailEnd type="none" w="med" len="med"/>
                    </a:lnB>
                    <a:solidFill>
                      <a:srgbClr val="E8F1EA"/>
                    </a:solidFill>
                  </a:tcPr>
                </a:tc>
              </a:tr>
              <a:tr h="566928">
                <a:tc>
                  <a:txBody>
                    <a:bodyPr/>
                    <a:lstStyle/>
                    <a:p>
                      <a:pPr algn="ctr" indent="0" marL="0">
                        <a:buNone/>
                      </a:pPr>
                      <a:r>
                        <a:rPr lang="en-US" sz="1300" b="1" dirty="0">
                          <a:solidFill>
                            <a:srgbClr val="2C2C2C"/>
                          </a:solidFill>
                          <a:latin typeface="Calibri" pitchFamily="34" charset="0"/>
                          <a:ea typeface="Calibri" pitchFamily="34" charset="-122"/>
                          <a:cs typeface="Calibri" pitchFamily="34" charset="-120"/>
                        </a:rPr>
                        <a:t>Majeur</a:t>
                      </a:r>
                      <a:endParaRPr lang="en-US" sz="1300" dirty="0">
                        <a:latin typeface="Calibri" charset="0"/>
                        <a:ea typeface="Calibri" charset="0"/>
                        <a:cs typeface="Calibri" charset="0"/>
                      </a:endParaRPr>
                    </a:p>
                  </a:txBody>
                  <a:tcPr marL="91440" marR="91440" marT="45720" marB="45720" anchor="ctr">
                    <a:lnL w="12700" cap="flat" cmpd="sng" algn="ctr">
                      <a:solidFill>
                        <a:srgbClr val="D5CEC2"/>
                      </a:solidFill>
                      <a:prstDash val="solid"/>
                      <a:round/>
                      <a:headEnd type="none" w="med" len="med"/>
                      <a:tailEnd type="none" w="med" len="med"/>
                    </a:lnL>
                    <a:lnR w="12700" cap="flat" cmpd="sng" algn="ctr">
                      <a:solidFill>
                        <a:srgbClr val="D5CEC2"/>
                      </a:solidFill>
                      <a:prstDash val="solid"/>
                      <a:round/>
                      <a:headEnd type="none" w="med" len="med"/>
                      <a:tailEnd type="none" w="med" len="med"/>
                    </a:lnR>
                    <a:lnT w="12700" cap="flat" cmpd="sng" algn="ctr">
                      <a:solidFill>
                        <a:srgbClr val="D5CEC2"/>
                      </a:solidFill>
                      <a:prstDash val="solid"/>
                      <a:round/>
                      <a:headEnd type="none" w="med" len="med"/>
                      <a:tailEnd type="none" w="med" len="med"/>
                    </a:lnT>
                    <a:lnB w="12700" cap="flat" cmpd="sng" algn="ctr">
                      <a:solidFill>
                        <a:srgbClr val="D5CEC2"/>
                      </a:solidFill>
                      <a:prstDash val="solid"/>
                      <a:round/>
                      <a:headEnd type="none" w="med" len="med"/>
                      <a:tailEnd type="none" w="med" len="med"/>
                    </a:lnB>
                  </a:tcPr>
                </a:tc>
                <a:tc>
                  <a:txBody>
                    <a:bodyPr/>
                    <a:lstStyle/>
                    <a:p>
                      <a:pPr algn="ctr" indent="0" marL="0">
                        <a:buNone/>
                      </a:pPr>
                      <a:r>
                        <a:rPr lang="en-US" sz="1300" dirty="0">
                          <a:solidFill>
                            <a:srgbClr val="2C2C2C"/>
                          </a:solidFill>
                          <a:latin typeface="Calibri" pitchFamily="34" charset="0"/>
                          <a:ea typeface="Calibri" pitchFamily="34" charset="-122"/>
                          <a:cs typeface="Calibri" pitchFamily="34" charset="-120"/>
                        </a:rPr>
                        <a:t>7 h ouvrées</a:t>
                      </a:r>
                      <a:endParaRPr lang="en-US" sz="1300" dirty="0">
                        <a:latin typeface="Calibri" charset="0"/>
                        <a:ea typeface="Calibri" charset="0"/>
                        <a:cs typeface="Calibri" charset="0"/>
                      </a:endParaRPr>
                    </a:p>
                  </a:txBody>
                  <a:tcPr marL="91440" marR="91440" marT="45720" marB="45720" anchor="ctr">
                    <a:lnL w="12700" cap="flat" cmpd="sng" algn="ctr">
                      <a:solidFill>
                        <a:srgbClr val="D5CEC2"/>
                      </a:solidFill>
                      <a:prstDash val="solid"/>
                      <a:round/>
                      <a:headEnd type="none" w="med" len="med"/>
                      <a:tailEnd type="none" w="med" len="med"/>
                    </a:lnL>
                    <a:lnR w="12700" cap="flat" cmpd="sng" algn="ctr">
                      <a:solidFill>
                        <a:srgbClr val="D5CEC2"/>
                      </a:solidFill>
                      <a:prstDash val="solid"/>
                      <a:round/>
                      <a:headEnd type="none" w="med" len="med"/>
                      <a:tailEnd type="none" w="med" len="med"/>
                    </a:lnR>
                    <a:lnT w="12700" cap="flat" cmpd="sng" algn="ctr">
                      <a:solidFill>
                        <a:srgbClr val="D5CEC2"/>
                      </a:solidFill>
                      <a:prstDash val="solid"/>
                      <a:round/>
                      <a:headEnd type="none" w="med" len="med"/>
                      <a:tailEnd type="none" w="med" len="med"/>
                    </a:lnT>
                    <a:lnB w="12700" cap="flat" cmpd="sng" algn="ctr">
                      <a:solidFill>
                        <a:srgbClr val="D5CEC2"/>
                      </a:solidFill>
                      <a:prstDash val="solid"/>
                      <a:round/>
                      <a:headEnd type="none" w="med" len="med"/>
                      <a:tailEnd type="none" w="med" len="med"/>
                    </a:lnB>
                  </a:tcPr>
                </a:tc>
                <a:tc>
                  <a:txBody>
                    <a:bodyPr/>
                    <a:lstStyle/>
                    <a:p>
                      <a:pPr algn="ctr" indent="0" marL="0">
                        <a:buNone/>
                      </a:pPr>
                      <a:r>
                        <a:rPr lang="en-US" sz="1300" dirty="0">
                          <a:solidFill>
                            <a:srgbClr val="2C2C2C"/>
                          </a:solidFill>
                          <a:latin typeface="Calibri" pitchFamily="34" charset="0"/>
                          <a:ea typeface="Calibri" pitchFamily="34" charset="-122"/>
                          <a:cs typeface="Calibri" pitchFamily="34" charset="-120"/>
                        </a:rPr>
                        <a:t>16 h ouvrées</a:t>
                      </a:r>
                      <a:endParaRPr lang="en-US" sz="1300" dirty="0">
                        <a:latin typeface="Calibri" charset="0"/>
                        <a:ea typeface="Calibri" charset="0"/>
                        <a:cs typeface="Calibri" charset="0"/>
                      </a:endParaRPr>
                    </a:p>
                  </a:txBody>
                  <a:tcPr marL="91440" marR="91440" marT="45720" marB="45720" anchor="ctr">
                    <a:lnL w="12700" cap="flat" cmpd="sng" algn="ctr">
                      <a:solidFill>
                        <a:srgbClr val="D5CEC2"/>
                      </a:solidFill>
                      <a:prstDash val="solid"/>
                      <a:round/>
                      <a:headEnd type="none" w="med" len="med"/>
                      <a:tailEnd type="none" w="med" len="med"/>
                    </a:lnL>
                    <a:lnR w="12700" cap="flat" cmpd="sng" algn="ctr">
                      <a:solidFill>
                        <a:srgbClr val="D5CEC2"/>
                      </a:solidFill>
                      <a:prstDash val="solid"/>
                      <a:round/>
                      <a:headEnd type="none" w="med" len="med"/>
                      <a:tailEnd type="none" w="med" len="med"/>
                    </a:lnR>
                    <a:lnT w="12700" cap="flat" cmpd="sng" algn="ctr">
                      <a:solidFill>
                        <a:srgbClr val="D5CEC2"/>
                      </a:solidFill>
                      <a:prstDash val="solid"/>
                      <a:round/>
                      <a:headEnd type="none" w="med" len="med"/>
                      <a:tailEnd type="none" w="med" len="med"/>
                    </a:lnT>
                    <a:lnB w="12700" cap="flat" cmpd="sng" algn="ctr">
                      <a:solidFill>
                        <a:srgbClr val="D5CEC2"/>
                      </a:solidFill>
                      <a:prstDash val="solid"/>
                      <a:round/>
                      <a:headEnd type="none" w="med" len="med"/>
                      <a:tailEnd type="none" w="med" len="med"/>
                    </a:lnB>
                  </a:tcPr>
                </a:tc>
              </a:tr>
              <a:tr h="566928">
                <a:tc>
                  <a:txBody>
                    <a:bodyPr/>
                    <a:lstStyle/>
                    <a:p>
                      <a:pPr algn="ctr" indent="0" marL="0">
                        <a:buNone/>
                      </a:pPr>
                      <a:r>
                        <a:rPr lang="en-US" sz="1300" b="1" dirty="0">
                          <a:solidFill>
                            <a:srgbClr val="2C2C2C"/>
                          </a:solidFill>
                          <a:latin typeface="Calibri" pitchFamily="34" charset="0"/>
                          <a:ea typeface="Calibri" pitchFamily="34" charset="-122"/>
                          <a:cs typeface="Calibri" pitchFamily="34" charset="-120"/>
                        </a:rPr>
                        <a:t>Mineur</a:t>
                      </a:r>
                      <a:endParaRPr lang="en-US" sz="1300" dirty="0">
                        <a:latin typeface="Calibri" charset="0"/>
                        <a:ea typeface="Calibri" charset="0"/>
                        <a:cs typeface="Calibri" charset="0"/>
                      </a:endParaRPr>
                    </a:p>
                  </a:txBody>
                  <a:tcPr marL="91440" marR="91440" marT="45720" marB="45720" anchor="ctr">
                    <a:lnL w="12700" cap="flat" cmpd="sng" algn="ctr">
                      <a:solidFill>
                        <a:srgbClr val="D5CEC2"/>
                      </a:solidFill>
                      <a:prstDash val="solid"/>
                      <a:round/>
                      <a:headEnd type="none" w="med" len="med"/>
                      <a:tailEnd type="none" w="med" len="med"/>
                    </a:lnL>
                    <a:lnR w="12700" cap="flat" cmpd="sng" algn="ctr">
                      <a:solidFill>
                        <a:srgbClr val="D5CEC2"/>
                      </a:solidFill>
                      <a:prstDash val="solid"/>
                      <a:round/>
                      <a:headEnd type="none" w="med" len="med"/>
                      <a:tailEnd type="none" w="med" len="med"/>
                    </a:lnR>
                    <a:lnT w="12700" cap="flat" cmpd="sng" algn="ctr">
                      <a:solidFill>
                        <a:srgbClr val="D5CEC2"/>
                      </a:solidFill>
                      <a:prstDash val="solid"/>
                      <a:round/>
                      <a:headEnd type="none" w="med" len="med"/>
                      <a:tailEnd type="none" w="med" len="med"/>
                    </a:lnT>
                    <a:lnB w="12700" cap="flat" cmpd="sng" algn="ctr">
                      <a:solidFill>
                        <a:srgbClr val="D5CEC2"/>
                      </a:solidFill>
                      <a:prstDash val="solid"/>
                      <a:round/>
                      <a:headEnd type="none" w="med" len="med"/>
                      <a:tailEnd type="none" w="med" len="med"/>
                    </a:lnB>
                    <a:solidFill>
                      <a:srgbClr val="E8F1EA"/>
                    </a:solidFill>
                  </a:tcPr>
                </a:tc>
                <a:tc>
                  <a:txBody>
                    <a:bodyPr/>
                    <a:lstStyle/>
                    <a:p>
                      <a:pPr algn="ctr" indent="0" marL="0">
                        <a:buNone/>
                      </a:pPr>
                      <a:r>
                        <a:rPr lang="en-US" sz="1300" dirty="0">
                          <a:solidFill>
                            <a:srgbClr val="2C2C2C"/>
                          </a:solidFill>
                          <a:latin typeface="Calibri" pitchFamily="34" charset="0"/>
                          <a:ea typeface="Calibri" pitchFamily="34" charset="-122"/>
                          <a:cs typeface="Calibri" pitchFamily="34" charset="-120"/>
                        </a:rPr>
                        <a:t>1 jour ouvré</a:t>
                      </a:r>
                      <a:endParaRPr lang="en-US" sz="1300" dirty="0">
                        <a:latin typeface="Calibri" charset="0"/>
                        <a:ea typeface="Calibri" charset="0"/>
                        <a:cs typeface="Calibri" charset="0"/>
                      </a:endParaRPr>
                    </a:p>
                  </a:txBody>
                  <a:tcPr marL="91440" marR="91440" marT="45720" marB="45720" anchor="ctr">
                    <a:lnL w="12700" cap="flat" cmpd="sng" algn="ctr">
                      <a:solidFill>
                        <a:srgbClr val="D5CEC2"/>
                      </a:solidFill>
                      <a:prstDash val="solid"/>
                      <a:round/>
                      <a:headEnd type="none" w="med" len="med"/>
                      <a:tailEnd type="none" w="med" len="med"/>
                    </a:lnL>
                    <a:lnR w="12700" cap="flat" cmpd="sng" algn="ctr">
                      <a:solidFill>
                        <a:srgbClr val="D5CEC2"/>
                      </a:solidFill>
                      <a:prstDash val="solid"/>
                      <a:round/>
                      <a:headEnd type="none" w="med" len="med"/>
                      <a:tailEnd type="none" w="med" len="med"/>
                    </a:lnR>
                    <a:lnT w="12700" cap="flat" cmpd="sng" algn="ctr">
                      <a:solidFill>
                        <a:srgbClr val="D5CEC2"/>
                      </a:solidFill>
                      <a:prstDash val="solid"/>
                      <a:round/>
                      <a:headEnd type="none" w="med" len="med"/>
                      <a:tailEnd type="none" w="med" len="med"/>
                    </a:lnT>
                    <a:lnB w="12700" cap="flat" cmpd="sng" algn="ctr">
                      <a:solidFill>
                        <a:srgbClr val="D5CEC2"/>
                      </a:solidFill>
                      <a:prstDash val="solid"/>
                      <a:round/>
                      <a:headEnd type="none" w="med" len="med"/>
                      <a:tailEnd type="none" w="med" len="med"/>
                    </a:lnB>
                    <a:solidFill>
                      <a:srgbClr val="E8F1EA"/>
                    </a:solidFill>
                  </a:tcPr>
                </a:tc>
                <a:tc>
                  <a:txBody>
                    <a:bodyPr/>
                    <a:lstStyle/>
                    <a:p>
                      <a:pPr algn="ctr" indent="0" marL="0">
                        <a:buNone/>
                      </a:pPr>
                      <a:r>
                        <a:rPr lang="en-US" sz="1300" dirty="0">
                          <a:solidFill>
                            <a:srgbClr val="2C2C2C"/>
                          </a:solidFill>
                          <a:latin typeface="Calibri" pitchFamily="34" charset="0"/>
                          <a:ea typeface="Calibri" pitchFamily="34" charset="-122"/>
                          <a:cs typeface="Calibri" pitchFamily="34" charset="-120"/>
                        </a:rPr>
                        <a:t>40 h ouvrées</a:t>
                      </a:r>
                      <a:endParaRPr lang="en-US" sz="1300" dirty="0">
                        <a:latin typeface="Calibri" charset="0"/>
                        <a:ea typeface="Calibri" charset="0"/>
                        <a:cs typeface="Calibri" charset="0"/>
                      </a:endParaRPr>
                    </a:p>
                  </a:txBody>
                  <a:tcPr marL="91440" marR="91440" marT="45720" marB="45720" anchor="ctr">
                    <a:lnL w="12700" cap="flat" cmpd="sng" algn="ctr">
                      <a:solidFill>
                        <a:srgbClr val="D5CEC2"/>
                      </a:solidFill>
                      <a:prstDash val="solid"/>
                      <a:round/>
                      <a:headEnd type="none" w="med" len="med"/>
                      <a:tailEnd type="none" w="med" len="med"/>
                    </a:lnL>
                    <a:lnR w="12700" cap="flat" cmpd="sng" algn="ctr">
                      <a:solidFill>
                        <a:srgbClr val="D5CEC2"/>
                      </a:solidFill>
                      <a:prstDash val="solid"/>
                      <a:round/>
                      <a:headEnd type="none" w="med" len="med"/>
                      <a:tailEnd type="none" w="med" len="med"/>
                    </a:lnR>
                    <a:lnT w="12700" cap="flat" cmpd="sng" algn="ctr">
                      <a:solidFill>
                        <a:srgbClr val="D5CEC2"/>
                      </a:solidFill>
                      <a:prstDash val="solid"/>
                      <a:round/>
                      <a:headEnd type="none" w="med" len="med"/>
                      <a:tailEnd type="none" w="med" len="med"/>
                    </a:lnT>
                    <a:lnB w="12700" cap="flat" cmpd="sng" algn="ctr">
                      <a:solidFill>
                        <a:srgbClr val="D5CEC2"/>
                      </a:solidFill>
                      <a:prstDash val="solid"/>
                      <a:round/>
                      <a:headEnd type="none" w="med" len="med"/>
                      <a:tailEnd type="none" w="med" len="med"/>
                    </a:lnB>
                    <a:solidFill>
                      <a:srgbClr val="E8F1EA"/>
                    </a:solidFill>
                  </a:tcPr>
                </a:tc>
              </a:tr>
            </a:tbl>
          </a:graphicData>
        </a:graphic>
      </p:graphicFrame>
      <p:sp>
        <p:nvSpPr>
          <p:cNvPr id="5" name="Shape 2"/>
          <p:cNvSpPr/>
          <p:nvPr/>
        </p:nvSpPr>
        <p:spPr>
          <a:xfrm>
            <a:off x="8229600" y="1828800"/>
            <a:ext cx="3291840" cy="3931920"/>
          </a:xfrm>
          <a:prstGeom prst="roundRect">
            <a:avLst>
              <a:gd name="adj" fmla="val 1667"/>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6" name="Text 3"/>
          <p:cNvSpPr/>
          <p:nvPr/>
        </p:nvSpPr>
        <p:spPr>
          <a:xfrm>
            <a:off x="8458200" y="2011680"/>
            <a:ext cx="2834640" cy="365760"/>
          </a:xfrm>
          <a:prstGeom prst="rect">
            <a:avLst/>
          </a:prstGeom>
          <a:noFill/>
          <a:ln/>
        </p:spPr>
        <p:txBody>
          <a:bodyPr wrap="square" lIns="0" tIns="0" rIns="0" bIns="0" rtlCol="0" anchor="ctr"/>
          <a:lstStyle/>
          <a:p>
            <a:pPr indent="0" marL="0">
              <a:buNone/>
            </a:pPr>
            <a:r>
              <a:rPr lang="en-US" sz="1500" b="1" dirty="0">
                <a:solidFill>
                  <a:srgbClr val="C3612D"/>
                </a:solidFill>
                <a:latin typeface="Calibri" pitchFamily="34" charset="0"/>
                <a:ea typeface="Calibri" pitchFamily="34" charset="-122"/>
                <a:cs typeface="Calibri" pitchFamily="34" charset="-120"/>
              </a:rPr>
              <a:t>Acteurs &amp; workflow</a:t>
            </a:r>
            <a:endParaRPr lang="en-US" sz="1500" dirty="0"/>
          </a:p>
        </p:txBody>
      </p:sp>
      <p:sp>
        <p:nvSpPr>
          <p:cNvPr id="7" name="Text 4"/>
          <p:cNvSpPr/>
          <p:nvPr/>
        </p:nvSpPr>
        <p:spPr>
          <a:xfrm>
            <a:off x="8458200" y="2514600"/>
            <a:ext cx="2880360" cy="3108960"/>
          </a:xfrm>
          <a:prstGeom prst="rect">
            <a:avLst/>
          </a:prstGeom>
          <a:noFill/>
          <a:ln/>
        </p:spPr>
        <p:txBody>
          <a:bodyPr wrap="square" lIns="0" tIns="0" rIns="0" bIns="0" rtlCol="0" anchor="ctr"/>
          <a:lstStyle/>
          <a:p>
            <a:pPr indent="0" marL="0">
              <a:spcAft>
                <a:spcPts val="600"/>
              </a:spcAft>
              <a:buNone/>
            </a:pPr>
            <a:r>
              <a:rPr lang="en-US" sz="1350" b="1" dirty="0">
                <a:solidFill>
                  <a:srgbClr val="1A3C29"/>
                </a:solidFill>
                <a:latin typeface="Calibri" pitchFamily="34" charset="0"/>
                <a:ea typeface="Calibri" pitchFamily="34" charset="-122"/>
                <a:cs typeface="Calibri" pitchFamily="34" charset="-120"/>
              </a:rPr>
              <a:t>Client (Ministère)</a:t>
            </a:r>
            <a:endParaRPr lang="en-US" sz="1350" dirty="0"/>
          </a:p>
          <a:p>
            <a:pPr indent="0" marL="0">
              <a:spcAft>
                <a:spcPts val="600"/>
              </a:spcAft>
              <a:buNone/>
            </a:pPr>
            <a:r>
              <a:rPr lang="en-US" sz="1200" dirty="0">
                <a:solidFill>
                  <a:srgbClr val="5F5F5F"/>
                </a:solidFill>
                <a:latin typeface="Calibri" pitchFamily="34" charset="0"/>
                <a:ea typeface="Calibri" pitchFamily="34" charset="-122"/>
                <a:cs typeface="Calibri" pitchFamily="34" charset="-120"/>
              </a:rPr>
              <a:t>déclare les incidents et valide</a:t>
            </a:r>
            <a:endParaRPr lang="en-US" sz="1350" dirty="0"/>
          </a:p>
          <a:p>
            <a:pPr indent="0" marL="0">
              <a:spcAft>
                <a:spcPts val="600"/>
              </a:spcAft>
              <a:buNone/>
            </a:pPr>
            <a:r>
              <a:rPr lang="en-US" sz="1350" b="1" dirty="0">
                <a:solidFill>
                  <a:srgbClr val="1A3C29"/>
                </a:solidFill>
                <a:latin typeface="Calibri" pitchFamily="34" charset="0"/>
                <a:ea typeface="Calibri" pitchFamily="34" charset="-122"/>
                <a:cs typeface="Calibri" pitchFamily="34" charset="-120"/>
              </a:rPr>
              <a:t>Prestataire (dev)</a:t>
            </a:r>
            <a:endParaRPr lang="en-US" sz="1350" dirty="0"/>
          </a:p>
          <a:p>
            <a:pPr indent="0" marL="0">
              <a:spcAft>
                <a:spcPts val="600"/>
              </a:spcAft>
              <a:buNone/>
            </a:pPr>
            <a:r>
              <a:rPr lang="en-US" sz="1200" dirty="0">
                <a:solidFill>
                  <a:srgbClr val="5F5F5F"/>
                </a:solidFill>
                <a:latin typeface="Calibri" pitchFamily="34" charset="0"/>
                <a:ea typeface="Calibri" pitchFamily="34" charset="-122"/>
                <a:cs typeface="Calibri" pitchFamily="34" charset="-120"/>
              </a:rPr>
              <a:t>traite et clôture les tickets</a:t>
            </a:r>
            <a:endParaRPr lang="en-US" sz="1350" dirty="0"/>
          </a:p>
          <a:p>
            <a:pPr indent="0" marL="0">
              <a:spcAft>
                <a:spcPts val="600"/>
              </a:spcAft>
              <a:buNone/>
            </a:pPr>
            <a:r>
              <a:rPr lang="en-US" sz="600" dirty="0">
                <a:solidFill>
                  <a:srgbClr val="000000"/>
                </a:solidFill>
                <a:latin typeface="Calibri" pitchFamily="34" charset="0"/>
                <a:ea typeface="Calibri" pitchFamily="34" charset="-122"/>
                <a:cs typeface="Calibri" pitchFamily="34" charset="-120"/>
              </a:rPr>
              <a:t> </a:t>
            </a:r>
            <a:endParaRPr lang="en-US" sz="1350" dirty="0"/>
          </a:p>
          <a:p>
            <a:pPr indent="0" marL="0">
              <a:spcAft>
                <a:spcPts val="600"/>
              </a:spcAft>
              <a:buNone/>
            </a:pPr>
            <a:r>
              <a:rPr lang="en-US" sz="1200" i="1" dirty="0">
                <a:solidFill>
                  <a:srgbClr val="C3612D"/>
                </a:solidFill>
                <a:latin typeface="Calibri" pitchFamily="34" charset="0"/>
                <a:ea typeface="Calibri" pitchFamily="34" charset="-122"/>
                <a:cs typeface="Calibri" pitchFamily="34" charset="-120"/>
              </a:rPr>
              <a:t>À faire → En cours → En recette → Terminé</a:t>
            </a:r>
            <a:endParaRPr lang="en-US" sz="1350" dirty="0"/>
          </a:p>
        </p:txBody>
      </p:sp>
      <p:sp>
        <p:nvSpPr>
          <p:cNvPr id="8" name="Shape 5"/>
          <p:cNvSpPr/>
          <p:nvPr/>
        </p:nvSpPr>
        <p:spPr>
          <a:xfrm>
            <a:off x="0" y="6355080"/>
            <a:ext cx="12188952" cy="502920"/>
          </a:xfrm>
          <a:prstGeom prst="rect">
            <a:avLst/>
          </a:prstGeom>
          <a:solidFill>
            <a:srgbClr val="1A3C29"/>
          </a:solidFill>
          <a:ln w="12700">
            <a:solidFill>
              <a:srgbClr val="1A3C29"/>
            </a:solidFill>
            <a:prstDash val="solid"/>
          </a:ln>
        </p:spPr>
      </p:sp>
      <p:sp>
        <p:nvSpPr>
          <p:cNvPr id="9" name="Text 6"/>
          <p:cNvSpPr/>
          <p:nvPr/>
        </p:nvSpPr>
        <p:spPr>
          <a:xfrm>
            <a:off x="502920" y="6382512"/>
            <a:ext cx="4572000" cy="237744"/>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RENOIR&amp;ALINE</a:t>
            </a:r>
            <a:endParaRPr lang="en-US" sz="1000" dirty="0"/>
          </a:p>
        </p:txBody>
      </p:sp>
      <p:sp>
        <p:nvSpPr>
          <p:cNvPr id="10" name="Text 7"/>
          <p:cNvSpPr/>
          <p:nvPr/>
        </p:nvSpPr>
        <p:spPr>
          <a:xfrm>
            <a:off x="502920" y="6601968"/>
            <a:ext cx="4572000" cy="182880"/>
          </a:xfrm>
          <a:prstGeom prst="rect">
            <a:avLst/>
          </a:prstGeom>
          <a:noFill/>
          <a:ln/>
        </p:spPr>
        <p:txBody>
          <a:bodyPr wrap="square" lIns="0" tIns="0" rIns="0" bIns="0" rtlCol="0" anchor="ctr"/>
          <a:lstStyle/>
          <a:p>
            <a:pPr indent="0" marL="0">
              <a:buNone/>
            </a:pPr>
            <a:r>
              <a:rPr lang="en-US" sz="700" spc="200" kern="0" dirty="0">
                <a:solidFill>
                  <a:srgbClr val="8AA595"/>
                </a:solidFill>
                <a:latin typeface="Calibri" pitchFamily="34" charset="0"/>
                <a:ea typeface="Calibri" pitchFamily="34" charset="-122"/>
                <a:cs typeface="Calibri" pitchFamily="34" charset="-120"/>
              </a:rPr>
              <a:t>CONSTRUCTEUR DE SITE WEB</a:t>
            </a:r>
            <a:endParaRPr lang="en-US" sz="700" dirty="0"/>
          </a:p>
        </p:txBody>
      </p:sp>
      <p:sp>
        <p:nvSpPr>
          <p:cNvPr id="11" name="Text 8"/>
          <p:cNvSpPr/>
          <p:nvPr/>
        </p:nvSpPr>
        <p:spPr>
          <a:xfrm>
            <a:off x="10241280" y="6419088"/>
            <a:ext cx="1417320" cy="365760"/>
          </a:xfrm>
          <a:prstGeom prst="rect">
            <a:avLst/>
          </a:prstGeom>
          <a:noFill/>
          <a:ln/>
        </p:spPr>
        <p:txBody>
          <a:bodyPr wrap="square" lIns="0" tIns="0" rIns="0" bIns="0" rtlCol="0" anchor="ctr"/>
          <a:lstStyle/>
          <a:p>
            <a:pPr algn="r" indent="0" marL="0">
              <a:buNone/>
            </a:pPr>
            <a:r>
              <a:rPr lang="en-US" sz="1000" b="1" dirty="0">
                <a:solidFill>
                  <a:srgbClr val="FFFFFF"/>
                </a:solidFill>
                <a:latin typeface="Calibri" pitchFamily="34" charset="0"/>
                <a:ea typeface="Calibri" pitchFamily="34" charset="-122"/>
                <a:cs typeface="Calibri" pitchFamily="34" charset="-120"/>
              </a:rPr>
              <a:t>Page 14/21</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Maintenance corrective evolutive">
    <p:bg>
      <p:bgPr>
        <a:solidFill>
          <a:srgbClr val="F1ECE6"/>
        </a:solidFill>
      </p:bgPr>
    </p:bg>
    <p:spTree>
      <p:nvGrpSpPr>
        <p:cNvPr id="1" name=""/>
        <p:cNvGrpSpPr/>
        <p:nvPr/>
      </p:nvGrpSpPr>
      <p:grpSpPr>
        <a:xfrm>
          <a:off x="0" y="0"/>
          <a:ext cx="0" cy="0"/>
          <a:chOff x="0" y="0"/>
          <a:chExt cx="0" cy="0"/>
        </a:xfrm>
      </p:grpSpPr>
      <p:sp>
        <p:nvSpPr>
          <p:cNvPr id="2" name="Text 2"/>
          <p:cNvSpPr/>
          <p:nvPr/>
        </p:nvSpPr>
        <p:spPr>
          <a:xfrm>
            <a:off x="640080" y="384048"/>
            <a:ext cx="10881360" cy="292608"/>
          </a:xfrm>
          <a:prstGeom prst="rect">
            <a:avLst/>
          </a:prstGeom>
          <a:noFill/>
          <a:ln/>
        </p:spPr>
        <p:txBody>
          <a:bodyPr wrap="square" lIns="0" tIns="0" rIns="0" bIns="0" rtlCol="0" anchor="ctr"/>
          <a:lstStyle/>
          <a:p>
            <a:pPr algn="l" indent="0" marL="0">
              <a:buNone/>
            </a:pPr>
            <a:r>
              <a:rPr lang="fr-FR" sz="1300" b="1" dirty="0">
                <a:solidFill>
                  <a:srgbClr val="C3612D"/>
                </a:solidFill>
                <a:latin typeface="Calibri" pitchFamily="34" charset="0"/>
                <a:ea typeface="Calibri" pitchFamily="34" charset="-122"/>
                <a:cs typeface="Calibri" pitchFamily="34" charset="-120"/>
              </a:rPr>
              <a:t>Maintenance</a:t>
            </a:r>
            <a:endParaRPr lang="fr-FR" sz="1300" dirty="0"/>
          </a:p>
        </p:txBody>
      </p:sp>
      <p:sp>
        <p:nvSpPr>
          <p:cNvPr id="3" name="Text 3"/>
          <p:cNvSpPr/>
          <p:nvPr/>
        </p:nvSpPr>
        <p:spPr>
          <a:xfrm>
            <a:off x="640080" y="713232"/>
            <a:ext cx="10881360" cy="822960"/>
          </a:xfrm>
          <a:prstGeom prst="rect">
            <a:avLst/>
          </a:prstGeom>
          <a:noFill/>
          <a:ln/>
        </p:spPr>
        <p:txBody>
          <a:bodyPr wrap="square" lIns="0" tIns="0" rIns="0" bIns="0" rtlCol="0" anchor="ctr"/>
          <a:lstStyle/>
          <a:p>
            <a:pPr algn="l" indent="0" marL="0">
              <a:buNone/>
            </a:pPr>
            <a:r>
              <a:rPr lang="fr-FR" sz="3400" b="1" dirty="0">
                <a:solidFill>
                  <a:srgbClr val="1A3C29"/>
                </a:solidFill>
                <a:latin typeface="Calibri" pitchFamily="34" charset="0"/>
                <a:ea typeface="Calibri" pitchFamily="34" charset="-122"/>
                <a:cs typeface="Calibri" pitchFamily="34" charset="-120"/>
              </a:rPr>
              <a:t>Corrective ou évolutive ?</a:t>
            </a:r>
            <a:endParaRPr lang="fr-FR" sz="3400" dirty="0"/>
          </a:p>
        </p:txBody>
      </p:sp>
      <p:sp>
        <p:nvSpPr>
          <p:cNvPr id="4" name="Text 4"/>
          <p:cNvSpPr/>
          <p:nvPr/>
        </p:nvSpPr>
        <p:spPr>
          <a:xfrm>
            <a:off x="640080" y="1481328"/>
            <a:ext cx="10881360" cy="274320"/>
          </a:xfrm>
          <a:prstGeom prst="rect">
            <a:avLst/>
          </a:prstGeom>
          <a:noFill/>
          <a:ln/>
        </p:spPr>
        <p:txBody>
          <a:bodyPr wrap="square" lIns="0" tIns="0" rIns="0" bIns="0" rtlCol="0" anchor="ctr"/>
          <a:lstStyle/>
          <a:p>
            <a:pPr algn="l" indent="0" marL="0">
              <a:buNone/>
            </a:pPr>
            <a:r>
              <a:rPr lang="fr-FR" sz="1200" i="1" dirty="0">
                <a:solidFill>
                  <a:srgbClr val="5F5F5F"/>
                </a:solidFill>
                <a:latin typeface="Calibri" pitchFamily="34" charset="0"/>
                <a:ea typeface="Calibri" pitchFamily="34" charset="-122"/>
                <a:cs typeface="Calibri" pitchFamily="34" charset="-120"/>
              </a:rPr>
              <a:t>Deux natures de demandes, deux traitements — et deux modes de facturation</a:t>
            </a:r>
            <a:endParaRPr lang="fr-FR" sz="1200" dirty="0"/>
          </a:p>
        </p:txBody>
      </p:sp>
      <p:sp>
        <p:nvSpPr>
          <p:cNvPr id="5" name="Shape 5"/>
          <p:cNvSpPr/>
          <p:nvPr/>
        </p:nvSpPr>
        <p:spPr>
          <a:xfrm>
            <a:off x="640080" y="1920240"/>
            <a:ext cx="5257800" cy="3611880"/>
          </a:xfrm>
          <a:prstGeom prst="roundRect">
            <a:avLst>
              <a:gd name="adj" fmla="val 2727"/>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6" name="Shape 6"/>
          <p:cNvSpPr/>
          <p:nvPr/>
        </p:nvSpPr>
        <p:spPr>
          <a:xfrm>
            <a:off x="640080" y="1920240"/>
            <a:ext cx="82296" cy="3611880"/>
          </a:xfrm>
          <a:prstGeom prst="rect">
            <a:avLst/>
          </a:prstGeom>
          <a:solidFill>
            <a:srgbClr val="C3612D"/>
          </a:solidFill>
          <a:ln w="12700">
            <a:solidFill>
              <a:srgbClr val="C3612D"/>
            </a:solidFill>
            <a:prstDash val="solid"/>
          </a:ln>
        </p:spPr>
      </p:sp>
      <p:sp>
        <p:nvSpPr>
          <p:cNvPr id="7" name="Text 7"/>
          <p:cNvSpPr/>
          <p:nvPr/>
        </p:nvSpPr>
        <p:spPr>
          <a:xfrm>
            <a:off x="960120" y="2121408"/>
            <a:ext cx="4617720" cy="292608"/>
          </a:xfrm>
          <a:prstGeom prst="rect">
            <a:avLst/>
          </a:prstGeom>
          <a:noFill/>
          <a:ln/>
        </p:spPr>
        <p:txBody>
          <a:bodyPr wrap="square" lIns="0" tIns="0" rIns="0" bIns="0" rtlCol="0" anchor="ctr"/>
          <a:lstStyle/>
          <a:p>
            <a:pPr algn="l" indent="0" marL="0">
              <a:buNone/>
            </a:pPr>
            <a:r>
              <a:rPr lang="fr-FR" sz="1200" b="1" dirty="0">
                <a:solidFill>
                  <a:srgbClr val="C3612D"/>
                </a:solidFill>
                <a:latin typeface="Calibri" pitchFamily="34" charset="0"/>
                <a:ea typeface="Calibri" pitchFamily="34" charset="-122"/>
                <a:cs typeface="Calibri" pitchFamily="34" charset="-120"/>
              </a:rPr>
              <a:t>MAINTENANCE CORRECTIVE</a:t>
            </a:r>
            <a:endParaRPr lang="fr-FR" sz="1200" dirty="0"/>
          </a:p>
        </p:txBody>
      </p:sp>
      <p:sp>
        <p:nvSpPr>
          <p:cNvPr id="8" name="Text 8"/>
          <p:cNvSpPr/>
          <p:nvPr/>
        </p:nvSpPr>
        <p:spPr>
          <a:xfrm>
            <a:off x="960120" y="2432304"/>
            <a:ext cx="4617720" cy="256032"/>
          </a:xfrm>
          <a:prstGeom prst="rect">
            <a:avLst/>
          </a:prstGeom>
          <a:noFill/>
          <a:ln/>
        </p:spPr>
        <p:txBody>
          <a:bodyPr wrap="square" lIns="0" tIns="0" rIns="0" bIns="0" rtlCol="0" anchor="ctr"/>
          <a:lstStyle/>
          <a:p>
            <a:pPr algn="l" indent="0" marL="0">
              <a:buNone/>
            </a:pPr>
            <a:r>
              <a:rPr lang="fr-FR" sz="1000" i="1" dirty="0">
                <a:solidFill>
                  <a:srgbClr val="5F5F5F"/>
                </a:solidFill>
                <a:latin typeface="Calibri" pitchFamily="34" charset="0"/>
                <a:ea typeface="Calibri" pitchFamily="34" charset="-122"/>
                <a:cs typeface="Calibri" pitchFamily="34" charset="-120"/>
              </a:rPr>
              <a:t>Ticket « Incident »</a:t>
            </a:r>
            <a:endParaRPr lang="fr-FR" sz="1000" dirty="0"/>
          </a:p>
        </p:txBody>
      </p:sp>
      <p:sp>
        <p:nvSpPr>
          <p:cNvPr id="9" name="Text 9"/>
          <p:cNvSpPr/>
          <p:nvPr/>
        </p:nvSpPr>
        <p:spPr>
          <a:xfrm>
            <a:off x="960120" y="2834640"/>
            <a:ext cx="1143000" cy="256032"/>
          </a:xfrm>
          <a:prstGeom prst="rect">
            <a:avLst/>
          </a:prstGeom>
          <a:noFill/>
          <a:ln/>
        </p:spPr>
        <p:txBody>
          <a:bodyPr wrap="square" lIns="0" tIns="0" rIns="0" bIns="0" rtlCol="0" anchor="t"/>
          <a:lstStyle/>
          <a:p>
            <a:pPr algn="l" indent="0" marL="0">
              <a:buNone/>
            </a:pPr>
            <a:r>
              <a:rPr lang="fr-FR" sz="1000" b="1" dirty="0">
                <a:solidFill>
                  <a:srgbClr val="1A3C29"/>
                </a:solidFill>
                <a:latin typeface="Calibri" pitchFamily="34" charset="0"/>
                <a:ea typeface="Calibri" pitchFamily="34" charset="-122"/>
                <a:cs typeface="Calibri" pitchFamily="34" charset="-120"/>
              </a:rPr>
              <a:t>Déclencheur</a:t>
            </a:r>
            <a:endParaRPr lang="fr-FR" sz="1000" dirty="0"/>
          </a:p>
        </p:txBody>
      </p:sp>
      <p:sp>
        <p:nvSpPr>
          <p:cNvPr id="10" name="Text 10"/>
          <p:cNvSpPr/>
          <p:nvPr/>
        </p:nvSpPr>
        <p:spPr>
          <a:xfrm>
            <a:off x="2148840" y="2834640"/>
            <a:ext cx="3429000" cy="256032"/>
          </a:xfrm>
          <a:prstGeom prst="rect">
            <a:avLst/>
          </a:prstGeom>
          <a:noFill/>
          <a:ln/>
        </p:spPr>
        <p:txBody>
          <a:bodyPr wrap="square" lIns="0" tIns="0" rIns="0" bIns="0" rtlCol="0" anchor="t"/>
          <a:lstStyle/>
          <a:p>
            <a:pPr algn="l" indent="0" marL="0">
              <a:buNone/>
            </a:pPr>
            <a:r>
              <a:rPr lang="fr-FR" sz="950" dirty="0">
                <a:solidFill>
                  <a:srgbClr val="5F5F5F"/>
                </a:solidFill>
                <a:latin typeface="Calibri" pitchFamily="34" charset="0"/>
                <a:ea typeface="Calibri" pitchFamily="34" charset="-122"/>
                <a:cs typeface="Calibri" pitchFamily="34" charset="-120"/>
              </a:rPr>
              <a:t>Bug signalé par le client ou détecté en supervision</a:t>
            </a:r>
            <a:endParaRPr lang="fr-FR" sz="950" dirty="0"/>
          </a:p>
        </p:txBody>
      </p:sp>
      <p:sp>
        <p:nvSpPr>
          <p:cNvPr id="11" name="Text 11"/>
          <p:cNvSpPr/>
          <p:nvPr/>
        </p:nvSpPr>
        <p:spPr>
          <a:xfrm>
            <a:off x="960120" y="3364992"/>
            <a:ext cx="1143000" cy="256032"/>
          </a:xfrm>
          <a:prstGeom prst="rect">
            <a:avLst/>
          </a:prstGeom>
          <a:noFill/>
          <a:ln/>
        </p:spPr>
        <p:txBody>
          <a:bodyPr wrap="square" lIns="0" tIns="0" rIns="0" bIns="0" rtlCol="0" anchor="t"/>
          <a:lstStyle/>
          <a:p>
            <a:pPr algn="l" indent="0" marL="0">
              <a:buNone/>
            </a:pPr>
            <a:r>
              <a:rPr lang="fr-FR" sz="1000" b="1" dirty="0">
                <a:solidFill>
                  <a:srgbClr val="1A3C29"/>
                </a:solidFill>
                <a:latin typeface="Calibri" pitchFamily="34" charset="0"/>
                <a:ea typeface="Calibri" pitchFamily="34" charset="-122"/>
                <a:cs typeface="Calibri" pitchFamily="34" charset="-120"/>
              </a:rPr>
              <a:t>Objectif</a:t>
            </a:r>
            <a:endParaRPr lang="fr-FR" sz="1000" dirty="0"/>
          </a:p>
        </p:txBody>
      </p:sp>
      <p:sp>
        <p:nvSpPr>
          <p:cNvPr id="12" name="Text 12"/>
          <p:cNvSpPr/>
          <p:nvPr/>
        </p:nvSpPr>
        <p:spPr>
          <a:xfrm>
            <a:off x="2148840" y="3364992"/>
            <a:ext cx="3429000" cy="256032"/>
          </a:xfrm>
          <a:prstGeom prst="rect">
            <a:avLst/>
          </a:prstGeom>
          <a:noFill/>
          <a:ln/>
        </p:spPr>
        <p:txBody>
          <a:bodyPr wrap="square" lIns="0" tIns="0" rIns="0" bIns="0" rtlCol="0" anchor="t"/>
          <a:lstStyle/>
          <a:p>
            <a:pPr algn="l" indent="0" marL="0">
              <a:buNone/>
            </a:pPr>
            <a:r>
              <a:rPr lang="fr-FR" sz="950" dirty="0">
                <a:solidFill>
                  <a:srgbClr val="5F5F5F"/>
                </a:solidFill>
                <a:latin typeface="Calibri" pitchFamily="34" charset="0"/>
                <a:ea typeface="Calibri" pitchFamily="34" charset="-122"/>
                <a:cs typeface="Calibri" pitchFamily="34" charset="-120"/>
              </a:rPr>
              <a:t>Rétablir le service au plus vite</a:t>
            </a:r>
            <a:endParaRPr lang="fr-FR" sz="950" dirty="0"/>
          </a:p>
        </p:txBody>
      </p:sp>
      <p:sp>
        <p:nvSpPr>
          <p:cNvPr id="13" name="Text 13"/>
          <p:cNvSpPr/>
          <p:nvPr/>
        </p:nvSpPr>
        <p:spPr>
          <a:xfrm>
            <a:off x="960120" y="3895344"/>
            <a:ext cx="1143000" cy="256032"/>
          </a:xfrm>
          <a:prstGeom prst="rect">
            <a:avLst/>
          </a:prstGeom>
          <a:noFill/>
          <a:ln/>
        </p:spPr>
        <p:txBody>
          <a:bodyPr wrap="square" lIns="0" tIns="0" rIns="0" bIns="0" rtlCol="0" anchor="t"/>
          <a:lstStyle/>
          <a:p>
            <a:pPr algn="l" indent="0" marL="0">
              <a:buNone/>
            </a:pPr>
            <a:r>
              <a:rPr lang="fr-FR" sz="1000" b="1" dirty="0">
                <a:solidFill>
                  <a:srgbClr val="1A3C29"/>
                </a:solidFill>
                <a:latin typeface="Calibri" pitchFamily="34" charset="0"/>
                <a:ea typeface="Calibri" pitchFamily="34" charset="-122"/>
                <a:cs typeface="Calibri" pitchFamily="34" charset="-120"/>
              </a:rPr>
              <a:t>Délais</a:t>
            </a:r>
            <a:endParaRPr lang="fr-FR" sz="1000" dirty="0"/>
          </a:p>
        </p:txBody>
      </p:sp>
      <p:sp>
        <p:nvSpPr>
          <p:cNvPr id="14" name="Text 14"/>
          <p:cNvSpPr/>
          <p:nvPr/>
        </p:nvSpPr>
        <p:spPr>
          <a:xfrm>
            <a:off x="2148840" y="3895344"/>
            <a:ext cx="3429000" cy="256032"/>
          </a:xfrm>
          <a:prstGeom prst="rect">
            <a:avLst/>
          </a:prstGeom>
          <a:noFill/>
          <a:ln/>
        </p:spPr>
        <p:txBody>
          <a:bodyPr wrap="square" lIns="0" tIns="0" rIns="0" bIns="0" rtlCol="0" anchor="t"/>
          <a:lstStyle/>
          <a:p>
            <a:pPr algn="l" indent="0" marL="0">
              <a:buNone/>
            </a:pPr>
            <a:r>
              <a:rPr lang="fr-FR" sz="950" dirty="0">
                <a:solidFill>
                  <a:srgbClr val="5F5F5F"/>
                </a:solidFill>
                <a:latin typeface="Calibri" pitchFamily="34" charset="0"/>
                <a:ea typeface="Calibri" pitchFamily="34" charset="-122"/>
                <a:cs typeface="Calibri" pitchFamily="34" charset="-120"/>
              </a:rPr>
              <a:t>SLA contractuels : 1 h de prise en compte, 3 h de correction si bloquant</a:t>
            </a:r>
            <a:endParaRPr lang="fr-FR" sz="950" dirty="0"/>
          </a:p>
        </p:txBody>
      </p:sp>
      <p:sp>
        <p:nvSpPr>
          <p:cNvPr id="15" name="Text 15"/>
          <p:cNvSpPr/>
          <p:nvPr/>
        </p:nvSpPr>
        <p:spPr>
          <a:xfrm>
            <a:off x="960120" y="4425696"/>
            <a:ext cx="1143000" cy="256032"/>
          </a:xfrm>
          <a:prstGeom prst="rect">
            <a:avLst/>
          </a:prstGeom>
          <a:noFill/>
          <a:ln/>
        </p:spPr>
        <p:txBody>
          <a:bodyPr wrap="square" lIns="0" tIns="0" rIns="0" bIns="0" rtlCol="0" anchor="t"/>
          <a:lstStyle/>
          <a:p>
            <a:pPr algn="l" indent="0" marL="0">
              <a:buNone/>
            </a:pPr>
            <a:r>
              <a:rPr lang="fr-FR" sz="1000" b="1" dirty="0">
                <a:solidFill>
                  <a:srgbClr val="1A3C29"/>
                </a:solidFill>
                <a:latin typeface="Calibri" pitchFamily="34" charset="0"/>
                <a:ea typeface="Calibri" pitchFamily="34" charset="-122"/>
                <a:cs typeface="Calibri" pitchFamily="34" charset="-120"/>
              </a:rPr>
              <a:t>Parcours</a:t>
            </a:r>
            <a:endParaRPr lang="fr-FR" sz="1000" dirty="0"/>
          </a:p>
        </p:txBody>
      </p:sp>
      <p:sp>
        <p:nvSpPr>
          <p:cNvPr id="16" name="Text 16"/>
          <p:cNvSpPr/>
          <p:nvPr/>
        </p:nvSpPr>
        <p:spPr>
          <a:xfrm>
            <a:off x="2148840" y="4425696"/>
            <a:ext cx="3429000" cy="256032"/>
          </a:xfrm>
          <a:prstGeom prst="rect">
            <a:avLst/>
          </a:prstGeom>
          <a:noFill/>
          <a:ln/>
        </p:spPr>
        <p:txBody>
          <a:bodyPr wrap="square" lIns="0" tIns="0" rIns="0" bIns="0" rtlCol="0" anchor="t"/>
          <a:lstStyle/>
          <a:p>
            <a:pPr algn="l" indent="0" marL="0">
              <a:buNone/>
            </a:pPr>
            <a:r>
              <a:rPr lang="fr-FR" sz="950" dirty="0">
                <a:solidFill>
                  <a:srgbClr val="5F5F5F"/>
                </a:solidFill>
                <a:latin typeface="Calibri" pitchFamily="34" charset="0"/>
                <a:ea typeface="Calibri" pitchFamily="34" charset="-122"/>
                <a:cs typeface="Calibri" pitchFamily="34" charset="-120"/>
              </a:rPr>
              <a:t>Qualification → diagnostic → correctif → tests de non-régression → validation</a:t>
            </a:r>
            <a:endParaRPr lang="fr-FR" sz="950" dirty="0"/>
          </a:p>
        </p:txBody>
      </p:sp>
      <p:sp>
        <p:nvSpPr>
          <p:cNvPr id="17" name="Text 17"/>
          <p:cNvSpPr/>
          <p:nvPr/>
        </p:nvSpPr>
        <p:spPr>
          <a:xfrm>
            <a:off x="960120" y="4956048"/>
            <a:ext cx="1143000" cy="256032"/>
          </a:xfrm>
          <a:prstGeom prst="rect">
            <a:avLst/>
          </a:prstGeom>
          <a:noFill/>
          <a:ln/>
        </p:spPr>
        <p:txBody>
          <a:bodyPr wrap="square" lIns="0" tIns="0" rIns="0" bIns="0" rtlCol="0" anchor="t"/>
          <a:lstStyle/>
          <a:p>
            <a:pPr algn="l" indent="0" marL="0">
              <a:buNone/>
            </a:pPr>
            <a:r>
              <a:rPr lang="fr-FR" sz="1000" b="1" dirty="0">
                <a:solidFill>
                  <a:srgbClr val="1A3C29"/>
                </a:solidFill>
                <a:latin typeface="Calibri" pitchFamily="34" charset="0"/>
                <a:ea typeface="Calibri" pitchFamily="34" charset="-122"/>
                <a:cs typeface="Calibri" pitchFamily="34" charset="-120"/>
              </a:rPr>
              <a:t>Coût</a:t>
            </a:r>
            <a:endParaRPr lang="fr-FR" sz="1000" dirty="0"/>
          </a:p>
        </p:txBody>
      </p:sp>
      <p:sp>
        <p:nvSpPr>
          <p:cNvPr id="18" name="Text 18"/>
          <p:cNvSpPr/>
          <p:nvPr/>
        </p:nvSpPr>
        <p:spPr>
          <a:xfrm>
            <a:off x="2148840" y="4956048"/>
            <a:ext cx="3429000" cy="256032"/>
          </a:xfrm>
          <a:prstGeom prst="rect">
            <a:avLst/>
          </a:prstGeom>
          <a:noFill/>
          <a:ln/>
        </p:spPr>
        <p:txBody>
          <a:bodyPr wrap="square" lIns="0" tIns="0" rIns="0" bIns="0" rtlCol="0" anchor="t"/>
          <a:lstStyle/>
          <a:p>
            <a:pPr algn="l" indent="0" marL="0">
              <a:buNone/>
            </a:pPr>
            <a:r>
              <a:rPr lang="fr-FR" sz="950" dirty="0">
                <a:solidFill>
                  <a:srgbClr val="5F5F5F"/>
                </a:solidFill>
                <a:latin typeface="Calibri" pitchFamily="34" charset="0"/>
                <a:ea typeface="Calibri" pitchFamily="34" charset="-122"/>
                <a:cs typeface="Calibri" pitchFamily="34" charset="-120"/>
              </a:rPr>
              <a:t>Compris dans le forfait de maintenance</a:t>
            </a:r>
            <a:endParaRPr lang="fr-FR" sz="950" dirty="0"/>
          </a:p>
        </p:txBody>
      </p:sp>
      <p:sp>
        <p:nvSpPr>
          <p:cNvPr id="19" name="Shape 19"/>
          <p:cNvSpPr/>
          <p:nvPr/>
        </p:nvSpPr>
        <p:spPr>
          <a:xfrm>
            <a:off x="6263640" y="1920240"/>
            <a:ext cx="5257800" cy="3611880"/>
          </a:xfrm>
          <a:prstGeom prst="roundRect">
            <a:avLst>
              <a:gd name="adj" fmla="val 2727"/>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20" name="Shape 20"/>
          <p:cNvSpPr/>
          <p:nvPr/>
        </p:nvSpPr>
        <p:spPr>
          <a:xfrm>
            <a:off x="6263640" y="1920240"/>
            <a:ext cx="82296" cy="3611880"/>
          </a:xfrm>
          <a:prstGeom prst="rect">
            <a:avLst/>
          </a:prstGeom>
          <a:solidFill>
            <a:srgbClr val="1A3C29"/>
          </a:solidFill>
          <a:ln w="12700">
            <a:solidFill>
              <a:srgbClr val="1A3C29"/>
            </a:solidFill>
            <a:prstDash val="solid"/>
          </a:ln>
        </p:spPr>
      </p:sp>
      <p:sp>
        <p:nvSpPr>
          <p:cNvPr id="21" name="Text 21"/>
          <p:cNvSpPr/>
          <p:nvPr/>
        </p:nvSpPr>
        <p:spPr>
          <a:xfrm>
            <a:off x="6583680" y="2121408"/>
            <a:ext cx="4617720" cy="292608"/>
          </a:xfrm>
          <a:prstGeom prst="rect">
            <a:avLst/>
          </a:prstGeom>
          <a:noFill/>
          <a:ln/>
        </p:spPr>
        <p:txBody>
          <a:bodyPr wrap="square" lIns="0" tIns="0" rIns="0" bIns="0" rtlCol="0" anchor="ctr"/>
          <a:lstStyle/>
          <a:p>
            <a:pPr algn="l" indent="0" marL="0">
              <a:buNone/>
            </a:pPr>
            <a:r>
              <a:rPr lang="fr-FR" sz="1200" b="1" dirty="0">
                <a:solidFill>
                  <a:srgbClr val="1A3C29"/>
                </a:solidFill>
                <a:latin typeface="Calibri" pitchFamily="34" charset="0"/>
                <a:ea typeface="Calibri" pitchFamily="34" charset="-122"/>
                <a:cs typeface="Calibri" pitchFamily="34" charset="-120"/>
              </a:rPr>
              <a:t>MAINTENANCE ÉVOLUTIVE</a:t>
            </a:r>
            <a:endParaRPr lang="fr-FR" sz="1200" dirty="0"/>
          </a:p>
        </p:txBody>
      </p:sp>
      <p:sp>
        <p:nvSpPr>
          <p:cNvPr id="22" name="Text 22"/>
          <p:cNvSpPr/>
          <p:nvPr/>
        </p:nvSpPr>
        <p:spPr>
          <a:xfrm>
            <a:off x="6583680" y="2432304"/>
            <a:ext cx="4617720" cy="256032"/>
          </a:xfrm>
          <a:prstGeom prst="rect">
            <a:avLst/>
          </a:prstGeom>
          <a:noFill/>
          <a:ln/>
        </p:spPr>
        <p:txBody>
          <a:bodyPr wrap="square" lIns="0" tIns="0" rIns="0" bIns="0" rtlCol="0" anchor="ctr"/>
          <a:lstStyle/>
          <a:p>
            <a:pPr algn="l" indent="0" marL="0">
              <a:buNone/>
            </a:pPr>
            <a:r>
              <a:rPr lang="fr-FR" sz="1000" i="1" dirty="0">
                <a:solidFill>
                  <a:srgbClr val="5F5F5F"/>
                </a:solidFill>
                <a:latin typeface="Calibri" pitchFamily="34" charset="0"/>
                <a:ea typeface="Calibri" pitchFamily="34" charset="-122"/>
                <a:cs typeface="Calibri" pitchFamily="34" charset="-120"/>
              </a:rPr>
              <a:t>Ticket « Évolution »</a:t>
            </a:r>
            <a:endParaRPr lang="fr-FR" sz="1000" dirty="0"/>
          </a:p>
        </p:txBody>
      </p:sp>
      <p:sp>
        <p:nvSpPr>
          <p:cNvPr id="23" name="Text 23"/>
          <p:cNvSpPr/>
          <p:nvPr/>
        </p:nvSpPr>
        <p:spPr>
          <a:xfrm>
            <a:off x="6583680" y="2834640"/>
            <a:ext cx="1143000" cy="256032"/>
          </a:xfrm>
          <a:prstGeom prst="rect">
            <a:avLst/>
          </a:prstGeom>
          <a:noFill/>
          <a:ln/>
        </p:spPr>
        <p:txBody>
          <a:bodyPr wrap="square" lIns="0" tIns="0" rIns="0" bIns="0" rtlCol="0" anchor="t"/>
          <a:lstStyle/>
          <a:p>
            <a:pPr algn="l" indent="0" marL="0">
              <a:buNone/>
            </a:pPr>
            <a:r>
              <a:rPr lang="fr-FR" sz="1000" b="1" dirty="0">
                <a:solidFill>
                  <a:srgbClr val="1A3C29"/>
                </a:solidFill>
                <a:latin typeface="Calibri" pitchFamily="34" charset="0"/>
                <a:ea typeface="Calibri" pitchFamily="34" charset="-122"/>
                <a:cs typeface="Calibri" pitchFamily="34" charset="-120"/>
              </a:rPr>
              <a:t>Déclencheur</a:t>
            </a:r>
            <a:endParaRPr lang="fr-FR" sz="1000" dirty="0"/>
          </a:p>
        </p:txBody>
      </p:sp>
      <p:sp>
        <p:nvSpPr>
          <p:cNvPr id="24" name="Text 24"/>
          <p:cNvSpPr/>
          <p:nvPr/>
        </p:nvSpPr>
        <p:spPr>
          <a:xfrm>
            <a:off x="7772400" y="2834640"/>
            <a:ext cx="3429000" cy="256032"/>
          </a:xfrm>
          <a:prstGeom prst="rect">
            <a:avLst/>
          </a:prstGeom>
          <a:noFill/>
          <a:ln/>
        </p:spPr>
        <p:txBody>
          <a:bodyPr wrap="square" lIns="0" tIns="0" rIns="0" bIns="0" rtlCol="0" anchor="t"/>
          <a:lstStyle/>
          <a:p>
            <a:pPr algn="l" indent="0" marL="0">
              <a:buNone/>
            </a:pPr>
            <a:r>
              <a:rPr lang="fr-FR" sz="950" dirty="0">
                <a:solidFill>
                  <a:srgbClr val="5F5F5F"/>
                </a:solidFill>
                <a:latin typeface="Calibri" pitchFamily="34" charset="0"/>
                <a:ea typeface="Calibri" pitchFamily="34" charset="-122"/>
                <a:cs typeface="Calibri" pitchFamily="34" charset="-120"/>
              </a:rPr>
              <a:t>Nouveau besoin exprimé par le Ministère</a:t>
            </a:r>
            <a:endParaRPr lang="fr-FR" sz="950" dirty="0"/>
          </a:p>
        </p:txBody>
      </p:sp>
      <p:sp>
        <p:nvSpPr>
          <p:cNvPr id="25" name="Text 25"/>
          <p:cNvSpPr/>
          <p:nvPr/>
        </p:nvSpPr>
        <p:spPr>
          <a:xfrm>
            <a:off x="6583680" y="3364992"/>
            <a:ext cx="1143000" cy="256032"/>
          </a:xfrm>
          <a:prstGeom prst="rect">
            <a:avLst/>
          </a:prstGeom>
          <a:noFill/>
          <a:ln/>
        </p:spPr>
        <p:txBody>
          <a:bodyPr wrap="square" lIns="0" tIns="0" rIns="0" bIns="0" rtlCol="0" anchor="t"/>
          <a:lstStyle/>
          <a:p>
            <a:pPr algn="l" indent="0" marL="0">
              <a:buNone/>
            </a:pPr>
            <a:r>
              <a:rPr lang="fr-FR" sz="1000" b="1" dirty="0">
                <a:solidFill>
                  <a:srgbClr val="1A3C29"/>
                </a:solidFill>
                <a:latin typeface="Calibri" pitchFamily="34" charset="0"/>
                <a:ea typeface="Calibri" pitchFamily="34" charset="-122"/>
                <a:cs typeface="Calibri" pitchFamily="34" charset="-120"/>
              </a:rPr>
              <a:t>Objectif</a:t>
            </a:r>
            <a:endParaRPr lang="fr-FR" sz="1000" dirty="0"/>
          </a:p>
        </p:txBody>
      </p:sp>
      <p:sp>
        <p:nvSpPr>
          <p:cNvPr id="26" name="Text 26"/>
          <p:cNvSpPr/>
          <p:nvPr/>
        </p:nvSpPr>
        <p:spPr>
          <a:xfrm>
            <a:off x="7772400" y="3364992"/>
            <a:ext cx="3429000" cy="256032"/>
          </a:xfrm>
          <a:prstGeom prst="rect">
            <a:avLst/>
          </a:prstGeom>
          <a:noFill/>
          <a:ln/>
        </p:spPr>
        <p:txBody>
          <a:bodyPr wrap="square" lIns="0" tIns="0" rIns="0" bIns="0" rtlCol="0" anchor="t"/>
          <a:lstStyle/>
          <a:p>
            <a:pPr algn="l" indent="0" marL="0">
              <a:buNone/>
            </a:pPr>
            <a:r>
              <a:rPr lang="fr-FR" sz="950" dirty="0">
                <a:solidFill>
                  <a:srgbClr val="5F5F5F"/>
                </a:solidFill>
                <a:latin typeface="Calibri" pitchFamily="34" charset="0"/>
                <a:ea typeface="Calibri" pitchFamily="34" charset="-122"/>
                <a:cs typeface="Calibri" pitchFamily="34" charset="-120"/>
              </a:rPr>
              <a:t>Faire évoluer le produit</a:t>
            </a:r>
            <a:endParaRPr lang="fr-FR" sz="950" dirty="0"/>
          </a:p>
        </p:txBody>
      </p:sp>
      <p:sp>
        <p:nvSpPr>
          <p:cNvPr id="27" name="Text 27"/>
          <p:cNvSpPr/>
          <p:nvPr/>
        </p:nvSpPr>
        <p:spPr>
          <a:xfrm>
            <a:off x="6583680" y="3895344"/>
            <a:ext cx="1143000" cy="256032"/>
          </a:xfrm>
          <a:prstGeom prst="rect">
            <a:avLst/>
          </a:prstGeom>
          <a:noFill/>
          <a:ln/>
        </p:spPr>
        <p:txBody>
          <a:bodyPr wrap="square" lIns="0" tIns="0" rIns="0" bIns="0" rtlCol="0" anchor="t"/>
          <a:lstStyle/>
          <a:p>
            <a:pPr algn="l" indent="0" marL="0">
              <a:buNone/>
            </a:pPr>
            <a:r>
              <a:rPr lang="fr-FR" sz="1000" b="1" dirty="0">
                <a:solidFill>
                  <a:srgbClr val="1A3C29"/>
                </a:solidFill>
                <a:latin typeface="Calibri" pitchFamily="34" charset="0"/>
                <a:ea typeface="Calibri" pitchFamily="34" charset="-122"/>
                <a:cs typeface="Calibri" pitchFamily="34" charset="-120"/>
              </a:rPr>
              <a:t>Délais</a:t>
            </a:r>
            <a:endParaRPr lang="fr-FR" sz="1000" dirty="0"/>
          </a:p>
        </p:txBody>
      </p:sp>
      <p:sp>
        <p:nvSpPr>
          <p:cNvPr id="28" name="Text 28"/>
          <p:cNvSpPr/>
          <p:nvPr/>
        </p:nvSpPr>
        <p:spPr>
          <a:xfrm>
            <a:off x="7772400" y="3895344"/>
            <a:ext cx="3429000" cy="256032"/>
          </a:xfrm>
          <a:prstGeom prst="rect">
            <a:avLst/>
          </a:prstGeom>
          <a:noFill/>
          <a:ln/>
        </p:spPr>
        <p:txBody>
          <a:bodyPr wrap="square" lIns="0" tIns="0" rIns="0" bIns="0" rtlCol="0" anchor="t"/>
          <a:lstStyle/>
          <a:p>
            <a:pPr algn="l" indent="0" marL="0">
              <a:buNone/>
            </a:pPr>
            <a:r>
              <a:rPr lang="fr-FR" sz="950" dirty="0">
                <a:solidFill>
                  <a:srgbClr val="5F5F5F"/>
                </a:solidFill>
                <a:latin typeface="Calibri" pitchFamily="34" charset="0"/>
                <a:ea typeface="Calibri" pitchFamily="34" charset="-122"/>
                <a:cs typeface="Calibri" pitchFamily="34" charset="-120"/>
              </a:rPr>
              <a:t>Pas de SLA : délai annoncé après analyse</a:t>
            </a:r>
            <a:endParaRPr lang="fr-FR" sz="950" dirty="0"/>
          </a:p>
        </p:txBody>
      </p:sp>
      <p:sp>
        <p:nvSpPr>
          <p:cNvPr id="29" name="Text 29"/>
          <p:cNvSpPr/>
          <p:nvPr/>
        </p:nvSpPr>
        <p:spPr>
          <a:xfrm>
            <a:off x="6583680" y="4425696"/>
            <a:ext cx="1143000" cy="256032"/>
          </a:xfrm>
          <a:prstGeom prst="rect">
            <a:avLst/>
          </a:prstGeom>
          <a:noFill/>
          <a:ln/>
        </p:spPr>
        <p:txBody>
          <a:bodyPr wrap="square" lIns="0" tIns="0" rIns="0" bIns="0" rtlCol="0" anchor="t"/>
          <a:lstStyle/>
          <a:p>
            <a:pPr algn="l" indent="0" marL="0">
              <a:buNone/>
            </a:pPr>
            <a:r>
              <a:rPr lang="fr-FR" sz="1000" b="1" dirty="0">
                <a:solidFill>
                  <a:srgbClr val="1A3C29"/>
                </a:solidFill>
                <a:latin typeface="Calibri" pitchFamily="34" charset="0"/>
                <a:ea typeface="Calibri" pitchFamily="34" charset="-122"/>
                <a:cs typeface="Calibri" pitchFamily="34" charset="-120"/>
              </a:rPr>
              <a:t>Parcours</a:t>
            </a:r>
            <a:endParaRPr lang="fr-FR" sz="1000" dirty="0"/>
          </a:p>
        </p:txBody>
      </p:sp>
      <p:sp>
        <p:nvSpPr>
          <p:cNvPr id="30" name="Text 30"/>
          <p:cNvSpPr/>
          <p:nvPr/>
        </p:nvSpPr>
        <p:spPr>
          <a:xfrm>
            <a:off x="7772400" y="4425696"/>
            <a:ext cx="3429000" cy="256032"/>
          </a:xfrm>
          <a:prstGeom prst="rect">
            <a:avLst/>
          </a:prstGeom>
          <a:noFill/>
          <a:ln/>
        </p:spPr>
        <p:txBody>
          <a:bodyPr wrap="square" lIns="0" tIns="0" rIns="0" bIns="0" rtlCol="0" anchor="t"/>
          <a:lstStyle/>
          <a:p>
            <a:pPr algn="l" indent="0" marL="0">
              <a:buNone/>
            </a:pPr>
            <a:r>
              <a:rPr lang="fr-FR" sz="950" dirty="0">
                <a:solidFill>
                  <a:srgbClr val="5F5F5F"/>
                </a:solidFill>
                <a:latin typeface="Calibri" pitchFamily="34" charset="0"/>
                <a:ea typeface="Calibri" pitchFamily="34" charset="-122"/>
                <a:cs typeface="Calibri" pitchFamily="34" charset="-120"/>
              </a:rPr>
              <a:t>Analyse → chiffrage (délai + coût) → accord client → développement → recette</a:t>
            </a:r>
            <a:endParaRPr lang="fr-FR" sz="950" dirty="0"/>
          </a:p>
        </p:txBody>
      </p:sp>
      <p:sp>
        <p:nvSpPr>
          <p:cNvPr id="31" name="Text 31"/>
          <p:cNvSpPr/>
          <p:nvPr/>
        </p:nvSpPr>
        <p:spPr>
          <a:xfrm>
            <a:off x="6583680" y="4956048"/>
            <a:ext cx="1143000" cy="256032"/>
          </a:xfrm>
          <a:prstGeom prst="rect">
            <a:avLst/>
          </a:prstGeom>
          <a:noFill/>
          <a:ln/>
        </p:spPr>
        <p:txBody>
          <a:bodyPr wrap="square" lIns="0" tIns="0" rIns="0" bIns="0" rtlCol="0" anchor="t"/>
          <a:lstStyle/>
          <a:p>
            <a:pPr algn="l" indent="0" marL="0">
              <a:buNone/>
            </a:pPr>
            <a:r>
              <a:rPr lang="fr-FR" sz="1000" b="1" dirty="0">
                <a:solidFill>
                  <a:srgbClr val="1A3C29"/>
                </a:solidFill>
                <a:latin typeface="Calibri" pitchFamily="34" charset="0"/>
                <a:ea typeface="Calibri" pitchFamily="34" charset="-122"/>
                <a:cs typeface="Calibri" pitchFamily="34" charset="-120"/>
              </a:rPr>
              <a:t>Coût</a:t>
            </a:r>
            <a:endParaRPr lang="fr-FR" sz="1000" dirty="0"/>
          </a:p>
        </p:txBody>
      </p:sp>
      <p:sp>
        <p:nvSpPr>
          <p:cNvPr id="32" name="Text 32"/>
          <p:cNvSpPr/>
          <p:nvPr/>
        </p:nvSpPr>
        <p:spPr>
          <a:xfrm>
            <a:off x="7772400" y="4956048"/>
            <a:ext cx="3429000" cy="256032"/>
          </a:xfrm>
          <a:prstGeom prst="rect">
            <a:avLst/>
          </a:prstGeom>
          <a:noFill/>
          <a:ln/>
        </p:spPr>
        <p:txBody>
          <a:bodyPr wrap="square" lIns="0" tIns="0" rIns="0" bIns="0" rtlCol="0" anchor="t"/>
          <a:lstStyle/>
          <a:p>
            <a:pPr algn="l" indent="0" marL="0">
              <a:buNone/>
            </a:pPr>
            <a:r>
              <a:rPr lang="fr-FR" sz="950" dirty="0">
                <a:solidFill>
                  <a:srgbClr val="5F5F5F"/>
                </a:solidFill>
                <a:latin typeface="Calibri" pitchFamily="34" charset="0"/>
                <a:ea typeface="Calibri" pitchFamily="34" charset="-122"/>
                <a:cs typeface="Calibri" pitchFamily="34" charset="-120"/>
              </a:rPr>
              <a:t>Devis validé avant tout développement</a:t>
            </a:r>
            <a:endParaRPr lang="fr-FR" sz="950" dirty="0"/>
          </a:p>
        </p:txBody>
      </p:sp>
      <p:sp>
        <p:nvSpPr>
          <p:cNvPr id="33" name="Shape 33"/>
          <p:cNvSpPr/>
          <p:nvPr/>
        </p:nvSpPr>
        <p:spPr>
          <a:xfrm>
            <a:off x="640080" y="5715000"/>
            <a:ext cx="10881360" cy="502920"/>
          </a:xfrm>
          <a:prstGeom prst="roundRect">
            <a:avLst>
              <a:gd name="adj" fmla="val 2727"/>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34" name="Text 34"/>
          <p:cNvSpPr/>
          <p:nvPr/>
        </p:nvSpPr>
        <p:spPr>
          <a:xfrm>
            <a:off x="914400" y="5852160"/>
            <a:ext cx="10332720" cy="228600"/>
          </a:xfrm>
          <a:prstGeom prst="rect">
            <a:avLst/>
          </a:prstGeom>
          <a:noFill/>
          <a:ln/>
        </p:spPr>
        <p:txBody>
          <a:bodyPr wrap="square" lIns="0" tIns="0" rIns="0" bIns="0" rtlCol="0" anchor="ctr"/>
          <a:lstStyle/>
          <a:p>
            <a:pPr algn="ctr" indent="0" marL="0">
              <a:buNone/>
            </a:pPr>
            <a:r>
              <a:rPr lang="fr-FR" sz="1150" b="1" dirty="0">
                <a:solidFill>
                  <a:srgbClr val="1A3C29"/>
                </a:solidFill>
                <a:latin typeface="Calibri" pitchFamily="34" charset="0"/>
                <a:ea typeface="Calibri" pitchFamily="34" charset="-122"/>
                <a:cs typeface="Calibri" pitchFamily="34" charset="-120"/>
              </a:rPr>
              <a:t>Un troisième type de ticket, la Tâche interne : veille de sécurité, npm audit et mises à jour de dépendances.</a:t>
            </a:r>
            <a:endParaRPr lang="fr-FR" sz="1150" dirty="0"/>
          </a:p>
        </p:txBody>
      </p:sp>
      <p:sp>
        <p:nvSpPr>
          <p:cNvPr id="35" name="Shape 35"/>
          <p:cNvSpPr/>
          <p:nvPr/>
        </p:nvSpPr>
        <p:spPr>
          <a:xfrm>
            <a:off x="0" y="6355080"/>
            <a:ext cx="12188952" cy="502920"/>
          </a:xfrm>
          <a:prstGeom prst="rect">
            <a:avLst/>
          </a:prstGeom>
          <a:solidFill>
            <a:srgbClr val="1A3C29"/>
          </a:solidFill>
          <a:ln w="12700">
            <a:solidFill>
              <a:srgbClr val="1A3C29"/>
            </a:solidFill>
            <a:prstDash val="solid"/>
          </a:ln>
        </p:spPr>
      </p:sp>
      <p:sp>
        <p:nvSpPr>
          <p:cNvPr id="36" name="Text 36"/>
          <p:cNvSpPr/>
          <p:nvPr/>
        </p:nvSpPr>
        <p:spPr>
          <a:xfrm>
            <a:off x="502920" y="6382512"/>
            <a:ext cx="4572000" cy="237744"/>
          </a:xfrm>
          <a:prstGeom prst="rect">
            <a:avLst/>
          </a:prstGeom>
          <a:noFill/>
          <a:ln/>
        </p:spPr>
        <p:txBody>
          <a:bodyPr wrap="square" lIns="0" tIns="0" rIns="0" bIns="0" rtlCol="0" anchor="ctr"/>
          <a:lstStyle/>
          <a:p>
            <a:pPr algn="l" indent="0" marL="0">
              <a:buNone/>
            </a:pPr>
            <a:r>
              <a:rPr lang="fr-FR" sz="1000" b="1" dirty="0">
                <a:solidFill>
                  <a:srgbClr val="FFFFFF"/>
                </a:solidFill>
                <a:latin typeface="Calibri" pitchFamily="34" charset="0"/>
                <a:ea typeface="Calibri" pitchFamily="34" charset="-122"/>
                <a:cs typeface="Calibri" pitchFamily="34" charset="-120"/>
              </a:rPr>
              <a:t>RENOIR&amp;ALINE</a:t>
            </a:r>
            <a:endParaRPr lang="fr-FR" sz="1000" dirty="0"/>
          </a:p>
        </p:txBody>
      </p:sp>
      <p:sp>
        <p:nvSpPr>
          <p:cNvPr id="37" name="Text 37"/>
          <p:cNvSpPr/>
          <p:nvPr/>
        </p:nvSpPr>
        <p:spPr>
          <a:xfrm>
            <a:off x="502920" y="6601968"/>
            <a:ext cx="4572000" cy="182880"/>
          </a:xfrm>
          <a:prstGeom prst="rect">
            <a:avLst/>
          </a:prstGeom>
          <a:noFill/>
          <a:ln/>
        </p:spPr>
        <p:txBody>
          <a:bodyPr wrap="square" lIns="0" tIns="0" rIns="0" bIns="0" rtlCol="0" anchor="ctr"/>
          <a:lstStyle/>
          <a:p>
            <a:pPr algn="l" indent="0" marL="0">
              <a:buNone/>
            </a:pPr>
            <a:r>
              <a:rPr lang="fr-FR" sz="700" spc="200" kern="0" dirty="0">
                <a:solidFill>
                  <a:srgbClr val="8AA595"/>
                </a:solidFill>
                <a:latin typeface="Calibri" pitchFamily="34" charset="0"/>
                <a:ea typeface="Calibri" pitchFamily="34" charset="-122"/>
                <a:cs typeface="Calibri" pitchFamily="34" charset="-120"/>
              </a:rPr>
              <a:t>CONSTRUCTEUR DE SITE WEB</a:t>
            </a:r>
            <a:endParaRPr lang="fr-FR" sz="700" dirty="0"/>
          </a:p>
        </p:txBody>
      </p:sp>
      <p:sp>
        <p:nvSpPr>
          <p:cNvPr id="38" name="Text 38"/>
          <p:cNvSpPr/>
          <p:nvPr/>
        </p:nvSpPr>
        <p:spPr>
          <a:xfrm>
            <a:off x="10241280" y="6419088"/>
            <a:ext cx="1417320" cy="365760"/>
          </a:xfrm>
          <a:prstGeom prst="rect">
            <a:avLst/>
          </a:prstGeom>
          <a:noFill/>
          <a:ln/>
        </p:spPr>
        <p:txBody>
          <a:bodyPr wrap="square" lIns="0" tIns="0" rIns="0" bIns="0" rtlCol="0" anchor="ctr"/>
          <a:lstStyle/>
          <a:p>
            <a:pPr algn="r" indent="0" marL="0">
              <a:buNone/>
            </a:pPr>
            <a:r>
              <a:rPr lang="fr-FR" sz="1000" b="1" dirty="0">
                <a:solidFill>
                  <a:srgbClr val="FFFFFF"/>
                </a:solidFill>
                <a:latin typeface="Calibri" pitchFamily="34" charset="0"/>
                <a:ea typeface="Calibri" pitchFamily="34" charset="-122"/>
                <a:cs typeface="Calibri" pitchFamily="34" charset="-120"/>
              </a:rPr>
              <a:t>Page 15/21</a:t>
            </a:r>
            <a:endParaRPr lang="fr-FR"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ecurite">
    <p:bg>
      <p:bgPr>
        <a:solidFill>
          <a:srgbClr val="F1ECE6"/>
        </a:solidFill>
      </p:bgPr>
    </p:bg>
    <p:spTree>
      <p:nvGrpSpPr>
        <p:cNvPr id="1" name=""/>
        <p:cNvGrpSpPr/>
        <p:nvPr/>
      </p:nvGrpSpPr>
      <p:grpSpPr>
        <a:xfrm>
          <a:off x="0" y="0"/>
          <a:ext cx="0" cy="0"/>
          <a:chOff x="0" y="0"/>
          <a:chExt cx="0" cy="0"/>
        </a:xfrm>
      </p:grpSpPr>
      <p:sp>
        <p:nvSpPr>
          <p:cNvPr id="2" name="Text 2"/>
          <p:cNvSpPr/>
          <p:nvPr/>
        </p:nvSpPr>
        <p:spPr>
          <a:xfrm>
            <a:off x="640080" y="384048"/>
            <a:ext cx="10881360" cy="292608"/>
          </a:xfrm>
          <a:prstGeom prst="rect">
            <a:avLst/>
          </a:prstGeom>
          <a:noFill/>
          <a:ln/>
        </p:spPr>
        <p:txBody>
          <a:bodyPr wrap="square" lIns="0" tIns="0" rIns="0" bIns="0" rtlCol="0" anchor="ctr"/>
          <a:lstStyle/>
          <a:p>
            <a:pPr algn="l" indent="0" marL="0">
              <a:buNone/>
            </a:pPr>
            <a:r>
              <a:rPr lang="fr-FR" sz="1300" b="1" dirty="0">
                <a:solidFill>
                  <a:srgbClr val="C3612D"/>
                </a:solidFill>
                <a:latin typeface="Calibri" pitchFamily="34" charset="0"/>
                <a:ea typeface="Calibri" pitchFamily="34" charset="-122"/>
                <a:cs typeface="Calibri" pitchFamily="34" charset="-120"/>
              </a:rPr>
              <a:t>Sécurité</a:t>
            </a:r>
            <a:endParaRPr lang="fr-FR" sz="1300" dirty="0"/>
          </a:p>
        </p:txBody>
      </p:sp>
      <p:sp>
        <p:nvSpPr>
          <p:cNvPr id="3" name="Text 3"/>
          <p:cNvSpPr/>
          <p:nvPr/>
        </p:nvSpPr>
        <p:spPr>
          <a:xfrm>
            <a:off x="640080" y="713232"/>
            <a:ext cx="10881360" cy="822960"/>
          </a:xfrm>
          <a:prstGeom prst="rect">
            <a:avLst/>
          </a:prstGeom>
          <a:noFill/>
          <a:ln/>
        </p:spPr>
        <p:txBody>
          <a:bodyPr wrap="square" lIns="0" tIns="0" rIns="0" bIns="0" rtlCol="0" anchor="ctr"/>
          <a:lstStyle/>
          <a:p>
            <a:pPr algn="l" indent="0" marL="0">
              <a:buNone/>
            </a:pPr>
            <a:r>
              <a:rPr lang="fr-FR" sz="3400" b="1" dirty="0">
                <a:solidFill>
                  <a:srgbClr val="1A3C29"/>
                </a:solidFill>
                <a:latin typeface="Calibri" pitchFamily="34" charset="0"/>
                <a:ea typeface="Calibri" pitchFamily="34" charset="-122"/>
                <a:cs typeface="Calibri" pitchFamily="34" charset="-120"/>
              </a:rPr>
              <a:t>Sécurisation &amp; conformité</a:t>
            </a:r>
            <a:endParaRPr lang="fr-FR" sz="3400" dirty="0"/>
          </a:p>
        </p:txBody>
      </p:sp>
      <p:sp>
        <p:nvSpPr>
          <p:cNvPr id="4" name="Text 4"/>
          <p:cNvSpPr/>
          <p:nvPr/>
        </p:nvSpPr>
        <p:spPr>
          <a:xfrm>
            <a:off x="640080" y="1481328"/>
            <a:ext cx="10881360" cy="274320"/>
          </a:xfrm>
          <a:prstGeom prst="rect">
            <a:avLst/>
          </a:prstGeom>
          <a:noFill/>
          <a:ln/>
        </p:spPr>
        <p:txBody>
          <a:bodyPr wrap="square" lIns="0" tIns="0" rIns="0" bIns="0" rtlCol="0" anchor="ctr"/>
          <a:lstStyle/>
          <a:p>
            <a:pPr algn="l" indent="0" marL="0">
              <a:buNone/>
            </a:pPr>
            <a:r>
              <a:rPr lang="fr-FR" sz="1200" i="1" dirty="0">
                <a:solidFill>
                  <a:srgbClr val="5F5F5F"/>
                </a:solidFill>
                <a:latin typeface="Calibri" pitchFamily="34" charset="0"/>
                <a:ea typeface="Calibri" pitchFamily="34" charset="-122"/>
                <a:cs typeface="Calibri" pitchFamily="34" charset="-120"/>
              </a:rPr>
              <a:t>11 risques identifiés (grille OWASP, criticité = probabilité × impact) et les mesures associées</a:t>
            </a:r>
            <a:endParaRPr lang="fr-FR" sz="1200" dirty="0"/>
          </a:p>
        </p:txBody>
      </p:sp>
      <p:sp>
        <p:nvSpPr>
          <p:cNvPr id="5" name="Shape 5"/>
          <p:cNvSpPr/>
          <p:nvPr/>
        </p:nvSpPr>
        <p:spPr>
          <a:xfrm>
            <a:off x="640080" y="1874520"/>
            <a:ext cx="3557016" cy="1828800"/>
          </a:xfrm>
          <a:prstGeom prst="roundRect">
            <a:avLst>
              <a:gd name="adj" fmla="val 2727"/>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6" name="Shape 6"/>
          <p:cNvSpPr/>
          <p:nvPr/>
        </p:nvSpPr>
        <p:spPr>
          <a:xfrm>
            <a:off x="640080" y="1874520"/>
            <a:ext cx="82296" cy="1828800"/>
          </a:xfrm>
          <a:prstGeom prst="rect">
            <a:avLst/>
          </a:prstGeom>
          <a:solidFill>
            <a:srgbClr val="1A3C29"/>
          </a:solidFill>
          <a:ln w="12700">
            <a:solidFill>
              <a:srgbClr val="1A3C29"/>
            </a:solidFill>
            <a:prstDash val="solid"/>
          </a:ln>
        </p:spPr>
      </p:sp>
      <p:sp>
        <p:nvSpPr>
          <p:cNvPr id="7" name="Text 7"/>
          <p:cNvSpPr/>
          <p:nvPr/>
        </p:nvSpPr>
        <p:spPr>
          <a:xfrm>
            <a:off x="914400" y="2057400"/>
            <a:ext cx="3008376" cy="274320"/>
          </a:xfrm>
          <a:prstGeom prst="rect">
            <a:avLst/>
          </a:prstGeom>
          <a:noFill/>
          <a:ln/>
        </p:spPr>
        <p:txBody>
          <a:bodyPr wrap="square" lIns="0" tIns="0" rIns="0" bIns="0" rtlCol="0" anchor="ctr"/>
          <a:lstStyle/>
          <a:p>
            <a:pPr algn="l" indent="0" marL="0">
              <a:buNone/>
            </a:pPr>
            <a:r>
              <a:rPr lang="fr-FR" sz="1150" b="1" dirty="0">
                <a:solidFill>
                  <a:srgbClr val="1A3C29"/>
                </a:solidFill>
                <a:latin typeface="Calibri" pitchFamily="34" charset="0"/>
                <a:ea typeface="Calibri" pitchFamily="34" charset="-122"/>
                <a:cs typeface="Calibri" pitchFamily="34" charset="-120"/>
              </a:rPr>
              <a:t>Authentification</a:t>
            </a:r>
            <a:endParaRPr lang="fr-FR" sz="1150" dirty="0"/>
          </a:p>
        </p:txBody>
      </p:sp>
      <p:sp>
        <p:nvSpPr>
          <p:cNvPr id="8" name="Shape 8"/>
          <p:cNvSpPr/>
          <p:nvPr/>
        </p:nvSpPr>
        <p:spPr>
          <a:xfrm>
            <a:off x="914400" y="2606040"/>
            <a:ext cx="91440" cy="18288"/>
          </a:xfrm>
          <a:prstGeom prst="rect">
            <a:avLst/>
          </a:prstGeom>
          <a:solidFill>
            <a:srgbClr val="8AA595"/>
          </a:solidFill>
          <a:ln w="12700">
            <a:solidFill>
              <a:srgbClr val="8AA595"/>
            </a:solidFill>
            <a:prstDash val="solid"/>
          </a:ln>
        </p:spPr>
      </p:sp>
      <p:sp>
        <p:nvSpPr>
          <p:cNvPr id="9" name="Text 9"/>
          <p:cNvSpPr/>
          <p:nvPr/>
        </p:nvSpPr>
        <p:spPr>
          <a:xfrm>
            <a:off x="1115568" y="2423160"/>
            <a:ext cx="2898648" cy="384048"/>
          </a:xfrm>
          <a:prstGeom prst="rect">
            <a:avLst/>
          </a:prstGeom>
          <a:noFill/>
          <a:ln/>
        </p:spPr>
        <p:txBody>
          <a:bodyPr wrap="square" lIns="0" tIns="0" rIns="0" bIns="0" rtlCol="0" anchor="ctr"/>
          <a:lstStyle/>
          <a:p>
            <a:pPr algn="l" indent="0" marL="0">
              <a:buNone/>
            </a:pPr>
            <a:r>
              <a:rPr lang="fr-FR" sz="900" dirty="0">
                <a:solidFill>
                  <a:srgbClr val="5F5F5F"/>
                </a:solidFill>
                <a:latin typeface="Calibri" pitchFamily="34" charset="0"/>
                <a:ea typeface="Calibri" pitchFamily="34" charset="-122"/>
                <a:cs typeface="Calibri" pitchFamily="34" charset="-120"/>
              </a:rPr>
              <a:t>Mots de passe hachés bcrypt (coût 12)</a:t>
            </a:r>
            <a:endParaRPr lang="fr-FR" sz="900" dirty="0"/>
          </a:p>
        </p:txBody>
      </p:sp>
      <p:sp>
        <p:nvSpPr>
          <p:cNvPr id="10" name="Shape 10"/>
          <p:cNvSpPr/>
          <p:nvPr/>
        </p:nvSpPr>
        <p:spPr>
          <a:xfrm>
            <a:off x="914400" y="2990088"/>
            <a:ext cx="91440" cy="18288"/>
          </a:xfrm>
          <a:prstGeom prst="rect">
            <a:avLst/>
          </a:prstGeom>
          <a:solidFill>
            <a:srgbClr val="8AA595"/>
          </a:solidFill>
          <a:ln w="12700">
            <a:solidFill>
              <a:srgbClr val="8AA595"/>
            </a:solidFill>
            <a:prstDash val="solid"/>
          </a:ln>
        </p:spPr>
      </p:sp>
      <p:sp>
        <p:nvSpPr>
          <p:cNvPr id="11" name="Text 11"/>
          <p:cNvSpPr/>
          <p:nvPr/>
        </p:nvSpPr>
        <p:spPr>
          <a:xfrm>
            <a:off x="1115568" y="2807208"/>
            <a:ext cx="2898648" cy="384048"/>
          </a:xfrm>
          <a:prstGeom prst="rect">
            <a:avLst/>
          </a:prstGeom>
          <a:noFill/>
          <a:ln/>
        </p:spPr>
        <p:txBody>
          <a:bodyPr wrap="square" lIns="0" tIns="0" rIns="0" bIns="0" rtlCol="0" anchor="ctr"/>
          <a:lstStyle/>
          <a:p>
            <a:pPr algn="l" indent="0" marL="0">
              <a:buNone/>
            </a:pPr>
            <a:r>
              <a:rPr lang="fr-FR" sz="900" dirty="0">
                <a:solidFill>
                  <a:srgbClr val="5F5F5F"/>
                </a:solidFill>
                <a:latin typeface="Calibri" pitchFamily="34" charset="0"/>
                <a:ea typeface="Calibri" pitchFamily="34" charset="-122"/>
                <a:cs typeface="Calibri" pitchFamily="34" charset="-120"/>
              </a:rPr>
              <a:t>JWT signé, expiration 1 h</a:t>
            </a:r>
            <a:endParaRPr lang="fr-FR" sz="900" dirty="0"/>
          </a:p>
        </p:txBody>
      </p:sp>
      <p:sp>
        <p:nvSpPr>
          <p:cNvPr id="12" name="Shape 12"/>
          <p:cNvSpPr/>
          <p:nvPr/>
        </p:nvSpPr>
        <p:spPr>
          <a:xfrm>
            <a:off x="914400" y="3374136"/>
            <a:ext cx="91440" cy="18288"/>
          </a:xfrm>
          <a:prstGeom prst="rect">
            <a:avLst/>
          </a:prstGeom>
          <a:solidFill>
            <a:srgbClr val="8AA595"/>
          </a:solidFill>
          <a:ln w="12700">
            <a:solidFill>
              <a:srgbClr val="8AA595"/>
            </a:solidFill>
            <a:prstDash val="solid"/>
          </a:ln>
        </p:spPr>
      </p:sp>
      <p:sp>
        <p:nvSpPr>
          <p:cNvPr id="13" name="Text 13"/>
          <p:cNvSpPr/>
          <p:nvPr/>
        </p:nvSpPr>
        <p:spPr>
          <a:xfrm>
            <a:off x="1115568" y="3191256"/>
            <a:ext cx="2898648" cy="384048"/>
          </a:xfrm>
          <a:prstGeom prst="rect">
            <a:avLst/>
          </a:prstGeom>
          <a:noFill/>
          <a:ln/>
        </p:spPr>
        <p:txBody>
          <a:bodyPr wrap="square" lIns="0" tIns="0" rIns="0" bIns="0" rtlCol="0" anchor="ctr"/>
          <a:lstStyle/>
          <a:p>
            <a:pPr algn="l" indent="0" marL="0">
              <a:buNone/>
            </a:pPr>
            <a:r>
              <a:rPr lang="fr-FR" sz="900" dirty="0">
                <a:solidFill>
                  <a:srgbClr val="5F5F5F"/>
                </a:solidFill>
                <a:latin typeface="Calibri" pitchFamily="34" charset="0"/>
                <a:ea typeface="Calibri" pitchFamily="34" charset="-122"/>
                <a:cs typeface="Calibri" pitchFamily="34" charset="-120"/>
              </a:rPr>
              <a:t>Cookie httpOnly, rôles vérifiés côté serveur</a:t>
            </a:r>
            <a:endParaRPr lang="fr-FR" sz="900" dirty="0"/>
          </a:p>
        </p:txBody>
      </p:sp>
      <p:sp>
        <p:nvSpPr>
          <p:cNvPr id="14" name="Shape 14"/>
          <p:cNvSpPr/>
          <p:nvPr/>
        </p:nvSpPr>
        <p:spPr>
          <a:xfrm>
            <a:off x="4315968" y="1874520"/>
            <a:ext cx="3557016" cy="1828800"/>
          </a:xfrm>
          <a:prstGeom prst="roundRect">
            <a:avLst>
              <a:gd name="adj" fmla="val 2727"/>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15" name="Shape 15"/>
          <p:cNvSpPr/>
          <p:nvPr/>
        </p:nvSpPr>
        <p:spPr>
          <a:xfrm>
            <a:off x="4315968" y="1874520"/>
            <a:ext cx="82296" cy="1828800"/>
          </a:xfrm>
          <a:prstGeom prst="rect">
            <a:avLst/>
          </a:prstGeom>
          <a:solidFill>
            <a:srgbClr val="C3612D"/>
          </a:solidFill>
          <a:ln w="12700">
            <a:solidFill>
              <a:srgbClr val="C3612D"/>
            </a:solidFill>
            <a:prstDash val="solid"/>
          </a:ln>
        </p:spPr>
      </p:sp>
      <p:sp>
        <p:nvSpPr>
          <p:cNvPr id="16" name="Text 16"/>
          <p:cNvSpPr/>
          <p:nvPr/>
        </p:nvSpPr>
        <p:spPr>
          <a:xfrm>
            <a:off x="4590288" y="2057400"/>
            <a:ext cx="3008376" cy="274320"/>
          </a:xfrm>
          <a:prstGeom prst="rect">
            <a:avLst/>
          </a:prstGeom>
          <a:noFill/>
          <a:ln/>
        </p:spPr>
        <p:txBody>
          <a:bodyPr wrap="square" lIns="0" tIns="0" rIns="0" bIns="0" rtlCol="0" anchor="ctr"/>
          <a:lstStyle/>
          <a:p>
            <a:pPr algn="l" indent="0" marL="0">
              <a:buNone/>
            </a:pPr>
            <a:r>
              <a:rPr lang="fr-FR" sz="1150" b="1" dirty="0">
                <a:solidFill>
                  <a:srgbClr val="C3612D"/>
                </a:solidFill>
                <a:latin typeface="Calibri" pitchFamily="34" charset="0"/>
                <a:ea typeface="Calibri" pitchFamily="34" charset="-122"/>
                <a:cs typeface="Calibri" pitchFamily="34" charset="-120"/>
              </a:rPr>
              <a:t>Anti-force-brute &amp; DoS</a:t>
            </a:r>
            <a:endParaRPr lang="fr-FR" sz="1150" dirty="0"/>
          </a:p>
        </p:txBody>
      </p:sp>
      <p:sp>
        <p:nvSpPr>
          <p:cNvPr id="17" name="Shape 17"/>
          <p:cNvSpPr/>
          <p:nvPr/>
        </p:nvSpPr>
        <p:spPr>
          <a:xfrm>
            <a:off x="4590288" y="2606040"/>
            <a:ext cx="91440" cy="18288"/>
          </a:xfrm>
          <a:prstGeom prst="rect">
            <a:avLst/>
          </a:prstGeom>
          <a:solidFill>
            <a:srgbClr val="8AA595"/>
          </a:solidFill>
          <a:ln w="12700">
            <a:solidFill>
              <a:srgbClr val="8AA595"/>
            </a:solidFill>
            <a:prstDash val="solid"/>
          </a:ln>
        </p:spPr>
      </p:sp>
      <p:sp>
        <p:nvSpPr>
          <p:cNvPr id="18" name="Text 18"/>
          <p:cNvSpPr/>
          <p:nvPr/>
        </p:nvSpPr>
        <p:spPr>
          <a:xfrm>
            <a:off x="4791456" y="2423160"/>
            <a:ext cx="2898648" cy="384048"/>
          </a:xfrm>
          <a:prstGeom prst="rect">
            <a:avLst/>
          </a:prstGeom>
          <a:noFill/>
          <a:ln/>
        </p:spPr>
        <p:txBody>
          <a:bodyPr wrap="square" lIns="0" tIns="0" rIns="0" bIns="0" rtlCol="0" anchor="ctr"/>
          <a:lstStyle/>
          <a:p>
            <a:pPr algn="l" indent="0" marL="0">
              <a:buNone/>
            </a:pPr>
            <a:r>
              <a:rPr lang="fr-FR" sz="900" dirty="0">
                <a:solidFill>
                  <a:srgbClr val="5F5F5F"/>
                </a:solidFill>
                <a:latin typeface="Calibri" pitchFamily="34" charset="0"/>
                <a:ea typeface="Calibri" pitchFamily="34" charset="-122"/>
                <a:cs typeface="Calibri" pitchFamily="34" charset="-120"/>
              </a:rPr>
              <a:t>10 tentatives / 15 min sur signin et signup</a:t>
            </a:r>
            <a:endParaRPr lang="fr-FR" sz="900" dirty="0"/>
          </a:p>
        </p:txBody>
      </p:sp>
      <p:sp>
        <p:nvSpPr>
          <p:cNvPr id="19" name="Shape 19"/>
          <p:cNvSpPr/>
          <p:nvPr/>
        </p:nvSpPr>
        <p:spPr>
          <a:xfrm>
            <a:off x="4590288" y="2990088"/>
            <a:ext cx="91440" cy="18288"/>
          </a:xfrm>
          <a:prstGeom prst="rect">
            <a:avLst/>
          </a:prstGeom>
          <a:solidFill>
            <a:srgbClr val="8AA595"/>
          </a:solidFill>
          <a:ln w="12700">
            <a:solidFill>
              <a:srgbClr val="8AA595"/>
            </a:solidFill>
            <a:prstDash val="solid"/>
          </a:ln>
        </p:spPr>
      </p:sp>
      <p:sp>
        <p:nvSpPr>
          <p:cNvPr id="20" name="Text 20"/>
          <p:cNvSpPr/>
          <p:nvPr/>
        </p:nvSpPr>
        <p:spPr>
          <a:xfrm>
            <a:off x="4791456" y="2807208"/>
            <a:ext cx="2898648" cy="384048"/>
          </a:xfrm>
          <a:prstGeom prst="rect">
            <a:avLst/>
          </a:prstGeom>
          <a:noFill/>
          <a:ln/>
        </p:spPr>
        <p:txBody>
          <a:bodyPr wrap="square" lIns="0" tIns="0" rIns="0" bIns="0" rtlCol="0" anchor="ctr"/>
          <a:lstStyle/>
          <a:p>
            <a:pPr algn="l" indent="0" marL="0">
              <a:buNone/>
            </a:pPr>
            <a:r>
              <a:rPr lang="fr-FR" sz="900" dirty="0">
                <a:solidFill>
                  <a:srgbClr val="5F5F5F"/>
                </a:solidFill>
                <a:latin typeface="Calibri" pitchFamily="34" charset="0"/>
                <a:ea typeface="Calibri" pitchFamily="34" charset="-122"/>
                <a:cs typeface="Calibri" pitchFamily="34" charset="-120"/>
              </a:rPr>
              <a:t>300 requêtes / 15 min par adresse IP</a:t>
            </a:r>
            <a:endParaRPr lang="fr-FR" sz="900" dirty="0"/>
          </a:p>
        </p:txBody>
      </p:sp>
      <p:sp>
        <p:nvSpPr>
          <p:cNvPr id="21" name="Shape 21"/>
          <p:cNvSpPr/>
          <p:nvPr/>
        </p:nvSpPr>
        <p:spPr>
          <a:xfrm>
            <a:off x="4590288" y="3374136"/>
            <a:ext cx="91440" cy="18288"/>
          </a:xfrm>
          <a:prstGeom prst="rect">
            <a:avLst/>
          </a:prstGeom>
          <a:solidFill>
            <a:srgbClr val="8AA595"/>
          </a:solidFill>
          <a:ln w="12700">
            <a:solidFill>
              <a:srgbClr val="8AA595"/>
            </a:solidFill>
            <a:prstDash val="solid"/>
          </a:ln>
        </p:spPr>
      </p:sp>
      <p:sp>
        <p:nvSpPr>
          <p:cNvPr id="22" name="Text 22"/>
          <p:cNvSpPr/>
          <p:nvPr/>
        </p:nvSpPr>
        <p:spPr>
          <a:xfrm>
            <a:off x="4791456" y="3191256"/>
            <a:ext cx="2898648" cy="384048"/>
          </a:xfrm>
          <a:prstGeom prst="rect">
            <a:avLst/>
          </a:prstGeom>
          <a:noFill/>
          <a:ln/>
        </p:spPr>
        <p:txBody>
          <a:bodyPr wrap="square" lIns="0" tIns="0" rIns="0" bIns="0" rtlCol="0" anchor="ctr"/>
          <a:lstStyle/>
          <a:p>
            <a:pPr algn="l" indent="0" marL="0">
              <a:buNone/>
            </a:pPr>
            <a:r>
              <a:rPr lang="fr-FR" sz="900" dirty="0">
                <a:solidFill>
                  <a:srgbClr val="5F5F5F"/>
                </a:solidFill>
                <a:latin typeface="Calibri" pitchFamily="34" charset="0"/>
                <a:ea typeface="Calibri" pitchFamily="34" charset="-122"/>
                <a:cs typeface="Calibri" pitchFamily="34" charset="-120"/>
              </a:rPr>
              <a:t>express-rate-limit</a:t>
            </a:r>
            <a:endParaRPr lang="fr-FR" sz="900" dirty="0"/>
          </a:p>
        </p:txBody>
      </p:sp>
      <p:sp>
        <p:nvSpPr>
          <p:cNvPr id="23" name="Shape 23"/>
          <p:cNvSpPr/>
          <p:nvPr/>
        </p:nvSpPr>
        <p:spPr>
          <a:xfrm>
            <a:off x="7991856" y="1874520"/>
            <a:ext cx="3557016" cy="1828800"/>
          </a:xfrm>
          <a:prstGeom prst="roundRect">
            <a:avLst>
              <a:gd name="adj" fmla="val 2727"/>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24" name="Shape 24"/>
          <p:cNvSpPr/>
          <p:nvPr/>
        </p:nvSpPr>
        <p:spPr>
          <a:xfrm>
            <a:off x="7991856" y="1874520"/>
            <a:ext cx="82296" cy="1828800"/>
          </a:xfrm>
          <a:prstGeom prst="rect">
            <a:avLst/>
          </a:prstGeom>
          <a:solidFill>
            <a:srgbClr val="8AA595"/>
          </a:solidFill>
          <a:ln w="12700">
            <a:solidFill>
              <a:srgbClr val="8AA595"/>
            </a:solidFill>
            <a:prstDash val="solid"/>
          </a:ln>
        </p:spPr>
      </p:sp>
      <p:sp>
        <p:nvSpPr>
          <p:cNvPr id="25" name="Text 25"/>
          <p:cNvSpPr/>
          <p:nvPr/>
        </p:nvSpPr>
        <p:spPr>
          <a:xfrm>
            <a:off x="8266176" y="2057400"/>
            <a:ext cx="3008376" cy="274320"/>
          </a:xfrm>
          <a:prstGeom prst="rect">
            <a:avLst/>
          </a:prstGeom>
          <a:noFill/>
          <a:ln/>
        </p:spPr>
        <p:txBody>
          <a:bodyPr wrap="square" lIns="0" tIns="0" rIns="0" bIns="0" rtlCol="0" anchor="ctr"/>
          <a:lstStyle/>
          <a:p>
            <a:pPr algn="l" indent="0" marL="0">
              <a:buNone/>
            </a:pPr>
            <a:r>
              <a:rPr lang="fr-FR" sz="1150" b="1" dirty="0">
                <a:solidFill>
                  <a:srgbClr val="1A3C29"/>
                </a:solidFill>
                <a:latin typeface="Calibri" pitchFamily="34" charset="0"/>
                <a:ea typeface="Calibri" pitchFamily="34" charset="-122"/>
                <a:cs typeface="Calibri" pitchFamily="34" charset="-120"/>
              </a:rPr>
              <a:t>Injections &amp; XSS</a:t>
            </a:r>
            <a:endParaRPr lang="fr-FR" sz="1150" dirty="0"/>
          </a:p>
        </p:txBody>
      </p:sp>
      <p:sp>
        <p:nvSpPr>
          <p:cNvPr id="26" name="Shape 26"/>
          <p:cNvSpPr/>
          <p:nvPr/>
        </p:nvSpPr>
        <p:spPr>
          <a:xfrm>
            <a:off x="8266176" y="2606040"/>
            <a:ext cx="91440" cy="18288"/>
          </a:xfrm>
          <a:prstGeom prst="rect">
            <a:avLst/>
          </a:prstGeom>
          <a:solidFill>
            <a:srgbClr val="8AA595"/>
          </a:solidFill>
          <a:ln w="12700">
            <a:solidFill>
              <a:srgbClr val="8AA595"/>
            </a:solidFill>
            <a:prstDash val="solid"/>
          </a:ln>
        </p:spPr>
      </p:sp>
      <p:sp>
        <p:nvSpPr>
          <p:cNvPr id="27" name="Text 27"/>
          <p:cNvSpPr/>
          <p:nvPr/>
        </p:nvSpPr>
        <p:spPr>
          <a:xfrm>
            <a:off x="8467344" y="2423160"/>
            <a:ext cx="2898648" cy="384048"/>
          </a:xfrm>
          <a:prstGeom prst="rect">
            <a:avLst/>
          </a:prstGeom>
          <a:noFill/>
          <a:ln/>
        </p:spPr>
        <p:txBody>
          <a:bodyPr wrap="square" lIns="0" tIns="0" rIns="0" bIns="0" rtlCol="0" anchor="ctr"/>
          <a:lstStyle/>
          <a:p>
            <a:pPr algn="l" indent="0" marL="0">
              <a:buNone/>
            </a:pPr>
            <a:r>
              <a:rPr lang="fr-FR" sz="900" dirty="0">
                <a:solidFill>
                  <a:srgbClr val="5F5F5F"/>
                </a:solidFill>
                <a:latin typeface="Calibri" pitchFamily="34" charset="0"/>
                <a:ea typeface="Calibri" pitchFamily="34" charset="-122"/>
                <a:cs typeface="Calibri" pitchFamily="34" charset="-120"/>
              </a:rPr>
              <a:t>Requêtes SQL paramétrées ($1, $2…)</a:t>
            </a:r>
            <a:endParaRPr lang="fr-FR" sz="900" dirty="0"/>
          </a:p>
        </p:txBody>
      </p:sp>
      <p:sp>
        <p:nvSpPr>
          <p:cNvPr id="28" name="Shape 28"/>
          <p:cNvSpPr/>
          <p:nvPr/>
        </p:nvSpPr>
        <p:spPr>
          <a:xfrm>
            <a:off x="8266176" y="2990088"/>
            <a:ext cx="91440" cy="18288"/>
          </a:xfrm>
          <a:prstGeom prst="rect">
            <a:avLst/>
          </a:prstGeom>
          <a:solidFill>
            <a:srgbClr val="8AA595"/>
          </a:solidFill>
          <a:ln w="12700">
            <a:solidFill>
              <a:srgbClr val="8AA595"/>
            </a:solidFill>
            <a:prstDash val="solid"/>
          </a:ln>
        </p:spPr>
      </p:sp>
      <p:sp>
        <p:nvSpPr>
          <p:cNvPr id="29" name="Text 29"/>
          <p:cNvSpPr/>
          <p:nvPr/>
        </p:nvSpPr>
        <p:spPr>
          <a:xfrm>
            <a:off x="8467344" y="2807208"/>
            <a:ext cx="2898648" cy="384048"/>
          </a:xfrm>
          <a:prstGeom prst="rect">
            <a:avLst/>
          </a:prstGeom>
          <a:noFill/>
          <a:ln/>
        </p:spPr>
        <p:txBody>
          <a:bodyPr wrap="square" lIns="0" tIns="0" rIns="0" bIns="0" rtlCol="0" anchor="ctr"/>
          <a:lstStyle/>
          <a:p>
            <a:pPr algn="l" indent="0" marL="0">
              <a:buNone/>
            </a:pPr>
            <a:r>
              <a:rPr lang="fr-FR" sz="900" dirty="0">
                <a:solidFill>
                  <a:srgbClr val="5F5F5F"/>
                </a:solidFill>
                <a:latin typeface="Calibri" pitchFamily="34" charset="0"/>
                <a:ea typeface="Calibri" pitchFamily="34" charset="-122"/>
                <a:cs typeface="Calibri" pitchFamily="34" charset="-120"/>
              </a:rPr>
              <a:t>Validation et assainissement des entrées</a:t>
            </a:r>
            <a:endParaRPr lang="fr-FR" sz="900" dirty="0"/>
          </a:p>
        </p:txBody>
      </p:sp>
      <p:sp>
        <p:nvSpPr>
          <p:cNvPr id="30" name="Shape 30"/>
          <p:cNvSpPr/>
          <p:nvPr/>
        </p:nvSpPr>
        <p:spPr>
          <a:xfrm>
            <a:off x="8266176" y="3374136"/>
            <a:ext cx="91440" cy="18288"/>
          </a:xfrm>
          <a:prstGeom prst="rect">
            <a:avLst/>
          </a:prstGeom>
          <a:solidFill>
            <a:srgbClr val="8AA595"/>
          </a:solidFill>
          <a:ln w="12700">
            <a:solidFill>
              <a:srgbClr val="8AA595"/>
            </a:solidFill>
            <a:prstDash val="solid"/>
          </a:ln>
        </p:spPr>
      </p:sp>
      <p:sp>
        <p:nvSpPr>
          <p:cNvPr id="31" name="Text 31"/>
          <p:cNvSpPr/>
          <p:nvPr/>
        </p:nvSpPr>
        <p:spPr>
          <a:xfrm>
            <a:off x="8467344" y="3191256"/>
            <a:ext cx="2898648" cy="384048"/>
          </a:xfrm>
          <a:prstGeom prst="rect">
            <a:avLst/>
          </a:prstGeom>
          <a:noFill/>
          <a:ln/>
        </p:spPr>
        <p:txBody>
          <a:bodyPr wrap="square" lIns="0" tIns="0" rIns="0" bIns="0" rtlCol="0" anchor="ctr"/>
          <a:lstStyle/>
          <a:p>
            <a:pPr algn="l" indent="0" marL="0">
              <a:buNone/>
            </a:pPr>
            <a:r>
              <a:rPr lang="fr-FR" sz="900" dirty="0">
                <a:solidFill>
                  <a:srgbClr val="5F5F5F"/>
                </a:solidFill>
                <a:latin typeface="Calibri" pitchFamily="34" charset="0"/>
                <a:ea typeface="Calibri" pitchFamily="34" charset="-122"/>
                <a:cs typeface="Calibri" pitchFamily="34" charset="-120"/>
              </a:rPr>
              <a:t>helmet : CSP, anti-clickjacking, X-Powered-By masqué</a:t>
            </a:r>
            <a:endParaRPr lang="fr-FR" sz="900" dirty="0"/>
          </a:p>
        </p:txBody>
      </p:sp>
      <p:sp>
        <p:nvSpPr>
          <p:cNvPr id="32" name="Shape 32"/>
          <p:cNvSpPr/>
          <p:nvPr/>
        </p:nvSpPr>
        <p:spPr>
          <a:xfrm>
            <a:off x="640080" y="3840480"/>
            <a:ext cx="3557016" cy="1828800"/>
          </a:xfrm>
          <a:prstGeom prst="roundRect">
            <a:avLst>
              <a:gd name="adj" fmla="val 2727"/>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33" name="Shape 33"/>
          <p:cNvSpPr/>
          <p:nvPr/>
        </p:nvSpPr>
        <p:spPr>
          <a:xfrm>
            <a:off x="640080" y="3840480"/>
            <a:ext cx="82296" cy="1828800"/>
          </a:xfrm>
          <a:prstGeom prst="rect">
            <a:avLst/>
          </a:prstGeom>
          <a:solidFill>
            <a:srgbClr val="1A3C29"/>
          </a:solidFill>
          <a:ln w="12700">
            <a:solidFill>
              <a:srgbClr val="1A3C29"/>
            </a:solidFill>
            <a:prstDash val="solid"/>
          </a:ln>
        </p:spPr>
      </p:sp>
      <p:sp>
        <p:nvSpPr>
          <p:cNvPr id="34" name="Text 34"/>
          <p:cNvSpPr/>
          <p:nvPr/>
        </p:nvSpPr>
        <p:spPr>
          <a:xfrm>
            <a:off x="914400" y="4023360"/>
            <a:ext cx="3008376" cy="274320"/>
          </a:xfrm>
          <a:prstGeom prst="rect">
            <a:avLst/>
          </a:prstGeom>
          <a:noFill/>
          <a:ln/>
        </p:spPr>
        <p:txBody>
          <a:bodyPr wrap="square" lIns="0" tIns="0" rIns="0" bIns="0" rtlCol="0" anchor="ctr"/>
          <a:lstStyle/>
          <a:p>
            <a:pPr algn="l" indent="0" marL="0">
              <a:buNone/>
            </a:pPr>
            <a:r>
              <a:rPr lang="fr-FR" sz="1150" b="1" dirty="0">
                <a:solidFill>
                  <a:srgbClr val="1A3C29"/>
                </a:solidFill>
                <a:latin typeface="Calibri" pitchFamily="34" charset="0"/>
                <a:ea typeface="Calibri" pitchFamily="34" charset="-122"/>
                <a:cs typeface="Calibri" pitchFamily="34" charset="-120"/>
              </a:rPr>
              <a:t>Données de santé — RGPD</a:t>
            </a:r>
            <a:endParaRPr lang="fr-FR" sz="1150" dirty="0"/>
          </a:p>
        </p:txBody>
      </p:sp>
      <p:sp>
        <p:nvSpPr>
          <p:cNvPr id="35" name="Shape 35"/>
          <p:cNvSpPr/>
          <p:nvPr/>
        </p:nvSpPr>
        <p:spPr>
          <a:xfrm>
            <a:off x="914400" y="4572000"/>
            <a:ext cx="91440" cy="18288"/>
          </a:xfrm>
          <a:prstGeom prst="rect">
            <a:avLst/>
          </a:prstGeom>
          <a:solidFill>
            <a:srgbClr val="8AA595"/>
          </a:solidFill>
          <a:ln w="12700">
            <a:solidFill>
              <a:srgbClr val="8AA595"/>
            </a:solidFill>
            <a:prstDash val="solid"/>
          </a:ln>
        </p:spPr>
      </p:sp>
      <p:sp>
        <p:nvSpPr>
          <p:cNvPr id="36" name="Text 36"/>
          <p:cNvSpPr/>
          <p:nvPr/>
        </p:nvSpPr>
        <p:spPr>
          <a:xfrm>
            <a:off x="1115568" y="4389120"/>
            <a:ext cx="2898648" cy="384048"/>
          </a:xfrm>
          <a:prstGeom prst="rect">
            <a:avLst/>
          </a:prstGeom>
          <a:noFill/>
          <a:ln/>
        </p:spPr>
        <p:txBody>
          <a:bodyPr wrap="square" lIns="0" tIns="0" rIns="0" bIns="0" rtlCol="0" anchor="ctr"/>
          <a:lstStyle/>
          <a:p>
            <a:pPr algn="l" indent="0" marL="0">
              <a:buNone/>
            </a:pPr>
            <a:r>
              <a:rPr lang="fr-FR" sz="900" dirty="0">
                <a:solidFill>
                  <a:srgbClr val="5F5F5F"/>
                </a:solidFill>
                <a:latin typeface="Calibri" pitchFamily="34" charset="0"/>
                <a:ea typeface="Calibri" pitchFamily="34" charset="-122"/>
                <a:cs typeface="Calibri" pitchFamily="34" charset="-120"/>
              </a:rPr>
              <a:t>Émotions et stress = article 9 (sensible)</a:t>
            </a:r>
            <a:endParaRPr lang="fr-FR" sz="900" dirty="0"/>
          </a:p>
        </p:txBody>
      </p:sp>
      <p:sp>
        <p:nvSpPr>
          <p:cNvPr id="37" name="Shape 37"/>
          <p:cNvSpPr/>
          <p:nvPr/>
        </p:nvSpPr>
        <p:spPr>
          <a:xfrm>
            <a:off x="914400" y="4956048"/>
            <a:ext cx="91440" cy="18288"/>
          </a:xfrm>
          <a:prstGeom prst="rect">
            <a:avLst/>
          </a:prstGeom>
          <a:solidFill>
            <a:srgbClr val="8AA595"/>
          </a:solidFill>
          <a:ln w="12700">
            <a:solidFill>
              <a:srgbClr val="8AA595"/>
            </a:solidFill>
            <a:prstDash val="solid"/>
          </a:ln>
        </p:spPr>
      </p:sp>
      <p:sp>
        <p:nvSpPr>
          <p:cNvPr id="38" name="Text 38"/>
          <p:cNvSpPr/>
          <p:nvPr/>
        </p:nvSpPr>
        <p:spPr>
          <a:xfrm>
            <a:off x="1115568" y="4773168"/>
            <a:ext cx="2898648" cy="384048"/>
          </a:xfrm>
          <a:prstGeom prst="rect">
            <a:avLst/>
          </a:prstGeom>
          <a:noFill/>
          <a:ln/>
        </p:spPr>
        <p:txBody>
          <a:bodyPr wrap="square" lIns="0" tIns="0" rIns="0" bIns="0" rtlCol="0" anchor="ctr"/>
          <a:lstStyle/>
          <a:p>
            <a:pPr algn="l" indent="0" marL="0">
              <a:buNone/>
            </a:pPr>
            <a:r>
              <a:rPr lang="fr-FR" sz="900" dirty="0">
                <a:solidFill>
                  <a:srgbClr val="5F5F5F"/>
                </a:solidFill>
                <a:latin typeface="Calibri" pitchFamily="34" charset="0"/>
                <a:ea typeface="Calibri" pitchFamily="34" charset="-122"/>
                <a:cs typeface="Calibri" pitchFamily="34" charset="-120"/>
              </a:rPr>
              <a:t>Consentement, minimisation, hébergement UE</a:t>
            </a:r>
            <a:endParaRPr lang="fr-FR" sz="900" dirty="0"/>
          </a:p>
        </p:txBody>
      </p:sp>
      <p:sp>
        <p:nvSpPr>
          <p:cNvPr id="39" name="Shape 39"/>
          <p:cNvSpPr/>
          <p:nvPr/>
        </p:nvSpPr>
        <p:spPr>
          <a:xfrm>
            <a:off x="914400" y="5340096"/>
            <a:ext cx="91440" cy="18288"/>
          </a:xfrm>
          <a:prstGeom prst="rect">
            <a:avLst/>
          </a:prstGeom>
          <a:solidFill>
            <a:srgbClr val="8AA595"/>
          </a:solidFill>
          <a:ln w="12700">
            <a:solidFill>
              <a:srgbClr val="8AA595"/>
            </a:solidFill>
            <a:prstDash val="solid"/>
          </a:ln>
        </p:spPr>
      </p:sp>
      <p:sp>
        <p:nvSpPr>
          <p:cNvPr id="40" name="Text 40"/>
          <p:cNvSpPr/>
          <p:nvPr/>
        </p:nvSpPr>
        <p:spPr>
          <a:xfrm>
            <a:off x="1115568" y="5157216"/>
            <a:ext cx="2898648" cy="384048"/>
          </a:xfrm>
          <a:prstGeom prst="rect">
            <a:avLst/>
          </a:prstGeom>
          <a:noFill/>
          <a:ln/>
        </p:spPr>
        <p:txBody>
          <a:bodyPr wrap="square" lIns="0" tIns="0" rIns="0" bIns="0" rtlCol="0" anchor="ctr"/>
          <a:lstStyle/>
          <a:p>
            <a:pPr algn="l" indent="0" marL="0">
              <a:buNone/>
            </a:pPr>
            <a:r>
              <a:rPr lang="fr-FR" sz="900" dirty="0">
                <a:solidFill>
                  <a:srgbClr val="5F5F5F"/>
                </a:solidFill>
                <a:latin typeface="Calibri" pitchFamily="34" charset="0"/>
                <a:ea typeface="Calibri" pitchFamily="34" charset="-122"/>
                <a:cs typeface="Calibri" pitchFamily="34" charset="-120"/>
              </a:rPr>
              <a:t>Notification CNIL sous 72 h</a:t>
            </a:r>
            <a:endParaRPr lang="fr-FR" sz="900" dirty="0"/>
          </a:p>
        </p:txBody>
      </p:sp>
      <p:sp>
        <p:nvSpPr>
          <p:cNvPr id="41" name="Shape 41"/>
          <p:cNvSpPr/>
          <p:nvPr/>
        </p:nvSpPr>
        <p:spPr>
          <a:xfrm>
            <a:off x="4315968" y="3840480"/>
            <a:ext cx="3557016" cy="1828800"/>
          </a:xfrm>
          <a:prstGeom prst="roundRect">
            <a:avLst>
              <a:gd name="adj" fmla="val 2727"/>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42" name="Shape 42"/>
          <p:cNvSpPr/>
          <p:nvPr/>
        </p:nvSpPr>
        <p:spPr>
          <a:xfrm>
            <a:off x="4315968" y="3840480"/>
            <a:ext cx="82296" cy="1828800"/>
          </a:xfrm>
          <a:prstGeom prst="rect">
            <a:avLst/>
          </a:prstGeom>
          <a:solidFill>
            <a:srgbClr val="C3612D"/>
          </a:solidFill>
          <a:ln w="12700">
            <a:solidFill>
              <a:srgbClr val="C3612D"/>
            </a:solidFill>
            <a:prstDash val="solid"/>
          </a:ln>
        </p:spPr>
      </p:sp>
      <p:sp>
        <p:nvSpPr>
          <p:cNvPr id="43" name="Text 43"/>
          <p:cNvSpPr/>
          <p:nvPr/>
        </p:nvSpPr>
        <p:spPr>
          <a:xfrm>
            <a:off x="4590288" y="4023360"/>
            <a:ext cx="3008376" cy="274320"/>
          </a:xfrm>
          <a:prstGeom prst="rect">
            <a:avLst/>
          </a:prstGeom>
          <a:noFill/>
          <a:ln/>
        </p:spPr>
        <p:txBody>
          <a:bodyPr wrap="square" lIns="0" tIns="0" rIns="0" bIns="0" rtlCol="0" anchor="ctr"/>
          <a:lstStyle/>
          <a:p>
            <a:pPr algn="l" indent="0" marL="0">
              <a:buNone/>
            </a:pPr>
            <a:r>
              <a:rPr lang="fr-FR" sz="1150" b="1" dirty="0">
                <a:solidFill>
                  <a:srgbClr val="C3612D"/>
                </a:solidFill>
                <a:latin typeface="Calibri" pitchFamily="34" charset="0"/>
                <a:ea typeface="Calibri" pitchFamily="34" charset="-122"/>
                <a:cs typeface="Calibri" pitchFamily="34" charset="-120"/>
              </a:rPr>
              <a:t>Secrets &amp; dépendances</a:t>
            </a:r>
            <a:endParaRPr lang="fr-FR" sz="1150" dirty="0"/>
          </a:p>
        </p:txBody>
      </p:sp>
      <p:sp>
        <p:nvSpPr>
          <p:cNvPr id="44" name="Shape 44"/>
          <p:cNvSpPr/>
          <p:nvPr/>
        </p:nvSpPr>
        <p:spPr>
          <a:xfrm>
            <a:off x="4590288" y="4572000"/>
            <a:ext cx="91440" cy="18288"/>
          </a:xfrm>
          <a:prstGeom prst="rect">
            <a:avLst/>
          </a:prstGeom>
          <a:solidFill>
            <a:srgbClr val="8AA595"/>
          </a:solidFill>
          <a:ln w="12700">
            <a:solidFill>
              <a:srgbClr val="8AA595"/>
            </a:solidFill>
            <a:prstDash val="solid"/>
          </a:ln>
        </p:spPr>
      </p:sp>
      <p:sp>
        <p:nvSpPr>
          <p:cNvPr id="45" name="Text 45"/>
          <p:cNvSpPr/>
          <p:nvPr/>
        </p:nvSpPr>
        <p:spPr>
          <a:xfrm>
            <a:off x="4791456" y="4389120"/>
            <a:ext cx="2898648" cy="384048"/>
          </a:xfrm>
          <a:prstGeom prst="rect">
            <a:avLst/>
          </a:prstGeom>
          <a:noFill/>
          <a:ln/>
        </p:spPr>
        <p:txBody>
          <a:bodyPr wrap="square" lIns="0" tIns="0" rIns="0" bIns="0" rtlCol="0" anchor="ctr"/>
          <a:lstStyle/>
          <a:p>
            <a:pPr algn="l" indent="0" marL="0">
              <a:buNone/>
            </a:pPr>
            <a:r>
              <a:rPr lang="fr-FR" sz="900" dirty="0">
                <a:solidFill>
                  <a:srgbClr val="5F5F5F"/>
                </a:solidFill>
                <a:latin typeface="Calibri" pitchFamily="34" charset="0"/>
                <a:ea typeface="Calibri" pitchFamily="34" charset="-122"/>
                <a:cs typeface="Calibri" pitchFamily="34" charset="-120"/>
              </a:rPr>
              <a:t>.env git-ignoré, secrets par l'hébergeur</a:t>
            </a:r>
            <a:endParaRPr lang="fr-FR" sz="900" dirty="0"/>
          </a:p>
        </p:txBody>
      </p:sp>
      <p:sp>
        <p:nvSpPr>
          <p:cNvPr id="46" name="Shape 46"/>
          <p:cNvSpPr/>
          <p:nvPr/>
        </p:nvSpPr>
        <p:spPr>
          <a:xfrm>
            <a:off x="4590288" y="4956048"/>
            <a:ext cx="91440" cy="18288"/>
          </a:xfrm>
          <a:prstGeom prst="rect">
            <a:avLst/>
          </a:prstGeom>
          <a:solidFill>
            <a:srgbClr val="8AA595"/>
          </a:solidFill>
          <a:ln w="12700">
            <a:solidFill>
              <a:srgbClr val="8AA595"/>
            </a:solidFill>
            <a:prstDash val="solid"/>
          </a:ln>
        </p:spPr>
      </p:sp>
      <p:sp>
        <p:nvSpPr>
          <p:cNvPr id="47" name="Text 47"/>
          <p:cNvSpPr/>
          <p:nvPr/>
        </p:nvSpPr>
        <p:spPr>
          <a:xfrm>
            <a:off x="4791456" y="4773168"/>
            <a:ext cx="2898648" cy="384048"/>
          </a:xfrm>
          <a:prstGeom prst="rect">
            <a:avLst/>
          </a:prstGeom>
          <a:noFill/>
          <a:ln/>
        </p:spPr>
        <p:txBody>
          <a:bodyPr wrap="square" lIns="0" tIns="0" rIns="0" bIns="0" rtlCol="0" anchor="ctr"/>
          <a:lstStyle/>
          <a:p>
            <a:pPr algn="l" indent="0" marL="0">
              <a:buNone/>
            </a:pPr>
            <a:r>
              <a:rPr lang="fr-FR" sz="900" dirty="0">
                <a:solidFill>
                  <a:srgbClr val="5F5F5F"/>
                </a:solidFill>
                <a:latin typeface="Calibri" pitchFamily="34" charset="0"/>
                <a:ea typeface="Calibri" pitchFamily="34" charset="-122"/>
                <a:cs typeface="Calibri" pitchFamily="34" charset="-120"/>
              </a:rPr>
              <a:t>npm audit et alertes Dependabot</a:t>
            </a:r>
            <a:endParaRPr lang="fr-FR" sz="900" dirty="0"/>
          </a:p>
        </p:txBody>
      </p:sp>
      <p:sp>
        <p:nvSpPr>
          <p:cNvPr id="48" name="Shape 48"/>
          <p:cNvSpPr/>
          <p:nvPr/>
        </p:nvSpPr>
        <p:spPr>
          <a:xfrm>
            <a:off x="4590288" y="5340096"/>
            <a:ext cx="91440" cy="18288"/>
          </a:xfrm>
          <a:prstGeom prst="rect">
            <a:avLst/>
          </a:prstGeom>
          <a:solidFill>
            <a:srgbClr val="8AA595"/>
          </a:solidFill>
          <a:ln w="12700">
            <a:solidFill>
              <a:srgbClr val="8AA595"/>
            </a:solidFill>
            <a:prstDash val="solid"/>
          </a:ln>
        </p:spPr>
      </p:sp>
      <p:sp>
        <p:nvSpPr>
          <p:cNvPr id="49" name="Text 49"/>
          <p:cNvSpPr/>
          <p:nvPr/>
        </p:nvSpPr>
        <p:spPr>
          <a:xfrm>
            <a:off x="4791456" y="5157216"/>
            <a:ext cx="2898648" cy="384048"/>
          </a:xfrm>
          <a:prstGeom prst="rect">
            <a:avLst/>
          </a:prstGeom>
          <a:noFill/>
          <a:ln/>
        </p:spPr>
        <p:txBody>
          <a:bodyPr wrap="square" lIns="0" tIns="0" rIns="0" bIns="0" rtlCol="0" anchor="ctr"/>
          <a:lstStyle/>
          <a:p>
            <a:pPr algn="l" indent="0" marL="0">
              <a:buNone/>
            </a:pPr>
            <a:r>
              <a:rPr lang="fr-FR" sz="900" dirty="0">
                <a:solidFill>
                  <a:srgbClr val="5F5F5F"/>
                </a:solidFill>
                <a:latin typeface="Calibri" pitchFamily="34" charset="0"/>
                <a:ea typeface="Calibri" pitchFamily="34" charset="-122"/>
                <a:cs typeface="Calibri" pitchFamily="34" charset="-120"/>
              </a:rPr>
              <a:t>Versions figées (package-lock.json)</a:t>
            </a:r>
            <a:endParaRPr lang="fr-FR" sz="900" dirty="0"/>
          </a:p>
        </p:txBody>
      </p:sp>
      <p:sp>
        <p:nvSpPr>
          <p:cNvPr id="50" name="Shape 50"/>
          <p:cNvSpPr/>
          <p:nvPr/>
        </p:nvSpPr>
        <p:spPr>
          <a:xfrm>
            <a:off x="7991856" y="3840480"/>
            <a:ext cx="3557016" cy="1828800"/>
          </a:xfrm>
          <a:prstGeom prst="roundRect">
            <a:avLst>
              <a:gd name="adj" fmla="val 2727"/>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51" name="Shape 51"/>
          <p:cNvSpPr/>
          <p:nvPr/>
        </p:nvSpPr>
        <p:spPr>
          <a:xfrm>
            <a:off x="7991856" y="3840480"/>
            <a:ext cx="82296" cy="1828800"/>
          </a:xfrm>
          <a:prstGeom prst="rect">
            <a:avLst/>
          </a:prstGeom>
          <a:solidFill>
            <a:srgbClr val="8AA595"/>
          </a:solidFill>
          <a:ln w="12700">
            <a:solidFill>
              <a:srgbClr val="8AA595"/>
            </a:solidFill>
            <a:prstDash val="solid"/>
          </a:ln>
        </p:spPr>
      </p:sp>
      <p:sp>
        <p:nvSpPr>
          <p:cNvPr id="52" name="Text 52"/>
          <p:cNvSpPr/>
          <p:nvPr/>
        </p:nvSpPr>
        <p:spPr>
          <a:xfrm>
            <a:off x="8266176" y="4023360"/>
            <a:ext cx="3008376" cy="274320"/>
          </a:xfrm>
          <a:prstGeom prst="rect">
            <a:avLst/>
          </a:prstGeom>
          <a:noFill/>
          <a:ln/>
        </p:spPr>
        <p:txBody>
          <a:bodyPr wrap="square" lIns="0" tIns="0" rIns="0" bIns="0" rtlCol="0" anchor="ctr"/>
          <a:lstStyle/>
          <a:p>
            <a:pPr algn="l" indent="0" marL="0">
              <a:buNone/>
            </a:pPr>
            <a:r>
              <a:rPr lang="fr-FR" sz="1150" b="1" dirty="0">
                <a:solidFill>
                  <a:srgbClr val="1A3C29"/>
                </a:solidFill>
                <a:latin typeface="Calibri" pitchFamily="34" charset="0"/>
                <a:ea typeface="Calibri" pitchFamily="34" charset="-122"/>
                <a:cs typeface="Calibri" pitchFamily="34" charset="-120"/>
              </a:rPr>
              <a:t>Gestion de crise</a:t>
            </a:r>
            <a:endParaRPr lang="fr-FR" sz="1150" dirty="0"/>
          </a:p>
        </p:txBody>
      </p:sp>
      <p:sp>
        <p:nvSpPr>
          <p:cNvPr id="53" name="Shape 53"/>
          <p:cNvSpPr/>
          <p:nvPr/>
        </p:nvSpPr>
        <p:spPr>
          <a:xfrm>
            <a:off x="8266176" y="4572000"/>
            <a:ext cx="91440" cy="18288"/>
          </a:xfrm>
          <a:prstGeom prst="rect">
            <a:avLst/>
          </a:prstGeom>
          <a:solidFill>
            <a:srgbClr val="8AA595"/>
          </a:solidFill>
          <a:ln w="12700">
            <a:solidFill>
              <a:srgbClr val="8AA595"/>
            </a:solidFill>
            <a:prstDash val="solid"/>
          </a:ln>
        </p:spPr>
      </p:sp>
      <p:sp>
        <p:nvSpPr>
          <p:cNvPr id="54" name="Text 54"/>
          <p:cNvSpPr/>
          <p:nvPr/>
        </p:nvSpPr>
        <p:spPr>
          <a:xfrm>
            <a:off x="8467344" y="4389120"/>
            <a:ext cx="2898648" cy="384048"/>
          </a:xfrm>
          <a:prstGeom prst="rect">
            <a:avLst/>
          </a:prstGeom>
          <a:noFill/>
          <a:ln/>
        </p:spPr>
        <p:txBody>
          <a:bodyPr wrap="square" lIns="0" tIns="0" rIns="0" bIns="0" rtlCol="0" anchor="ctr"/>
          <a:lstStyle/>
          <a:p>
            <a:pPr algn="l" indent="0" marL="0">
              <a:buNone/>
            </a:pPr>
            <a:r>
              <a:rPr lang="fr-FR" sz="900" dirty="0">
                <a:solidFill>
                  <a:srgbClr val="5F5F5F"/>
                </a:solidFill>
                <a:latin typeface="Calibri" pitchFamily="34" charset="0"/>
                <a:ea typeface="Calibri" pitchFamily="34" charset="-122"/>
                <a:cs typeface="Calibri" pitchFamily="34" charset="-120"/>
              </a:rPr>
              <a:t>Détection → confinement → escalade</a:t>
            </a:r>
            <a:endParaRPr lang="fr-FR" sz="900" dirty="0"/>
          </a:p>
        </p:txBody>
      </p:sp>
      <p:sp>
        <p:nvSpPr>
          <p:cNvPr id="55" name="Shape 55"/>
          <p:cNvSpPr/>
          <p:nvPr/>
        </p:nvSpPr>
        <p:spPr>
          <a:xfrm>
            <a:off x="8266176" y="4956048"/>
            <a:ext cx="91440" cy="18288"/>
          </a:xfrm>
          <a:prstGeom prst="rect">
            <a:avLst/>
          </a:prstGeom>
          <a:solidFill>
            <a:srgbClr val="8AA595"/>
          </a:solidFill>
          <a:ln w="12700">
            <a:solidFill>
              <a:srgbClr val="8AA595"/>
            </a:solidFill>
            <a:prstDash val="solid"/>
          </a:ln>
        </p:spPr>
      </p:sp>
      <p:sp>
        <p:nvSpPr>
          <p:cNvPr id="56" name="Text 56"/>
          <p:cNvSpPr/>
          <p:nvPr/>
        </p:nvSpPr>
        <p:spPr>
          <a:xfrm>
            <a:off x="8467344" y="4773168"/>
            <a:ext cx="2898648" cy="384048"/>
          </a:xfrm>
          <a:prstGeom prst="rect">
            <a:avLst/>
          </a:prstGeom>
          <a:noFill/>
          <a:ln/>
        </p:spPr>
        <p:txBody>
          <a:bodyPr wrap="square" lIns="0" tIns="0" rIns="0" bIns="0" rtlCol="0" anchor="ctr"/>
          <a:lstStyle/>
          <a:p>
            <a:pPr algn="l" indent="0" marL="0">
              <a:buNone/>
            </a:pPr>
            <a:r>
              <a:rPr lang="fr-FR" sz="900" dirty="0">
                <a:solidFill>
                  <a:srgbClr val="5F5F5F"/>
                </a:solidFill>
                <a:latin typeface="Calibri" pitchFamily="34" charset="0"/>
                <a:ea typeface="Calibri" pitchFamily="34" charset="-122"/>
                <a:cs typeface="Calibri" pitchFamily="34" charset="-120"/>
              </a:rPr>
              <a:t>Alerte du référent Ministère et du DPO</a:t>
            </a:r>
            <a:endParaRPr lang="fr-FR" sz="900" dirty="0"/>
          </a:p>
        </p:txBody>
      </p:sp>
      <p:sp>
        <p:nvSpPr>
          <p:cNvPr id="57" name="Shape 57"/>
          <p:cNvSpPr/>
          <p:nvPr/>
        </p:nvSpPr>
        <p:spPr>
          <a:xfrm>
            <a:off x="8266176" y="5340096"/>
            <a:ext cx="91440" cy="18288"/>
          </a:xfrm>
          <a:prstGeom prst="rect">
            <a:avLst/>
          </a:prstGeom>
          <a:solidFill>
            <a:srgbClr val="8AA595"/>
          </a:solidFill>
          <a:ln w="12700">
            <a:solidFill>
              <a:srgbClr val="8AA595"/>
            </a:solidFill>
            <a:prstDash val="solid"/>
          </a:ln>
        </p:spPr>
      </p:sp>
      <p:sp>
        <p:nvSpPr>
          <p:cNvPr id="58" name="Text 58"/>
          <p:cNvSpPr/>
          <p:nvPr/>
        </p:nvSpPr>
        <p:spPr>
          <a:xfrm>
            <a:off x="8467344" y="5157216"/>
            <a:ext cx="2898648" cy="384048"/>
          </a:xfrm>
          <a:prstGeom prst="rect">
            <a:avLst/>
          </a:prstGeom>
          <a:noFill/>
          <a:ln/>
        </p:spPr>
        <p:txBody>
          <a:bodyPr wrap="square" lIns="0" tIns="0" rIns="0" bIns="0" rtlCol="0" anchor="ctr"/>
          <a:lstStyle/>
          <a:p>
            <a:pPr algn="l" indent="0" marL="0">
              <a:buNone/>
            </a:pPr>
            <a:r>
              <a:rPr lang="fr-FR" sz="900" dirty="0">
                <a:solidFill>
                  <a:srgbClr val="5F5F5F"/>
                </a:solidFill>
                <a:latin typeface="Calibri" pitchFamily="34" charset="0"/>
                <a:ea typeface="Calibri" pitchFamily="34" charset="-122"/>
                <a:cs typeface="Calibri" pitchFamily="34" charset="-120"/>
              </a:rPr>
              <a:t>Rotation du secret JWT, retour d'expérience</a:t>
            </a:r>
            <a:endParaRPr lang="fr-FR" sz="900" dirty="0"/>
          </a:p>
        </p:txBody>
      </p:sp>
      <p:sp>
        <p:nvSpPr>
          <p:cNvPr id="59" name="Shape 59"/>
          <p:cNvSpPr/>
          <p:nvPr/>
        </p:nvSpPr>
        <p:spPr>
          <a:xfrm>
            <a:off x="640080" y="5806440"/>
            <a:ext cx="10881360" cy="411480"/>
          </a:xfrm>
          <a:prstGeom prst="roundRect">
            <a:avLst>
              <a:gd name="adj" fmla="val 2727"/>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60" name="Text 60"/>
          <p:cNvSpPr/>
          <p:nvPr/>
        </p:nvSpPr>
        <p:spPr>
          <a:xfrm>
            <a:off x="914400" y="5943600"/>
            <a:ext cx="10332720" cy="137160"/>
          </a:xfrm>
          <a:prstGeom prst="rect">
            <a:avLst/>
          </a:prstGeom>
          <a:noFill/>
          <a:ln/>
        </p:spPr>
        <p:txBody>
          <a:bodyPr wrap="square" lIns="0" tIns="0" rIns="0" bIns="0" rtlCol="0" anchor="ctr"/>
          <a:lstStyle/>
          <a:p>
            <a:pPr algn="ctr" indent="0" marL="0">
              <a:buNone/>
            </a:pPr>
            <a:r>
              <a:rPr lang="fr-FR" sz="1150" b="1" dirty="0">
                <a:solidFill>
                  <a:srgbClr val="1A3C29"/>
                </a:solidFill>
                <a:latin typeface="Calibri" pitchFamily="34" charset="0"/>
                <a:ea typeface="Calibri" pitchFamily="34" charset="-122"/>
                <a:cs typeface="Calibri" pitchFamily="34" charset="-120"/>
              </a:rPr>
              <a:t>10 tests de sécurité automatisés rejoués à chaque commit  ·  HTTPS/TLS et sauvegardes chiffrées à mettre en place lors du passage en production.</a:t>
            </a:r>
            <a:endParaRPr lang="fr-FR" sz="1150" dirty="0"/>
          </a:p>
        </p:txBody>
      </p:sp>
      <p:sp>
        <p:nvSpPr>
          <p:cNvPr id="61" name="Shape 61"/>
          <p:cNvSpPr/>
          <p:nvPr/>
        </p:nvSpPr>
        <p:spPr>
          <a:xfrm>
            <a:off x="0" y="6355080"/>
            <a:ext cx="12188952" cy="502920"/>
          </a:xfrm>
          <a:prstGeom prst="rect">
            <a:avLst/>
          </a:prstGeom>
          <a:solidFill>
            <a:srgbClr val="1A3C29"/>
          </a:solidFill>
          <a:ln w="12700">
            <a:solidFill>
              <a:srgbClr val="1A3C29"/>
            </a:solidFill>
            <a:prstDash val="solid"/>
          </a:ln>
        </p:spPr>
      </p:sp>
      <p:sp>
        <p:nvSpPr>
          <p:cNvPr id="62" name="Text 62"/>
          <p:cNvSpPr/>
          <p:nvPr/>
        </p:nvSpPr>
        <p:spPr>
          <a:xfrm>
            <a:off x="502920" y="6382512"/>
            <a:ext cx="4572000" cy="237744"/>
          </a:xfrm>
          <a:prstGeom prst="rect">
            <a:avLst/>
          </a:prstGeom>
          <a:noFill/>
          <a:ln/>
        </p:spPr>
        <p:txBody>
          <a:bodyPr wrap="square" lIns="0" tIns="0" rIns="0" bIns="0" rtlCol="0" anchor="ctr"/>
          <a:lstStyle/>
          <a:p>
            <a:pPr algn="l" indent="0" marL="0">
              <a:buNone/>
            </a:pPr>
            <a:r>
              <a:rPr lang="fr-FR" sz="1000" b="1" dirty="0">
                <a:solidFill>
                  <a:srgbClr val="FFFFFF"/>
                </a:solidFill>
                <a:latin typeface="Calibri" pitchFamily="34" charset="0"/>
                <a:ea typeface="Calibri" pitchFamily="34" charset="-122"/>
                <a:cs typeface="Calibri" pitchFamily="34" charset="-120"/>
              </a:rPr>
              <a:t>RENOIR&amp;ALINE</a:t>
            </a:r>
            <a:endParaRPr lang="fr-FR" sz="1000" dirty="0"/>
          </a:p>
        </p:txBody>
      </p:sp>
      <p:sp>
        <p:nvSpPr>
          <p:cNvPr id="63" name="Text 63"/>
          <p:cNvSpPr/>
          <p:nvPr/>
        </p:nvSpPr>
        <p:spPr>
          <a:xfrm>
            <a:off x="502920" y="6601968"/>
            <a:ext cx="4572000" cy="182880"/>
          </a:xfrm>
          <a:prstGeom prst="rect">
            <a:avLst/>
          </a:prstGeom>
          <a:noFill/>
          <a:ln/>
        </p:spPr>
        <p:txBody>
          <a:bodyPr wrap="square" lIns="0" tIns="0" rIns="0" bIns="0" rtlCol="0" anchor="ctr"/>
          <a:lstStyle/>
          <a:p>
            <a:pPr algn="l" indent="0" marL="0">
              <a:buNone/>
            </a:pPr>
            <a:r>
              <a:rPr lang="fr-FR" sz="700" spc="200" kern="0" dirty="0">
                <a:solidFill>
                  <a:srgbClr val="8AA595"/>
                </a:solidFill>
                <a:latin typeface="Calibri" pitchFamily="34" charset="0"/>
                <a:ea typeface="Calibri" pitchFamily="34" charset="-122"/>
                <a:cs typeface="Calibri" pitchFamily="34" charset="-120"/>
              </a:rPr>
              <a:t>CONSTRUCTEUR DE SITE WEB</a:t>
            </a:r>
            <a:endParaRPr lang="fr-FR" sz="700" dirty="0"/>
          </a:p>
        </p:txBody>
      </p:sp>
      <p:sp>
        <p:nvSpPr>
          <p:cNvPr id="64" name="Text 64"/>
          <p:cNvSpPr/>
          <p:nvPr/>
        </p:nvSpPr>
        <p:spPr>
          <a:xfrm>
            <a:off x="10241280" y="6419088"/>
            <a:ext cx="1417320" cy="365760"/>
          </a:xfrm>
          <a:prstGeom prst="rect">
            <a:avLst/>
          </a:prstGeom>
          <a:noFill/>
          <a:ln/>
        </p:spPr>
        <p:txBody>
          <a:bodyPr wrap="square" lIns="0" tIns="0" rIns="0" bIns="0" rtlCol="0" anchor="ctr"/>
          <a:lstStyle/>
          <a:p>
            <a:pPr algn="r" indent="0" marL="0">
              <a:buNone/>
            </a:pPr>
            <a:r>
              <a:rPr lang="fr-FR" sz="1000" b="1" dirty="0">
                <a:solidFill>
                  <a:srgbClr val="FFFFFF"/>
                </a:solidFill>
                <a:latin typeface="Calibri" pitchFamily="34" charset="0"/>
                <a:ea typeface="Calibri" pitchFamily="34" charset="-122"/>
                <a:cs typeface="Calibri" pitchFamily="34" charset="-120"/>
              </a:rPr>
              <a:t>Page 16/21</a:t>
            </a:r>
            <a:endParaRPr lang="fr-FR"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1ECE6"/>
        </a:solidFill>
      </p:bgPr>
    </p:bg>
    <p:spTree>
      <p:nvGrpSpPr>
        <p:cNvPr id="1" name=""/>
        <p:cNvGrpSpPr/>
        <p:nvPr/>
      </p:nvGrpSpPr>
      <p:grpSpPr>
        <a:xfrm>
          <a:off x="0" y="0"/>
          <a:ext cx="0" cy="0"/>
          <a:chOff x="0" y="0"/>
          <a:chExt cx="0" cy="0"/>
        </a:xfrm>
      </p:grpSpPr>
      <p:sp>
        <p:nvSpPr>
          <p:cNvPr id="2" name="Text 0"/>
          <p:cNvSpPr/>
          <p:nvPr/>
        </p:nvSpPr>
        <p:spPr>
          <a:xfrm>
            <a:off x="640080" y="384048"/>
            <a:ext cx="10881360" cy="292608"/>
          </a:xfrm>
          <a:prstGeom prst="rect">
            <a:avLst/>
          </a:prstGeom>
          <a:noFill/>
          <a:ln/>
        </p:spPr>
        <p:txBody>
          <a:bodyPr wrap="square" lIns="0" tIns="0" rIns="0" bIns="0" rtlCol="0" anchor="ctr"/>
          <a:lstStyle/>
          <a:p>
            <a:pPr indent="0" marL="0">
              <a:buNone/>
            </a:pPr>
            <a:r>
              <a:rPr lang="en-US" sz="1300" b="1" dirty="0">
                <a:solidFill>
                  <a:srgbClr val="C3612D"/>
                </a:solidFill>
                <a:latin typeface="Calibri" pitchFamily="34" charset="0"/>
                <a:ea typeface="Calibri" pitchFamily="34" charset="-122"/>
                <a:cs typeface="Calibri" pitchFamily="34" charset="-120"/>
              </a:rPr>
              <a:t>Gestion de projet</a:t>
            </a:r>
            <a:endParaRPr lang="en-US" sz="1300" dirty="0"/>
          </a:p>
        </p:txBody>
      </p:sp>
      <p:sp>
        <p:nvSpPr>
          <p:cNvPr id="3" name="Text 1"/>
          <p:cNvSpPr/>
          <p:nvPr/>
        </p:nvSpPr>
        <p:spPr>
          <a:xfrm>
            <a:off x="640080" y="713232"/>
            <a:ext cx="10881360" cy="822960"/>
          </a:xfrm>
          <a:prstGeom prst="rect">
            <a:avLst/>
          </a:prstGeom>
          <a:noFill/>
          <a:ln/>
        </p:spPr>
        <p:txBody>
          <a:bodyPr wrap="square" lIns="0" tIns="0" rIns="0" bIns="0" rtlCol="0" anchor="ctr"/>
          <a:lstStyle/>
          <a:p>
            <a:pPr indent="0" marL="0">
              <a:buNone/>
            </a:pPr>
            <a:r>
              <a:rPr lang="en-US" sz="3400" b="1" dirty="0">
                <a:solidFill>
                  <a:srgbClr val="1A3C29"/>
                </a:solidFill>
                <a:latin typeface="Calibri" pitchFamily="34" charset="0"/>
                <a:ea typeface="Calibri" pitchFamily="34" charset="-122"/>
                <a:cs typeface="Calibri" pitchFamily="34" charset="-120"/>
              </a:rPr>
              <a:t>Planning de la prestation</a:t>
            </a:r>
            <a:endParaRPr lang="en-US" sz="3400" dirty="0"/>
          </a:p>
        </p:txBody>
      </p:sp>
      <p:sp>
        <p:nvSpPr>
          <p:cNvPr id="4" name="Shape 2"/>
          <p:cNvSpPr/>
          <p:nvPr/>
        </p:nvSpPr>
        <p:spPr>
          <a:xfrm>
            <a:off x="640080" y="1481328"/>
            <a:ext cx="3566160" cy="274320"/>
          </a:xfrm>
          <a:prstGeom prst="rect">
            <a:avLst/>
          </a:prstGeom>
          <a:solidFill>
            <a:srgbClr val="1A3C29"/>
          </a:solidFill>
          <a:ln w="12700">
            <a:solidFill>
              <a:srgbClr val="1A3C29"/>
            </a:solidFill>
            <a:prstDash val="solid"/>
          </a:ln>
        </p:spPr>
      </p:sp>
      <p:sp>
        <p:nvSpPr>
          <p:cNvPr id="5" name="Text 3"/>
          <p:cNvSpPr/>
          <p:nvPr/>
        </p:nvSpPr>
        <p:spPr>
          <a:xfrm>
            <a:off x="777240" y="1481328"/>
            <a:ext cx="3383280" cy="27432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PRESTATAIRE — Renoir&amp;Aline</a:t>
            </a:r>
            <a:endParaRPr lang="en-US" sz="1000" dirty="0"/>
          </a:p>
        </p:txBody>
      </p:sp>
      <p:sp>
        <p:nvSpPr>
          <p:cNvPr id="6" name="Shape 4"/>
          <p:cNvSpPr/>
          <p:nvPr/>
        </p:nvSpPr>
        <p:spPr>
          <a:xfrm>
            <a:off x="4389120" y="1481328"/>
            <a:ext cx="7132320" cy="274320"/>
          </a:xfrm>
          <a:prstGeom prst="rect">
            <a:avLst/>
          </a:prstGeom>
          <a:solidFill>
            <a:srgbClr val="1F4E79"/>
          </a:solidFill>
          <a:ln w="12700">
            <a:solidFill>
              <a:srgbClr val="1F4E79"/>
            </a:solidFill>
            <a:prstDash val="solid"/>
          </a:ln>
        </p:spPr>
      </p:sp>
      <p:sp>
        <p:nvSpPr>
          <p:cNvPr id="7" name="Text 5"/>
          <p:cNvSpPr/>
          <p:nvPr/>
        </p:nvSpPr>
        <p:spPr>
          <a:xfrm>
            <a:off x="4526280" y="1481328"/>
            <a:ext cx="6949440" cy="27432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CÔTÉ CLIENT — Ministère</a:t>
            </a:r>
            <a:endParaRPr lang="en-US" sz="1000" dirty="0"/>
          </a:p>
        </p:txBody>
      </p:sp>
      <p:sp>
        <p:nvSpPr>
          <p:cNvPr id="8" name="Shape 6"/>
          <p:cNvSpPr/>
          <p:nvPr/>
        </p:nvSpPr>
        <p:spPr>
          <a:xfrm>
            <a:off x="640080" y="1810512"/>
            <a:ext cx="3566160" cy="868680"/>
          </a:xfrm>
          <a:prstGeom prst="roundRect">
            <a:avLst>
              <a:gd name="adj" fmla="val 6316"/>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9" name="Shape 7"/>
          <p:cNvSpPr/>
          <p:nvPr/>
        </p:nvSpPr>
        <p:spPr>
          <a:xfrm>
            <a:off x="804672" y="1975104"/>
            <a:ext cx="530352" cy="530352"/>
          </a:xfrm>
          <a:prstGeom prst="ellipse">
            <a:avLst/>
          </a:prstGeom>
          <a:solidFill>
            <a:srgbClr val="1A3C29"/>
          </a:solidFill>
          <a:ln w="12700">
            <a:solidFill>
              <a:srgbClr val="1A3C29"/>
            </a:solidFill>
            <a:prstDash val="solid"/>
          </a:ln>
        </p:spPr>
      </p:sp>
      <p:sp>
        <p:nvSpPr>
          <p:cNvPr id="10" name="Text 8"/>
          <p:cNvSpPr/>
          <p:nvPr/>
        </p:nvSpPr>
        <p:spPr>
          <a:xfrm>
            <a:off x="804672" y="1975104"/>
            <a:ext cx="530352"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LD</a:t>
            </a:r>
            <a:endParaRPr lang="en-US" sz="1300" dirty="0"/>
          </a:p>
        </p:txBody>
      </p:sp>
      <p:sp>
        <p:nvSpPr>
          <p:cNvPr id="11" name="Text 9"/>
          <p:cNvSpPr/>
          <p:nvPr/>
        </p:nvSpPr>
        <p:spPr>
          <a:xfrm>
            <a:off x="1444752" y="1956816"/>
            <a:ext cx="2651760" cy="292608"/>
          </a:xfrm>
          <a:prstGeom prst="rect">
            <a:avLst/>
          </a:prstGeom>
          <a:noFill/>
          <a:ln/>
        </p:spPr>
        <p:txBody>
          <a:bodyPr wrap="square" lIns="0" tIns="0" rIns="0" bIns="0" rtlCol="0" anchor="ctr"/>
          <a:lstStyle/>
          <a:p>
            <a:pPr indent="0" marL="0">
              <a:buNone/>
            </a:pPr>
            <a:r>
              <a:rPr lang="en-US" sz="1300" b="1" dirty="0">
                <a:solidFill>
                  <a:srgbClr val="1A3C29"/>
                </a:solidFill>
                <a:latin typeface="Calibri" pitchFamily="34" charset="0"/>
                <a:ea typeface="Calibri" pitchFamily="34" charset="-122"/>
                <a:cs typeface="Calibri" pitchFamily="34" charset="-120"/>
              </a:rPr>
              <a:t>Lisa Drie</a:t>
            </a:r>
            <a:endParaRPr lang="en-US" sz="1300" dirty="0"/>
          </a:p>
        </p:txBody>
      </p:sp>
      <p:sp>
        <p:nvSpPr>
          <p:cNvPr id="12" name="Text 10"/>
          <p:cNvSpPr/>
          <p:nvPr/>
        </p:nvSpPr>
        <p:spPr>
          <a:xfrm>
            <a:off x="1444752" y="2249424"/>
            <a:ext cx="2651760" cy="384048"/>
          </a:xfrm>
          <a:prstGeom prst="rect">
            <a:avLst/>
          </a:prstGeom>
          <a:noFill/>
          <a:ln/>
        </p:spPr>
        <p:txBody>
          <a:bodyPr wrap="square" lIns="0" tIns="0" rIns="0" bIns="0" rtlCol="0" anchor="ctr"/>
          <a:lstStyle/>
          <a:p>
            <a:pPr indent="0" marL="0">
              <a:buNone/>
            </a:pPr>
            <a:r>
              <a:rPr lang="en-US" sz="950" dirty="0">
                <a:solidFill>
                  <a:srgbClr val="5F5F5F"/>
                </a:solidFill>
                <a:latin typeface="Calibri" pitchFamily="34" charset="0"/>
                <a:ea typeface="Calibri" pitchFamily="34" charset="-122"/>
                <a:cs typeface="Calibri" pitchFamily="34" charset="-120"/>
              </a:rPr>
              <a:t>Déploiement · Sécurisation · Maintenance</a:t>
            </a:r>
            <a:endParaRPr lang="en-US" sz="950" dirty="0"/>
          </a:p>
        </p:txBody>
      </p:sp>
      <p:sp>
        <p:nvSpPr>
          <p:cNvPr id="13" name="Shape 11"/>
          <p:cNvSpPr/>
          <p:nvPr/>
        </p:nvSpPr>
        <p:spPr>
          <a:xfrm>
            <a:off x="4389120" y="1810512"/>
            <a:ext cx="3474720" cy="868680"/>
          </a:xfrm>
          <a:prstGeom prst="roundRect">
            <a:avLst>
              <a:gd name="adj" fmla="val 6316"/>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14" name="Shape 12"/>
          <p:cNvSpPr/>
          <p:nvPr/>
        </p:nvSpPr>
        <p:spPr>
          <a:xfrm>
            <a:off x="4553712" y="1975104"/>
            <a:ext cx="530352" cy="530352"/>
          </a:xfrm>
          <a:prstGeom prst="ellipse">
            <a:avLst/>
          </a:prstGeom>
          <a:solidFill>
            <a:srgbClr val="1F4E79"/>
          </a:solidFill>
          <a:ln w="12700">
            <a:solidFill>
              <a:srgbClr val="1F4E79"/>
            </a:solidFill>
            <a:prstDash val="solid"/>
          </a:ln>
        </p:spPr>
      </p:sp>
      <p:sp>
        <p:nvSpPr>
          <p:cNvPr id="15" name="Text 13"/>
          <p:cNvSpPr/>
          <p:nvPr/>
        </p:nvSpPr>
        <p:spPr>
          <a:xfrm>
            <a:off x="4553712" y="1975104"/>
            <a:ext cx="530352"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R1</a:t>
            </a:r>
            <a:endParaRPr lang="en-US" sz="1300" dirty="0"/>
          </a:p>
        </p:txBody>
      </p:sp>
      <p:sp>
        <p:nvSpPr>
          <p:cNvPr id="16" name="Text 14"/>
          <p:cNvSpPr/>
          <p:nvPr/>
        </p:nvSpPr>
        <p:spPr>
          <a:xfrm>
            <a:off x="5193792" y="1956816"/>
            <a:ext cx="2560320" cy="292608"/>
          </a:xfrm>
          <a:prstGeom prst="rect">
            <a:avLst/>
          </a:prstGeom>
          <a:noFill/>
          <a:ln/>
        </p:spPr>
        <p:txBody>
          <a:bodyPr wrap="square" lIns="0" tIns="0" rIns="0" bIns="0" rtlCol="0" anchor="ctr"/>
          <a:lstStyle/>
          <a:p>
            <a:pPr indent="0" marL="0">
              <a:buNone/>
            </a:pPr>
            <a:r>
              <a:rPr lang="en-US" sz="1300" b="1" dirty="0">
                <a:solidFill>
                  <a:srgbClr val="1A3C29"/>
                </a:solidFill>
                <a:latin typeface="Calibri" pitchFamily="34" charset="0"/>
                <a:ea typeface="Calibri" pitchFamily="34" charset="-122"/>
                <a:cs typeface="Calibri" pitchFamily="34" charset="-120"/>
              </a:rPr>
              <a:t>Référent DSI</a:t>
            </a:r>
            <a:endParaRPr lang="en-US" sz="1300" dirty="0"/>
          </a:p>
        </p:txBody>
      </p:sp>
      <p:sp>
        <p:nvSpPr>
          <p:cNvPr id="17" name="Text 15"/>
          <p:cNvSpPr/>
          <p:nvPr/>
        </p:nvSpPr>
        <p:spPr>
          <a:xfrm>
            <a:off x="5193792" y="2249424"/>
            <a:ext cx="2560320" cy="384048"/>
          </a:xfrm>
          <a:prstGeom prst="rect">
            <a:avLst/>
          </a:prstGeom>
          <a:noFill/>
          <a:ln/>
        </p:spPr>
        <p:txBody>
          <a:bodyPr wrap="square" lIns="0" tIns="0" rIns="0" bIns="0" rtlCol="0" anchor="ctr"/>
          <a:lstStyle/>
          <a:p>
            <a:pPr indent="0" marL="0">
              <a:buNone/>
            </a:pPr>
            <a:r>
              <a:rPr lang="en-US" sz="950" dirty="0">
                <a:solidFill>
                  <a:srgbClr val="5F5F5F"/>
                </a:solidFill>
                <a:latin typeface="Calibri" pitchFamily="34" charset="0"/>
                <a:ea typeface="Calibri" pitchFamily="34" charset="-122"/>
                <a:cs typeface="Calibri" pitchFamily="34" charset="-120"/>
              </a:rPr>
              <a:t>Validation des livraisons · Recette</a:t>
            </a:r>
            <a:endParaRPr lang="en-US" sz="950" dirty="0"/>
          </a:p>
        </p:txBody>
      </p:sp>
      <p:sp>
        <p:nvSpPr>
          <p:cNvPr id="18" name="Shape 16"/>
          <p:cNvSpPr/>
          <p:nvPr/>
        </p:nvSpPr>
        <p:spPr>
          <a:xfrm>
            <a:off x="8046720" y="1810512"/>
            <a:ext cx="3474720" cy="868680"/>
          </a:xfrm>
          <a:prstGeom prst="roundRect">
            <a:avLst>
              <a:gd name="adj" fmla="val 6316"/>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19" name="Shape 17"/>
          <p:cNvSpPr/>
          <p:nvPr/>
        </p:nvSpPr>
        <p:spPr>
          <a:xfrm>
            <a:off x="8211312" y="1975104"/>
            <a:ext cx="530352" cy="530352"/>
          </a:xfrm>
          <a:prstGeom prst="ellipse">
            <a:avLst/>
          </a:prstGeom>
          <a:solidFill>
            <a:srgbClr val="C3612D"/>
          </a:solidFill>
          <a:ln w="12700">
            <a:solidFill>
              <a:srgbClr val="C3612D"/>
            </a:solidFill>
            <a:prstDash val="solid"/>
          </a:ln>
        </p:spPr>
      </p:sp>
      <p:sp>
        <p:nvSpPr>
          <p:cNvPr id="20" name="Text 18"/>
          <p:cNvSpPr/>
          <p:nvPr/>
        </p:nvSpPr>
        <p:spPr>
          <a:xfrm>
            <a:off x="8211312" y="1975104"/>
            <a:ext cx="530352"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R2</a:t>
            </a:r>
            <a:endParaRPr lang="en-US" sz="1300" dirty="0"/>
          </a:p>
        </p:txBody>
      </p:sp>
      <p:sp>
        <p:nvSpPr>
          <p:cNvPr id="21" name="Text 19"/>
          <p:cNvSpPr/>
          <p:nvPr/>
        </p:nvSpPr>
        <p:spPr>
          <a:xfrm>
            <a:off x="8851392" y="1956816"/>
            <a:ext cx="2560320" cy="292608"/>
          </a:xfrm>
          <a:prstGeom prst="rect">
            <a:avLst/>
          </a:prstGeom>
          <a:noFill/>
          <a:ln/>
        </p:spPr>
        <p:txBody>
          <a:bodyPr wrap="square" lIns="0" tIns="0" rIns="0" bIns="0" rtlCol="0" anchor="ctr"/>
          <a:lstStyle/>
          <a:p>
            <a:pPr indent="0" marL="0">
              <a:buNone/>
            </a:pPr>
            <a:r>
              <a:rPr lang="en-US" sz="1300" b="1" dirty="0">
                <a:solidFill>
                  <a:srgbClr val="1A3C29"/>
                </a:solidFill>
                <a:latin typeface="Calibri" pitchFamily="34" charset="0"/>
                <a:ea typeface="Calibri" pitchFamily="34" charset="-122"/>
                <a:cs typeface="Calibri" pitchFamily="34" charset="-120"/>
              </a:rPr>
              <a:t>DPO</a:t>
            </a:r>
            <a:endParaRPr lang="en-US" sz="1300" dirty="0"/>
          </a:p>
        </p:txBody>
      </p:sp>
      <p:sp>
        <p:nvSpPr>
          <p:cNvPr id="22" name="Text 20"/>
          <p:cNvSpPr/>
          <p:nvPr/>
        </p:nvSpPr>
        <p:spPr>
          <a:xfrm>
            <a:off x="8851392" y="2249424"/>
            <a:ext cx="2560320" cy="384048"/>
          </a:xfrm>
          <a:prstGeom prst="rect">
            <a:avLst/>
          </a:prstGeom>
          <a:noFill/>
          <a:ln/>
        </p:spPr>
        <p:txBody>
          <a:bodyPr wrap="square" lIns="0" tIns="0" rIns="0" bIns="0" rtlCol="0" anchor="ctr"/>
          <a:lstStyle/>
          <a:p>
            <a:pPr indent="0" marL="0">
              <a:buNone/>
            </a:pPr>
            <a:r>
              <a:rPr lang="en-US" sz="950" dirty="0">
                <a:solidFill>
                  <a:srgbClr val="5F5F5F"/>
                </a:solidFill>
                <a:latin typeface="Calibri" pitchFamily="34" charset="0"/>
                <a:ea typeface="Calibri" pitchFamily="34" charset="-122"/>
                <a:cs typeface="Calibri" pitchFamily="34" charset="-120"/>
              </a:rPr>
              <a:t>Conformité RGPD · Données de santé</a:t>
            </a:r>
            <a:endParaRPr lang="en-US" sz="950" dirty="0"/>
          </a:p>
        </p:txBody>
      </p:sp>
      <p:sp>
        <p:nvSpPr>
          <p:cNvPr id="23" name="Text 21"/>
          <p:cNvSpPr/>
          <p:nvPr/>
        </p:nvSpPr>
        <p:spPr>
          <a:xfrm>
            <a:off x="640080" y="2798064"/>
            <a:ext cx="4572000" cy="292608"/>
          </a:xfrm>
          <a:prstGeom prst="rect">
            <a:avLst/>
          </a:prstGeom>
          <a:noFill/>
          <a:ln/>
        </p:spPr>
        <p:txBody>
          <a:bodyPr wrap="square" lIns="0" tIns="0" rIns="0" bIns="0" rtlCol="0" anchor="ctr"/>
          <a:lstStyle/>
          <a:p>
            <a:pPr indent="0" marL="0">
              <a:buNone/>
            </a:pPr>
            <a:r>
              <a:rPr lang="en-US" sz="1300" b="1" dirty="0">
                <a:solidFill>
                  <a:srgbClr val="C3612D"/>
                </a:solidFill>
                <a:latin typeface="Calibri" pitchFamily="34" charset="0"/>
                <a:ea typeface="Calibri" pitchFamily="34" charset="-122"/>
                <a:cs typeface="Calibri" pitchFamily="34" charset="-120"/>
              </a:rPr>
              <a:t>Déroulé sur 1 mois</a:t>
            </a:r>
            <a:endParaRPr lang="en-US" sz="1300" dirty="0"/>
          </a:p>
        </p:txBody>
      </p:sp>
      <p:sp>
        <p:nvSpPr>
          <p:cNvPr id="24" name="Shape 22"/>
          <p:cNvSpPr/>
          <p:nvPr/>
        </p:nvSpPr>
        <p:spPr>
          <a:xfrm>
            <a:off x="9966960" y="2798064"/>
            <a:ext cx="1554480" cy="292608"/>
          </a:xfrm>
          <a:prstGeom prst="rect">
            <a:avLst/>
          </a:prstGeom>
          <a:solidFill>
            <a:srgbClr val="C0392B"/>
          </a:solidFill>
          <a:ln w="12700">
            <a:solidFill>
              <a:srgbClr val="C0392B"/>
            </a:solidFill>
            <a:prstDash val="solid"/>
          </a:ln>
        </p:spPr>
      </p:sp>
      <p:sp>
        <p:nvSpPr>
          <p:cNvPr id="25" name="Text 23"/>
          <p:cNvSpPr/>
          <p:nvPr/>
        </p:nvSpPr>
        <p:spPr>
          <a:xfrm>
            <a:off x="9966960" y="2798064"/>
            <a:ext cx="155448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LIVRAISON</a:t>
            </a:r>
            <a:endParaRPr lang="en-US" sz="850" dirty="0"/>
          </a:p>
        </p:txBody>
      </p:sp>
      <p:sp>
        <p:nvSpPr>
          <p:cNvPr id="26" name="Shape 24"/>
          <p:cNvSpPr/>
          <p:nvPr/>
        </p:nvSpPr>
        <p:spPr>
          <a:xfrm>
            <a:off x="3108960" y="3182112"/>
            <a:ext cx="2103120" cy="365760"/>
          </a:xfrm>
          <a:prstGeom prst="rect">
            <a:avLst/>
          </a:prstGeom>
          <a:solidFill>
            <a:srgbClr val="1A3C29"/>
          </a:solidFill>
          <a:ln w="12700">
            <a:solidFill>
              <a:srgbClr val="FFFFFF"/>
            </a:solidFill>
            <a:prstDash val="solid"/>
          </a:ln>
        </p:spPr>
      </p:sp>
      <p:sp>
        <p:nvSpPr>
          <p:cNvPr id="27" name="Text 25"/>
          <p:cNvSpPr/>
          <p:nvPr/>
        </p:nvSpPr>
        <p:spPr>
          <a:xfrm>
            <a:off x="3108960" y="3182112"/>
            <a:ext cx="210312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Semaine 1</a:t>
            </a:r>
            <a:endParaRPr lang="en-US" sz="1050" dirty="0"/>
          </a:p>
        </p:txBody>
      </p:sp>
      <p:sp>
        <p:nvSpPr>
          <p:cNvPr id="28" name="Shape 26"/>
          <p:cNvSpPr/>
          <p:nvPr/>
        </p:nvSpPr>
        <p:spPr>
          <a:xfrm>
            <a:off x="5212080" y="3182112"/>
            <a:ext cx="2103120" cy="365760"/>
          </a:xfrm>
          <a:prstGeom prst="rect">
            <a:avLst/>
          </a:prstGeom>
          <a:solidFill>
            <a:srgbClr val="1A3C29"/>
          </a:solidFill>
          <a:ln w="12700">
            <a:solidFill>
              <a:srgbClr val="FFFFFF"/>
            </a:solidFill>
            <a:prstDash val="solid"/>
          </a:ln>
        </p:spPr>
      </p:sp>
      <p:sp>
        <p:nvSpPr>
          <p:cNvPr id="29" name="Text 27"/>
          <p:cNvSpPr/>
          <p:nvPr/>
        </p:nvSpPr>
        <p:spPr>
          <a:xfrm>
            <a:off x="5212080" y="3182112"/>
            <a:ext cx="210312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Semaine 2</a:t>
            </a:r>
            <a:endParaRPr lang="en-US" sz="1050" dirty="0"/>
          </a:p>
        </p:txBody>
      </p:sp>
      <p:sp>
        <p:nvSpPr>
          <p:cNvPr id="30" name="Shape 28"/>
          <p:cNvSpPr/>
          <p:nvPr/>
        </p:nvSpPr>
        <p:spPr>
          <a:xfrm>
            <a:off x="7315200" y="3182112"/>
            <a:ext cx="2103120" cy="365760"/>
          </a:xfrm>
          <a:prstGeom prst="rect">
            <a:avLst/>
          </a:prstGeom>
          <a:solidFill>
            <a:srgbClr val="1A3C29"/>
          </a:solidFill>
          <a:ln w="12700">
            <a:solidFill>
              <a:srgbClr val="FFFFFF"/>
            </a:solidFill>
            <a:prstDash val="solid"/>
          </a:ln>
        </p:spPr>
      </p:sp>
      <p:sp>
        <p:nvSpPr>
          <p:cNvPr id="31" name="Text 29"/>
          <p:cNvSpPr/>
          <p:nvPr/>
        </p:nvSpPr>
        <p:spPr>
          <a:xfrm>
            <a:off x="7315200" y="3182112"/>
            <a:ext cx="210312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Semaine 3</a:t>
            </a:r>
            <a:endParaRPr lang="en-US" sz="1050" dirty="0"/>
          </a:p>
        </p:txBody>
      </p:sp>
      <p:sp>
        <p:nvSpPr>
          <p:cNvPr id="32" name="Shape 30"/>
          <p:cNvSpPr/>
          <p:nvPr/>
        </p:nvSpPr>
        <p:spPr>
          <a:xfrm>
            <a:off x="9418320" y="3182112"/>
            <a:ext cx="2103120" cy="365760"/>
          </a:xfrm>
          <a:prstGeom prst="rect">
            <a:avLst/>
          </a:prstGeom>
          <a:solidFill>
            <a:srgbClr val="1A3C29"/>
          </a:solidFill>
          <a:ln w="12700">
            <a:solidFill>
              <a:srgbClr val="FFFFFF"/>
            </a:solidFill>
            <a:prstDash val="solid"/>
          </a:ln>
        </p:spPr>
      </p:sp>
      <p:sp>
        <p:nvSpPr>
          <p:cNvPr id="33" name="Text 31"/>
          <p:cNvSpPr/>
          <p:nvPr/>
        </p:nvSpPr>
        <p:spPr>
          <a:xfrm>
            <a:off x="9418320" y="3182112"/>
            <a:ext cx="210312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Semaine 4</a:t>
            </a:r>
            <a:endParaRPr lang="en-US" sz="1050" dirty="0"/>
          </a:p>
        </p:txBody>
      </p:sp>
      <p:sp>
        <p:nvSpPr>
          <p:cNvPr id="34" name="Shape 32"/>
          <p:cNvSpPr/>
          <p:nvPr/>
        </p:nvSpPr>
        <p:spPr>
          <a:xfrm>
            <a:off x="640080" y="3566160"/>
            <a:ext cx="10881360" cy="365760"/>
          </a:xfrm>
          <a:prstGeom prst="rect">
            <a:avLst/>
          </a:prstGeom>
          <a:solidFill>
            <a:srgbClr val="FFFFFF"/>
          </a:solidFill>
          <a:ln w="12700">
            <a:solidFill>
              <a:srgbClr val="E3DCD1"/>
            </a:solidFill>
            <a:prstDash val="solid"/>
          </a:ln>
        </p:spPr>
      </p:sp>
      <p:sp>
        <p:nvSpPr>
          <p:cNvPr id="35" name="Text 33"/>
          <p:cNvSpPr/>
          <p:nvPr/>
        </p:nvSpPr>
        <p:spPr>
          <a:xfrm>
            <a:off x="777240" y="3566160"/>
            <a:ext cx="2240280" cy="365760"/>
          </a:xfrm>
          <a:prstGeom prst="rect">
            <a:avLst/>
          </a:prstGeom>
          <a:noFill/>
          <a:ln/>
        </p:spPr>
        <p:txBody>
          <a:bodyPr wrap="square" lIns="0" tIns="0" rIns="0" bIns="0" rtlCol="0" anchor="ctr"/>
          <a:lstStyle/>
          <a:p>
            <a:pPr indent="0" marL="0">
              <a:buNone/>
            </a:pPr>
            <a:r>
              <a:rPr lang="en-US" sz="1000" b="1" dirty="0">
                <a:solidFill>
                  <a:srgbClr val="1A3C29"/>
                </a:solidFill>
                <a:latin typeface="Calibri" pitchFamily="34" charset="0"/>
                <a:ea typeface="Calibri" pitchFamily="34" charset="-122"/>
                <a:cs typeface="Calibri" pitchFamily="34" charset="-120"/>
              </a:rPr>
              <a:t>Cadrage &amp; environnement</a:t>
            </a:r>
            <a:endParaRPr lang="en-US" sz="1000" dirty="0"/>
          </a:p>
        </p:txBody>
      </p:sp>
      <p:sp>
        <p:nvSpPr>
          <p:cNvPr id="36" name="Shape 34"/>
          <p:cNvSpPr/>
          <p:nvPr/>
        </p:nvSpPr>
        <p:spPr>
          <a:xfrm>
            <a:off x="3154680" y="3621024"/>
            <a:ext cx="2011680" cy="256032"/>
          </a:xfrm>
          <a:prstGeom prst="roundRect">
            <a:avLst>
              <a:gd name="adj" fmla="val 17857"/>
            </a:avLst>
          </a:prstGeom>
          <a:solidFill>
            <a:srgbClr val="1A3C29"/>
          </a:solidFill>
          <a:ln w="12700">
            <a:solidFill>
              <a:srgbClr val="1A3C29"/>
            </a:solidFill>
            <a:prstDash val="solid"/>
          </a:ln>
        </p:spPr>
      </p:sp>
      <p:sp>
        <p:nvSpPr>
          <p:cNvPr id="37" name="Text 35"/>
          <p:cNvSpPr/>
          <p:nvPr/>
        </p:nvSpPr>
        <p:spPr>
          <a:xfrm>
            <a:off x="3154680" y="3621024"/>
            <a:ext cx="201168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Docker + Compose</a:t>
            </a:r>
            <a:endParaRPr lang="en-US" sz="900" dirty="0"/>
          </a:p>
        </p:txBody>
      </p:sp>
      <p:sp>
        <p:nvSpPr>
          <p:cNvPr id="38" name="Shape 36"/>
          <p:cNvSpPr/>
          <p:nvPr/>
        </p:nvSpPr>
        <p:spPr>
          <a:xfrm>
            <a:off x="640080" y="3950208"/>
            <a:ext cx="10881360" cy="365760"/>
          </a:xfrm>
          <a:prstGeom prst="rect">
            <a:avLst/>
          </a:prstGeom>
          <a:solidFill>
            <a:srgbClr val="E8F1EA"/>
          </a:solidFill>
          <a:ln w="12700">
            <a:solidFill>
              <a:srgbClr val="E3DCD1"/>
            </a:solidFill>
            <a:prstDash val="solid"/>
          </a:ln>
        </p:spPr>
      </p:sp>
      <p:sp>
        <p:nvSpPr>
          <p:cNvPr id="39" name="Text 37"/>
          <p:cNvSpPr/>
          <p:nvPr/>
        </p:nvSpPr>
        <p:spPr>
          <a:xfrm>
            <a:off x="777240" y="3950208"/>
            <a:ext cx="2240280" cy="365760"/>
          </a:xfrm>
          <a:prstGeom prst="rect">
            <a:avLst/>
          </a:prstGeom>
          <a:noFill/>
          <a:ln/>
        </p:spPr>
        <p:txBody>
          <a:bodyPr wrap="square" lIns="0" tIns="0" rIns="0" bIns="0" rtlCol="0" anchor="ctr"/>
          <a:lstStyle/>
          <a:p>
            <a:pPr indent="0" marL="0">
              <a:buNone/>
            </a:pPr>
            <a:r>
              <a:rPr lang="en-US" sz="1000" b="1" dirty="0">
                <a:solidFill>
                  <a:srgbClr val="1A3C29"/>
                </a:solidFill>
                <a:latin typeface="Calibri" pitchFamily="34" charset="0"/>
                <a:ea typeface="Calibri" pitchFamily="34" charset="-122"/>
                <a:cs typeface="Calibri" pitchFamily="34" charset="-120"/>
              </a:rPr>
              <a:t>Versioning &amp; CI/CD</a:t>
            </a:r>
            <a:endParaRPr lang="en-US" sz="1000" dirty="0"/>
          </a:p>
        </p:txBody>
      </p:sp>
      <p:sp>
        <p:nvSpPr>
          <p:cNvPr id="40" name="Shape 38"/>
          <p:cNvSpPr/>
          <p:nvPr/>
        </p:nvSpPr>
        <p:spPr>
          <a:xfrm>
            <a:off x="3154680" y="4005072"/>
            <a:ext cx="4114800" cy="256032"/>
          </a:xfrm>
          <a:prstGeom prst="roundRect">
            <a:avLst>
              <a:gd name="adj" fmla="val 17857"/>
            </a:avLst>
          </a:prstGeom>
          <a:solidFill>
            <a:srgbClr val="296E4A"/>
          </a:solidFill>
          <a:ln w="12700">
            <a:solidFill>
              <a:srgbClr val="296E4A"/>
            </a:solidFill>
            <a:prstDash val="solid"/>
          </a:ln>
        </p:spPr>
      </p:sp>
      <p:sp>
        <p:nvSpPr>
          <p:cNvPr id="41" name="Text 39"/>
          <p:cNvSpPr/>
          <p:nvPr/>
        </p:nvSpPr>
        <p:spPr>
          <a:xfrm>
            <a:off x="3154680" y="4005072"/>
            <a:ext cx="411480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Git + GitHub Actions</a:t>
            </a:r>
            <a:endParaRPr lang="en-US" sz="900" dirty="0"/>
          </a:p>
        </p:txBody>
      </p:sp>
      <p:sp>
        <p:nvSpPr>
          <p:cNvPr id="42" name="Shape 40"/>
          <p:cNvSpPr/>
          <p:nvPr/>
        </p:nvSpPr>
        <p:spPr>
          <a:xfrm>
            <a:off x="640080" y="4334256"/>
            <a:ext cx="10881360" cy="365760"/>
          </a:xfrm>
          <a:prstGeom prst="rect">
            <a:avLst/>
          </a:prstGeom>
          <a:solidFill>
            <a:srgbClr val="FFFFFF"/>
          </a:solidFill>
          <a:ln w="12700">
            <a:solidFill>
              <a:srgbClr val="E3DCD1"/>
            </a:solidFill>
            <a:prstDash val="solid"/>
          </a:ln>
        </p:spPr>
      </p:sp>
      <p:sp>
        <p:nvSpPr>
          <p:cNvPr id="43" name="Text 41"/>
          <p:cNvSpPr/>
          <p:nvPr/>
        </p:nvSpPr>
        <p:spPr>
          <a:xfrm>
            <a:off x="777240" y="4334256"/>
            <a:ext cx="2240280" cy="365760"/>
          </a:xfrm>
          <a:prstGeom prst="rect">
            <a:avLst/>
          </a:prstGeom>
          <a:noFill/>
          <a:ln/>
        </p:spPr>
        <p:txBody>
          <a:bodyPr wrap="square" lIns="0" tIns="0" rIns="0" bIns="0" rtlCol="0" anchor="ctr"/>
          <a:lstStyle/>
          <a:p>
            <a:pPr indent="0" marL="0">
              <a:buNone/>
            </a:pPr>
            <a:r>
              <a:rPr lang="en-US" sz="1000" b="1" dirty="0">
                <a:solidFill>
                  <a:srgbClr val="1A3C29"/>
                </a:solidFill>
                <a:latin typeface="Calibri" pitchFamily="34" charset="0"/>
                <a:ea typeface="Calibri" pitchFamily="34" charset="-122"/>
                <a:cs typeface="Calibri" pitchFamily="34" charset="-120"/>
              </a:rPr>
              <a:t>Maintenance &amp; ticketing</a:t>
            </a:r>
            <a:endParaRPr lang="en-US" sz="1000" dirty="0"/>
          </a:p>
        </p:txBody>
      </p:sp>
      <p:sp>
        <p:nvSpPr>
          <p:cNvPr id="44" name="Shape 42"/>
          <p:cNvSpPr/>
          <p:nvPr/>
        </p:nvSpPr>
        <p:spPr>
          <a:xfrm>
            <a:off x="5257800" y="4389120"/>
            <a:ext cx="4114800" cy="256032"/>
          </a:xfrm>
          <a:prstGeom prst="roundRect">
            <a:avLst>
              <a:gd name="adj" fmla="val 17857"/>
            </a:avLst>
          </a:prstGeom>
          <a:solidFill>
            <a:srgbClr val="C3612D"/>
          </a:solidFill>
          <a:ln w="12700">
            <a:solidFill>
              <a:srgbClr val="C3612D"/>
            </a:solidFill>
            <a:prstDash val="solid"/>
          </a:ln>
        </p:spPr>
      </p:sp>
      <p:sp>
        <p:nvSpPr>
          <p:cNvPr id="45" name="Text 43"/>
          <p:cNvSpPr/>
          <p:nvPr/>
        </p:nvSpPr>
        <p:spPr>
          <a:xfrm>
            <a:off x="5257800" y="4389120"/>
            <a:ext cx="411480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Jira + SLA contractuels</a:t>
            </a:r>
            <a:endParaRPr lang="en-US" sz="900" dirty="0"/>
          </a:p>
        </p:txBody>
      </p:sp>
      <p:sp>
        <p:nvSpPr>
          <p:cNvPr id="46" name="Shape 44"/>
          <p:cNvSpPr/>
          <p:nvPr/>
        </p:nvSpPr>
        <p:spPr>
          <a:xfrm>
            <a:off x="640080" y="4718304"/>
            <a:ext cx="10881360" cy="365760"/>
          </a:xfrm>
          <a:prstGeom prst="rect">
            <a:avLst/>
          </a:prstGeom>
          <a:solidFill>
            <a:srgbClr val="E8F1EA"/>
          </a:solidFill>
          <a:ln w="12700">
            <a:solidFill>
              <a:srgbClr val="E3DCD1"/>
            </a:solidFill>
            <a:prstDash val="solid"/>
          </a:ln>
        </p:spPr>
      </p:sp>
      <p:sp>
        <p:nvSpPr>
          <p:cNvPr id="47" name="Text 45"/>
          <p:cNvSpPr/>
          <p:nvPr/>
        </p:nvSpPr>
        <p:spPr>
          <a:xfrm>
            <a:off x="777240" y="4718304"/>
            <a:ext cx="2240280" cy="365760"/>
          </a:xfrm>
          <a:prstGeom prst="rect">
            <a:avLst/>
          </a:prstGeom>
          <a:noFill/>
          <a:ln/>
        </p:spPr>
        <p:txBody>
          <a:bodyPr wrap="square" lIns="0" tIns="0" rIns="0" bIns="0" rtlCol="0" anchor="ctr"/>
          <a:lstStyle/>
          <a:p>
            <a:pPr indent="0" marL="0">
              <a:buNone/>
            </a:pPr>
            <a:r>
              <a:rPr lang="en-US" sz="1000" b="1" dirty="0">
                <a:solidFill>
                  <a:srgbClr val="1A3C29"/>
                </a:solidFill>
                <a:latin typeface="Calibri" pitchFamily="34" charset="0"/>
                <a:ea typeface="Calibri" pitchFamily="34" charset="-122"/>
                <a:cs typeface="Calibri" pitchFamily="34" charset="-120"/>
              </a:rPr>
              <a:t>Sécurisation &amp; RGPD</a:t>
            </a:r>
            <a:endParaRPr lang="en-US" sz="1000" dirty="0"/>
          </a:p>
        </p:txBody>
      </p:sp>
      <p:sp>
        <p:nvSpPr>
          <p:cNvPr id="48" name="Shape 46"/>
          <p:cNvSpPr/>
          <p:nvPr/>
        </p:nvSpPr>
        <p:spPr>
          <a:xfrm>
            <a:off x="7360920" y="4773168"/>
            <a:ext cx="4114800" cy="256032"/>
          </a:xfrm>
          <a:prstGeom prst="roundRect">
            <a:avLst>
              <a:gd name="adj" fmla="val 17857"/>
            </a:avLst>
          </a:prstGeom>
          <a:solidFill>
            <a:srgbClr val="1A3C29"/>
          </a:solidFill>
          <a:ln w="12700">
            <a:solidFill>
              <a:srgbClr val="1A3C29"/>
            </a:solidFill>
            <a:prstDash val="solid"/>
          </a:ln>
        </p:spPr>
      </p:sp>
      <p:sp>
        <p:nvSpPr>
          <p:cNvPr id="49" name="Text 47"/>
          <p:cNvSpPr/>
          <p:nvPr/>
        </p:nvSpPr>
        <p:spPr>
          <a:xfrm>
            <a:off x="7360920" y="4773168"/>
            <a:ext cx="411480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Durcissement + analyse des risques</a:t>
            </a:r>
            <a:endParaRPr lang="en-US" sz="900" dirty="0"/>
          </a:p>
        </p:txBody>
      </p:sp>
      <p:sp>
        <p:nvSpPr>
          <p:cNvPr id="50" name="Shape 48"/>
          <p:cNvSpPr/>
          <p:nvPr/>
        </p:nvSpPr>
        <p:spPr>
          <a:xfrm>
            <a:off x="640080" y="5102352"/>
            <a:ext cx="10881360" cy="365760"/>
          </a:xfrm>
          <a:prstGeom prst="rect">
            <a:avLst/>
          </a:prstGeom>
          <a:solidFill>
            <a:srgbClr val="FFFFFF"/>
          </a:solidFill>
          <a:ln w="12700">
            <a:solidFill>
              <a:srgbClr val="E3DCD1"/>
            </a:solidFill>
            <a:prstDash val="solid"/>
          </a:ln>
        </p:spPr>
      </p:sp>
      <p:sp>
        <p:nvSpPr>
          <p:cNvPr id="51" name="Text 49"/>
          <p:cNvSpPr/>
          <p:nvPr/>
        </p:nvSpPr>
        <p:spPr>
          <a:xfrm>
            <a:off x="777240" y="5102352"/>
            <a:ext cx="2240280" cy="365760"/>
          </a:xfrm>
          <a:prstGeom prst="rect">
            <a:avLst/>
          </a:prstGeom>
          <a:noFill/>
          <a:ln/>
        </p:spPr>
        <p:txBody>
          <a:bodyPr wrap="square" lIns="0" tIns="0" rIns="0" bIns="0" rtlCol="0" anchor="ctr"/>
          <a:lstStyle/>
          <a:p>
            <a:pPr indent="0" marL="0">
              <a:buNone/>
            </a:pPr>
            <a:r>
              <a:rPr lang="en-US" sz="1000" b="1" dirty="0">
                <a:solidFill>
                  <a:srgbClr val="1A3C29"/>
                </a:solidFill>
                <a:latin typeface="Calibri" pitchFamily="34" charset="0"/>
                <a:ea typeface="Calibri" pitchFamily="34" charset="-122"/>
                <a:cs typeface="Calibri" pitchFamily="34" charset="-120"/>
              </a:rPr>
              <a:t>Livrables &amp; recette</a:t>
            </a:r>
            <a:endParaRPr lang="en-US" sz="1000" dirty="0"/>
          </a:p>
        </p:txBody>
      </p:sp>
      <p:sp>
        <p:nvSpPr>
          <p:cNvPr id="52" name="Shape 50"/>
          <p:cNvSpPr/>
          <p:nvPr/>
        </p:nvSpPr>
        <p:spPr>
          <a:xfrm>
            <a:off x="9464040" y="5157216"/>
            <a:ext cx="2011680" cy="256032"/>
          </a:xfrm>
          <a:prstGeom prst="roundRect">
            <a:avLst>
              <a:gd name="adj" fmla="val 17857"/>
            </a:avLst>
          </a:prstGeom>
          <a:solidFill>
            <a:srgbClr val="1F4E79"/>
          </a:solidFill>
          <a:ln w="12700">
            <a:solidFill>
              <a:srgbClr val="1F4E79"/>
            </a:solidFill>
            <a:prstDash val="solid"/>
          </a:ln>
        </p:spPr>
      </p:sp>
      <p:sp>
        <p:nvSpPr>
          <p:cNvPr id="53" name="Text 51"/>
          <p:cNvSpPr/>
          <p:nvPr/>
        </p:nvSpPr>
        <p:spPr>
          <a:xfrm>
            <a:off x="9464040" y="5157216"/>
            <a:ext cx="201168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Remise + validation client</a:t>
            </a:r>
            <a:endParaRPr lang="en-US" sz="900" dirty="0"/>
          </a:p>
        </p:txBody>
      </p:sp>
      <p:sp>
        <p:nvSpPr>
          <p:cNvPr id="54" name="Shape 52"/>
          <p:cNvSpPr/>
          <p:nvPr/>
        </p:nvSpPr>
        <p:spPr>
          <a:xfrm>
            <a:off x="11480292" y="3182112"/>
            <a:ext cx="41148" cy="2304288"/>
          </a:xfrm>
          <a:prstGeom prst="rect">
            <a:avLst/>
          </a:prstGeom>
          <a:solidFill>
            <a:srgbClr val="C0392B"/>
          </a:solidFill>
          <a:ln w="12700">
            <a:solidFill>
              <a:srgbClr val="C0392B"/>
            </a:solidFill>
            <a:prstDash val="solid"/>
          </a:ln>
        </p:spPr>
      </p:sp>
      <p:sp>
        <p:nvSpPr>
          <p:cNvPr id="55" name="Shape 53"/>
          <p:cNvSpPr/>
          <p:nvPr/>
        </p:nvSpPr>
        <p:spPr>
          <a:xfrm>
            <a:off x="640080" y="5623560"/>
            <a:ext cx="2583180" cy="548640"/>
          </a:xfrm>
          <a:prstGeom prst="rect">
            <a:avLst/>
          </a:prstGeom>
          <a:solidFill>
            <a:srgbClr val="1A3C29"/>
          </a:solidFill>
          <a:ln w="12700">
            <a:solidFill>
              <a:srgbClr val="1A3C29"/>
            </a:solidFill>
            <a:prstDash val="solid"/>
          </a:ln>
        </p:spPr>
      </p:sp>
      <p:sp>
        <p:nvSpPr>
          <p:cNvPr id="56" name="Text 54"/>
          <p:cNvSpPr/>
          <p:nvPr/>
        </p:nvSpPr>
        <p:spPr>
          <a:xfrm>
            <a:off x="640080" y="5623560"/>
            <a:ext cx="258318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 mois de prestation</a:t>
            </a:r>
            <a:endParaRPr lang="en-US" sz="1200" dirty="0"/>
          </a:p>
        </p:txBody>
      </p:sp>
      <p:sp>
        <p:nvSpPr>
          <p:cNvPr id="57" name="Shape 55"/>
          <p:cNvSpPr/>
          <p:nvPr/>
        </p:nvSpPr>
        <p:spPr>
          <a:xfrm>
            <a:off x="3406140" y="5623560"/>
            <a:ext cx="2583180" cy="548640"/>
          </a:xfrm>
          <a:prstGeom prst="rect">
            <a:avLst/>
          </a:prstGeom>
          <a:solidFill>
            <a:srgbClr val="C3612D"/>
          </a:solidFill>
          <a:ln w="12700">
            <a:solidFill>
              <a:srgbClr val="C3612D"/>
            </a:solidFill>
            <a:prstDash val="solid"/>
          </a:ln>
        </p:spPr>
      </p:sp>
      <p:sp>
        <p:nvSpPr>
          <p:cNvPr id="58" name="Text 56"/>
          <p:cNvSpPr/>
          <p:nvPr/>
        </p:nvSpPr>
        <p:spPr>
          <a:xfrm>
            <a:off x="3406140" y="5623560"/>
            <a:ext cx="258318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 livrables</a:t>
            </a:r>
            <a:endParaRPr lang="en-US" sz="1200" dirty="0"/>
          </a:p>
        </p:txBody>
      </p:sp>
      <p:sp>
        <p:nvSpPr>
          <p:cNvPr id="59" name="Shape 57"/>
          <p:cNvSpPr/>
          <p:nvPr/>
        </p:nvSpPr>
        <p:spPr>
          <a:xfrm>
            <a:off x="6172200" y="5623560"/>
            <a:ext cx="2583180" cy="548640"/>
          </a:xfrm>
          <a:prstGeom prst="rect">
            <a:avLst/>
          </a:prstGeom>
          <a:solidFill>
            <a:srgbClr val="296E4A"/>
          </a:solidFill>
          <a:ln w="12700">
            <a:solidFill>
              <a:srgbClr val="296E4A"/>
            </a:solidFill>
            <a:prstDash val="solid"/>
          </a:ln>
        </p:spPr>
      </p:sp>
      <p:sp>
        <p:nvSpPr>
          <p:cNvPr id="60" name="Text 58"/>
          <p:cNvSpPr/>
          <p:nvPr/>
        </p:nvSpPr>
        <p:spPr>
          <a:xfrm>
            <a:off x="6172200" y="5623560"/>
            <a:ext cx="258318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43 tests automatisés</a:t>
            </a:r>
            <a:endParaRPr lang="en-US" sz="1200" dirty="0"/>
          </a:p>
        </p:txBody>
      </p:sp>
      <p:sp>
        <p:nvSpPr>
          <p:cNvPr id="61" name="Shape 59"/>
          <p:cNvSpPr/>
          <p:nvPr/>
        </p:nvSpPr>
        <p:spPr>
          <a:xfrm>
            <a:off x="8938260" y="5623560"/>
            <a:ext cx="2583180" cy="548640"/>
          </a:xfrm>
          <a:prstGeom prst="rect">
            <a:avLst/>
          </a:prstGeom>
          <a:solidFill>
            <a:srgbClr val="1F4E79"/>
          </a:solidFill>
          <a:ln w="12700">
            <a:solidFill>
              <a:srgbClr val="1F4E79"/>
            </a:solidFill>
            <a:prstDash val="solid"/>
          </a:ln>
        </p:spPr>
      </p:sp>
      <p:sp>
        <p:nvSpPr>
          <p:cNvPr id="62" name="Text 60"/>
          <p:cNvSpPr/>
          <p:nvPr/>
        </p:nvSpPr>
        <p:spPr>
          <a:xfrm>
            <a:off x="8938260" y="5623560"/>
            <a:ext cx="258318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 vulnérabilité</a:t>
            </a:r>
            <a:endParaRPr lang="en-US" sz="1200" dirty="0"/>
          </a:p>
        </p:txBody>
      </p:sp>
      <p:sp>
        <p:nvSpPr>
          <p:cNvPr id="63" name="Shape 61"/>
          <p:cNvSpPr/>
          <p:nvPr/>
        </p:nvSpPr>
        <p:spPr>
          <a:xfrm>
            <a:off x="0" y="6355080"/>
            <a:ext cx="12188952" cy="502920"/>
          </a:xfrm>
          <a:prstGeom prst="rect">
            <a:avLst/>
          </a:prstGeom>
          <a:solidFill>
            <a:srgbClr val="1A3C29"/>
          </a:solidFill>
          <a:ln w="12700">
            <a:solidFill>
              <a:srgbClr val="1A3C29"/>
            </a:solidFill>
            <a:prstDash val="solid"/>
          </a:ln>
        </p:spPr>
      </p:sp>
      <p:sp>
        <p:nvSpPr>
          <p:cNvPr id="64" name="Text 62"/>
          <p:cNvSpPr/>
          <p:nvPr/>
        </p:nvSpPr>
        <p:spPr>
          <a:xfrm>
            <a:off x="502920" y="6382512"/>
            <a:ext cx="4572000" cy="237744"/>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RENOIR&amp;ALINE</a:t>
            </a:r>
            <a:endParaRPr lang="en-US" sz="1000" dirty="0"/>
          </a:p>
        </p:txBody>
      </p:sp>
      <p:sp>
        <p:nvSpPr>
          <p:cNvPr id="65" name="Text 63"/>
          <p:cNvSpPr/>
          <p:nvPr/>
        </p:nvSpPr>
        <p:spPr>
          <a:xfrm>
            <a:off x="502920" y="6601968"/>
            <a:ext cx="4572000" cy="182880"/>
          </a:xfrm>
          <a:prstGeom prst="rect">
            <a:avLst/>
          </a:prstGeom>
          <a:noFill/>
          <a:ln/>
        </p:spPr>
        <p:txBody>
          <a:bodyPr wrap="square" lIns="0" tIns="0" rIns="0" bIns="0" rtlCol="0" anchor="ctr"/>
          <a:lstStyle/>
          <a:p>
            <a:pPr indent="0" marL="0">
              <a:buNone/>
            </a:pPr>
            <a:r>
              <a:rPr lang="en-US" sz="700" spc="200" kern="0" dirty="0">
                <a:solidFill>
                  <a:srgbClr val="8AA595"/>
                </a:solidFill>
                <a:latin typeface="Calibri" pitchFamily="34" charset="0"/>
                <a:ea typeface="Calibri" pitchFamily="34" charset="-122"/>
                <a:cs typeface="Calibri" pitchFamily="34" charset="-120"/>
              </a:rPr>
              <a:t>CONSTRUCTEUR DE SITE WEB</a:t>
            </a:r>
            <a:endParaRPr lang="en-US" sz="700" dirty="0"/>
          </a:p>
        </p:txBody>
      </p:sp>
      <p:sp>
        <p:nvSpPr>
          <p:cNvPr id="66" name="Text 64"/>
          <p:cNvSpPr/>
          <p:nvPr/>
        </p:nvSpPr>
        <p:spPr>
          <a:xfrm>
            <a:off x="10241280" y="6419088"/>
            <a:ext cx="1417320" cy="365760"/>
          </a:xfrm>
          <a:prstGeom prst="rect">
            <a:avLst/>
          </a:prstGeom>
          <a:noFill/>
          <a:ln/>
        </p:spPr>
        <p:txBody>
          <a:bodyPr wrap="square" lIns="0" tIns="0" rIns="0" bIns="0" rtlCol="0" anchor="ctr"/>
          <a:lstStyle/>
          <a:p>
            <a:pPr algn="r" indent="0" marL="0">
              <a:buNone/>
            </a:pPr>
            <a:r>
              <a:rPr lang="en-US" sz="1000" b="1" dirty="0">
                <a:solidFill>
                  <a:srgbClr val="FFFFFF"/>
                </a:solidFill>
                <a:latin typeface="Calibri" pitchFamily="34" charset="0"/>
                <a:ea typeface="Calibri" pitchFamily="34" charset="-122"/>
                <a:cs typeface="Calibri" pitchFamily="34" charset="-120"/>
              </a:rPr>
              <a:t>Page 17/21</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Budget detaille">
    <p:bg>
      <p:bgPr>
        <a:solidFill>
          <a:srgbClr val="F1ECE6"/>
        </a:solidFill>
      </p:bgPr>
    </p:bg>
    <p:spTree>
      <p:nvGrpSpPr>
        <p:cNvPr id="1" name=""/>
        <p:cNvGrpSpPr/>
        <p:nvPr/>
      </p:nvGrpSpPr>
      <p:grpSpPr>
        <a:xfrm>
          <a:off x="0" y="0"/>
          <a:ext cx="0" cy="0"/>
          <a:chOff x="0" y="0"/>
          <a:chExt cx="0" cy="0"/>
        </a:xfrm>
      </p:grpSpPr>
      <p:sp>
        <p:nvSpPr>
          <p:cNvPr id="2" name="Text 2"/>
          <p:cNvSpPr/>
          <p:nvPr/>
        </p:nvSpPr>
        <p:spPr>
          <a:xfrm>
            <a:off x="640080" y="384048"/>
            <a:ext cx="10881360" cy="292608"/>
          </a:xfrm>
          <a:prstGeom prst="rect">
            <a:avLst/>
          </a:prstGeom>
          <a:noFill/>
          <a:ln/>
        </p:spPr>
        <p:txBody>
          <a:bodyPr wrap="square" lIns="0" tIns="0" rIns="0" bIns="0" rtlCol="0" anchor="ctr"/>
          <a:lstStyle/>
          <a:p>
            <a:pPr algn="l" indent="0" marL="0">
              <a:buNone/>
            </a:pPr>
            <a:r>
              <a:rPr lang="fr-FR" sz="1300" b="1" dirty="0">
                <a:solidFill>
                  <a:srgbClr val="C3612D"/>
                </a:solidFill>
                <a:latin typeface="Calibri" pitchFamily="34" charset="0"/>
                <a:ea typeface="Calibri" pitchFamily="34" charset="-122"/>
                <a:cs typeface="Calibri" pitchFamily="34" charset="-120"/>
              </a:rPr>
              <a:t>Gestion de projet</a:t>
            </a:r>
            <a:endParaRPr lang="fr-FR" sz="1300" dirty="0"/>
          </a:p>
        </p:txBody>
      </p:sp>
      <p:sp>
        <p:nvSpPr>
          <p:cNvPr id="3" name="Text 3"/>
          <p:cNvSpPr/>
          <p:nvPr/>
        </p:nvSpPr>
        <p:spPr>
          <a:xfrm>
            <a:off x="640080" y="713232"/>
            <a:ext cx="10881360" cy="822960"/>
          </a:xfrm>
          <a:prstGeom prst="rect">
            <a:avLst/>
          </a:prstGeom>
          <a:noFill/>
          <a:ln/>
        </p:spPr>
        <p:txBody>
          <a:bodyPr wrap="square" lIns="0" tIns="0" rIns="0" bIns="0" rtlCol="0" anchor="ctr"/>
          <a:lstStyle/>
          <a:p>
            <a:pPr algn="l" indent="0" marL="0">
              <a:buNone/>
            </a:pPr>
            <a:r>
              <a:rPr lang="fr-FR" sz="3400" b="1" dirty="0">
                <a:solidFill>
                  <a:srgbClr val="1A3C29"/>
                </a:solidFill>
                <a:latin typeface="Calibri" pitchFamily="34" charset="0"/>
                <a:ea typeface="Calibri" pitchFamily="34" charset="-122"/>
                <a:cs typeface="Calibri" pitchFamily="34" charset="-120"/>
              </a:rPr>
              <a:t>Budget — où passent les 70 000 €</a:t>
            </a:r>
            <a:endParaRPr lang="fr-FR" sz="3400" dirty="0"/>
          </a:p>
        </p:txBody>
      </p:sp>
      <p:sp>
        <p:nvSpPr>
          <p:cNvPr id="4" name="Text 4"/>
          <p:cNvSpPr/>
          <p:nvPr/>
        </p:nvSpPr>
        <p:spPr>
          <a:xfrm>
            <a:off x="640080" y="1481328"/>
            <a:ext cx="10881360" cy="274320"/>
          </a:xfrm>
          <a:prstGeom prst="rect">
            <a:avLst/>
          </a:prstGeom>
          <a:noFill/>
          <a:ln/>
        </p:spPr>
        <p:txBody>
          <a:bodyPr wrap="square" lIns="0" tIns="0" rIns="0" bIns="0" rtlCol="0" anchor="ctr"/>
          <a:lstStyle/>
          <a:p>
            <a:pPr algn="l" indent="0" marL="0">
              <a:buNone/>
            </a:pPr>
            <a:r>
              <a:rPr lang="fr-FR" sz="1200" i="1" dirty="0">
                <a:solidFill>
                  <a:srgbClr val="5F5F5F"/>
                </a:solidFill>
                <a:latin typeface="Calibri" pitchFamily="34" charset="0"/>
                <a:ea typeface="Calibri" pitchFamily="34" charset="-122"/>
                <a:cs typeface="Calibri" pitchFamily="34" charset="-120"/>
              </a:rPr>
              <a:t>142 jours-hommes sur l'ensemble du projet · TJM moyen 493 €</a:t>
            </a:r>
            <a:endParaRPr lang="fr-FR" sz="1200" dirty="0"/>
          </a:p>
        </p:txBody>
      </p:sp>
      <p:sp>
        <p:nvSpPr>
          <p:cNvPr id="5" name="Shape 5"/>
          <p:cNvSpPr/>
          <p:nvPr/>
        </p:nvSpPr>
        <p:spPr>
          <a:xfrm>
            <a:off x="640080" y="1874520"/>
            <a:ext cx="7589520" cy="4297680"/>
          </a:xfrm>
          <a:prstGeom prst="roundRect">
            <a:avLst>
              <a:gd name="adj" fmla="val 2727"/>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6" name="Text 6"/>
          <p:cNvSpPr/>
          <p:nvPr/>
        </p:nvSpPr>
        <p:spPr>
          <a:xfrm>
            <a:off x="914400" y="2011680"/>
            <a:ext cx="3886200" cy="274320"/>
          </a:xfrm>
          <a:prstGeom prst="rect">
            <a:avLst/>
          </a:prstGeom>
          <a:noFill/>
          <a:ln/>
        </p:spPr>
        <p:txBody>
          <a:bodyPr wrap="square" lIns="0" tIns="0" rIns="0" bIns="0" rtlCol="0" anchor="ctr"/>
          <a:lstStyle/>
          <a:p>
            <a:pPr algn="l" indent="0" marL="0">
              <a:buNone/>
            </a:pPr>
            <a:r>
              <a:rPr lang="fr-FR" sz="900" b="1" dirty="0">
                <a:solidFill>
                  <a:srgbClr val="C3612D"/>
                </a:solidFill>
                <a:latin typeface="Calibri" pitchFamily="34" charset="0"/>
                <a:ea typeface="Calibri" pitchFamily="34" charset="-122"/>
                <a:cs typeface="Calibri" pitchFamily="34" charset="-120"/>
              </a:rPr>
              <a:t>PHASE</a:t>
            </a:r>
            <a:endParaRPr lang="fr-FR" sz="900" dirty="0"/>
          </a:p>
        </p:txBody>
      </p:sp>
      <p:sp>
        <p:nvSpPr>
          <p:cNvPr id="7" name="Text 7"/>
          <p:cNvSpPr/>
          <p:nvPr/>
        </p:nvSpPr>
        <p:spPr>
          <a:xfrm>
            <a:off x="4892040" y="2011680"/>
            <a:ext cx="566928" cy="274320"/>
          </a:xfrm>
          <a:prstGeom prst="rect">
            <a:avLst/>
          </a:prstGeom>
          <a:noFill/>
          <a:ln/>
        </p:spPr>
        <p:txBody>
          <a:bodyPr wrap="square" lIns="0" tIns="0" rIns="0" bIns="0" rtlCol="0" anchor="ctr"/>
          <a:lstStyle/>
          <a:p>
            <a:pPr algn="ctr" indent="0" marL="0">
              <a:buNone/>
            </a:pPr>
            <a:r>
              <a:rPr lang="fr-FR" sz="900" b="1" dirty="0">
                <a:solidFill>
                  <a:srgbClr val="C3612D"/>
                </a:solidFill>
                <a:latin typeface="Calibri" pitchFamily="34" charset="0"/>
                <a:ea typeface="Calibri" pitchFamily="34" charset="-122"/>
                <a:cs typeface="Calibri" pitchFamily="34" charset="-120"/>
              </a:rPr>
              <a:t>PROFIL</a:t>
            </a:r>
            <a:endParaRPr lang="fr-FR" sz="900" dirty="0"/>
          </a:p>
        </p:txBody>
      </p:sp>
      <p:sp>
        <p:nvSpPr>
          <p:cNvPr id="8" name="Text 8"/>
          <p:cNvSpPr/>
          <p:nvPr/>
        </p:nvSpPr>
        <p:spPr>
          <a:xfrm>
            <a:off x="5532120" y="2011680"/>
            <a:ext cx="548640" cy="274320"/>
          </a:xfrm>
          <a:prstGeom prst="rect">
            <a:avLst/>
          </a:prstGeom>
          <a:noFill/>
          <a:ln/>
        </p:spPr>
        <p:txBody>
          <a:bodyPr wrap="square" lIns="0" tIns="0" rIns="0" bIns="0" rtlCol="0" anchor="ctr"/>
          <a:lstStyle/>
          <a:p>
            <a:pPr algn="r" indent="0" marL="0">
              <a:buNone/>
            </a:pPr>
            <a:r>
              <a:rPr lang="fr-FR" sz="900" b="1" dirty="0">
                <a:solidFill>
                  <a:srgbClr val="C3612D"/>
                </a:solidFill>
                <a:latin typeface="Calibri" pitchFamily="34" charset="0"/>
                <a:ea typeface="Calibri" pitchFamily="34" charset="-122"/>
                <a:cs typeface="Calibri" pitchFamily="34" charset="-120"/>
              </a:rPr>
              <a:t>J/H</a:t>
            </a:r>
            <a:endParaRPr lang="fr-FR" sz="900" dirty="0"/>
          </a:p>
        </p:txBody>
      </p:sp>
      <p:sp>
        <p:nvSpPr>
          <p:cNvPr id="9" name="Text 9"/>
          <p:cNvSpPr/>
          <p:nvPr/>
        </p:nvSpPr>
        <p:spPr>
          <a:xfrm>
            <a:off x="6263640" y="2011680"/>
            <a:ext cx="685800" cy="274320"/>
          </a:xfrm>
          <a:prstGeom prst="rect">
            <a:avLst/>
          </a:prstGeom>
          <a:noFill/>
          <a:ln/>
        </p:spPr>
        <p:txBody>
          <a:bodyPr wrap="square" lIns="0" tIns="0" rIns="0" bIns="0" rtlCol="0" anchor="ctr"/>
          <a:lstStyle/>
          <a:p>
            <a:pPr algn="r" indent="0" marL="0">
              <a:buNone/>
            </a:pPr>
            <a:r>
              <a:rPr lang="fr-FR" sz="900" b="1" dirty="0">
                <a:solidFill>
                  <a:srgbClr val="C3612D"/>
                </a:solidFill>
                <a:latin typeface="Calibri" pitchFamily="34" charset="0"/>
                <a:ea typeface="Calibri" pitchFamily="34" charset="-122"/>
                <a:cs typeface="Calibri" pitchFamily="34" charset="-120"/>
              </a:rPr>
              <a:t>TJM</a:t>
            </a:r>
            <a:endParaRPr lang="fr-FR" sz="900" dirty="0"/>
          </a:p>
        </p:txBody>
      </p:sp>
      <p:sp>
        <p:nvSpPr>
          <p:cNvPr id="10" name="Text 10"/>
          <p:cNvSpPr/>
          <p:nvPr/>
        </p:nvSpPr>
        <p:spPr>
          <a:xfrm>
            <a:off x="7040880" y="2011680"/>
            <a:ext cx="914400" cy="274320"/>
          </a:xfrm>
          <a:prstGeom prst="rect">
            <a:avLst/>
          </a:prstGeom>
          <a:noFill/>
          <a:ln/>
        </p:spPr>
        <p:txBody>
          <a:bodyPr wrap="square" lIns="0" tIns="0" rIns="0" bIns="0" rtlCol="0" anchor="ctr"/>
          <a:lstStyle/>
          <a:p>
            <a:pPr algn="r" indent="0" marL="0">
              <a:buNone/>
            </a:pPr>
            <a:r>
              <a:rPr lang="fr-FR" sz="900" b="1" dirty="0">
                <a:solidFill>
                  <a:srgbClr val="C3612D"/>
                </a:solidFill>
                <a:latin typeface="Calibri" pitchFamily="34" charset="0"/>
                <a:ea typeface="Calibri" pitchFamily="34" charset="-122"/>
                <a:cs typeface="Calibri" pitchFamily="34" charset="-120"/>
              </a:rPr>
              <a:t>MONTANT</a:t>
            </a:r>
            <a:endParaRPr lang="fr-FR" sz="900" dirty="0"/>
          </a:p>
        </p:txBody>
      </p:sp>
      <p:sp>
        <p:nvSpPr>
          <p:cNvPr id="11" name="Shape 11"/>
          <p:cNvSpPr/>
          <p:nvPr/>
        </p:nvSpPr>
        <p:spPr>
          <a:xfrm>
            <a:off x="914400" y="2295144"/>
            <a:ext cx="7040880" cy="9144"/>
          </a:xfrm>
          <a:prstGeom prst="rect">
            <a:avLst/>
          </a:prstGeom>
          <a:solidFill>
            <a:srgbClr val="E3DCD1"/>
          </a:solidFill>
          <a:ln w="12700">
            <a:solidFill>
              <a:srgbClr val="E3DCD1"/>
            </a:solidFill>
            <a:prstDash val="solid"/>
          </a:ln>
        </p:spPr>
      </p:sp>
      <p:sp>
        <p:nvSpPr>
          <p:cNvPr id="12" name="Text 12"/>
          <p:cNvSpPr/>
          <p:nvPr/>
        </p:nvSpPr>
        <p:spPr>
          <a:xfrm>
            <a:off x="914400" y="2350008"/>
            <a:ext cx="3886200" cy="292608"/>
          </a:xfrm>
          <a:prstGeom prst="rect">
            <a:avLst/>
          </a:prstGeom>
          <a:noFill/>
          <a:ln/>
        </p:spPr>
        <p:txBody>
          <a:bodyPr wrap="square" lIns="0" tIns="0" rIns="0" bIns="0" rtlCol="0" anchor="ctr"/>
          <a:lstStyle/>
          <a:p>
            <a:pPr algn="l" indent="0" marL="0">
              <a:buNone/>
            </a:pPr>
            <a:r>
              <a:rPr lang="fr-FR" sz="950" dirty="0">
                <a:solidFill>
                  <a:srgbClr val="5F5F5F"/>
                </a:solidFill>
                <a:latin typeface="Calibri" pitchFamily="34" charset="0"/>
                <a:ea typeface="Calibri" pitchFamily="34" charset="-122"/>
                <a:cs typeface="Calibri" pitchFamily="34" charset="-120"/>
              </a:rPr>
              <a:t>Cadrage &amp; analyse fonctionnelle</a:t>
            </a:r>
            <a:endParaRPr lang="fr-FR" sz="950" dirty="0"/>
          </a:p>
        </p:txBody>
      </p:sp>
      <p:sp>
        <p:nvSpPr>
          <p:cNvPr id="13" name="Shape 13"/>
          <p:cNvSpPr/>
          <p:nvPr/>
        </p:nvSpPr>
        <p:spPr>
          <a:xfrm>
            <a:off x="4892040" y="2414016"/>
            <a:ext cx="566928" cy="182880"/>
          </a:xfrm>
          <a:prstGeom prst="roundRect">
            <a:avLst>
              <a:gd name="adj" fmla="val 25000"/>
            </a:avLst>
          </a:prstGeom>
          <a:solidFill>
            <a:srgbClr val="C3612D"/>
          </a:solidFill>
          <a:ln w="12700">
            <a:solidFill>
              <a:srgbClr val="C3612D"/>
            </a:solidFill>
            <a:prstDash val="solid"/>
          </a:ln>
        </p:spPr>
      </p:sp>
      <p:sp>
        <p:nvSpPr>
          <p:cNvPr id="14" name="Text 14"/>
          <p:cNvSpPr/>
          <p:nvPr/>
        </p:nvSpPr>
        <p:spPr>
          <a:xfrm>
            <a:off x="4892040" y="2404872"/>
            <a:ext cx="566928" cy="182880"/>
          </a:xfrm>
          <a:prstGeom prst="rect">
            <a:avLst/>
          </a:prstGeom>
          <a:noFill/>
          <a:ln/>
        </p:spPr>
        <p:txBody>
          <a:bodyPr wrap="square" lIns="0" tIns="0" rIns="0" bIns="0" rtlCol="0" anchor="ctr"/>
          <a:lstStyle/>
          <a:p>
            <a:pPr algn="ctr" indent="0" marL="0">
              <a:buNone/>
            </a:pPr>
            <a:r>
              <a:rPr lang="fr-FR" sz="750" b="1" dirty="0">
                <a:solidFill>
                  <a:srgbClr val="FFFFFF"/>
                </a:solidFill>
                <a:latin typeface="Calibri" pitchFamily="34" charset="0"/>
                <a:ea typeface="Calibri" pitchFamily="34" charset="-122"/>
                <a:cs typeface="Calibri" pitchFamily="34" charset="-120"/>
              </a:rPr>
              <a:t>CP</a:t>
            </a:r>
            <a:endParaRPr lang="fr-FR" sz="750" dirty="0"/>
          </a:p>
        </p:txBody>
      </p:sp>
      <p:sp>
        <p:nvSpPr>
          <p:cNvPr id="15" name="Text 15"/>
          <p:cNvSpPr/>
          <p:nvPr/>
        </p:nvSpPr>
        <p:spPr>
          <a:xfrm>
            <a:off x="5532120" y="2350008"/>
            <a:ext cx="548640" cy="292608"/>
          </a:xfrm>
          <a:prstGeom prst="rect">
            <a:avLst/>
          </a:prstGeom>
          <a:noFill/>
          <a:ln/>
        </p:spPr>
        <p:txBody>
          <a:bodyPr wrap="square" lIns="0" tIns="0" rIns="0" bIns="0" rtlCol="0" anchor="ctr"/>
          <a:lstStyle/>
          <a:p>
            <a:pPr algn="r" indent="0" marL="0">
              <a:buNone/>
            </a:pPr>
            <a:r>
              <a:rPr lang="fr-FR" sz="950" b="1" dirty="0">
                <a:solidFill>
                  <a:srgbClr val="1A3C29"/>
                </a:solidFill>
                <a:latin typeface="Calibri" pitchFamily="34" charset="0"/>
                <a:ea typeface="Calibri" pitchFamily="34" charset="-122"/>
                <a:cs typeface="Calibri" pitchFamily="34" charset="-120"/>
              </a:rPr>
              <a:t>10 j</a:t>
            </a:r>
            <a:endParaRPr lang="fr-FR" sz="950" dirty="0"/>
          </a:p>
        </p:txBody>
      </p:sp>
      <p:sp>
        <p:nvSpPr>
          <p:cNvPr id="16" name="Text 16"/>
          <p:cNvSpPr/>
          <p:nvPr/>
        </p:nvSpPr>
        <p:spPr>
          <a:xfrm>
            <a:off x="6263640" y="2350008"/>
            <a:ext cx="685800" cy="292608"/>
          </a:xfrm>
          <a:prstGeom prst="rect">
            <a:avLst/>
          </a:prstGeom>
          <a:noFill/>
          <a:ln/>
        </p:spPr>
        <p:txBody>
          <a:bodyPr wrap="square" lIns="0" tIns="0" rIns="0" bIns="0" rtlCol="0" anchor="ctr"/>
          <a:lstStyle/>
          <a:p>
            <a:pPr algn="r" indent="0" marL="0">
              <a:buNone/>
            </a:pPr>
            <a:r>
              <a:rPr lang="fr-FR" sz="900" dirty="0">
                <a:solidFill>
                  <a:srgbClr val="5F5F5F"/>
                </a:solidFill>
                <a:latin typeface="Calibri" pitchFamily="34" charset="0"/>
                <a:ea typeface="Calibri" pitchFamily="34" charset="-122"/>
                <a:cs typeface="Calibri" pitchFamily="34" charset="-120"/>
              </a:rPr>
              <a:t>650 €</a:t>
            </a:r>
            <a:endParaRPr lang="fr-FR" sz="900" dirty="0"/>
          </a:p>
        </p:txBody>
      </p:sp>
      <p:sp>
        <p:nvSpPr>
          <p:cNvPr id="17" name="Text 17"/>
          <p:cNvSpPr/>
          <p:nvPr/>
        </p:nvSpPr>
        <p:spPr>
          <a:xfrm>
            <a:off x="7040880" y="2350008"/>
            <a:ext cx="914400" cy="292608"/>
          </a:xfrm>
          <a:prstGeom prst="rect">
            <a:avLst/>
          </a:prstGeom>
          <a:noFill/>
          <a:ln/>
        </p:spPr>
        <p:txBody>
          <a:bodyPr wrap="square" lIns="0" tIns="0" rIns="0" bIns="0" rtlCol="0" anchor="ctr"/>
          <a:lstStyle/>
          <a:p>
            <a:pPr algn="r" indent="0" marL="0">
              <a:buNone/>
            </a:pPr>
            <a:r>
              <a:rPr lang="fr-FR" sz="1000" b="1" dirty="0">
                <a:solidFill>
                  <a:srgbClr val="1A3C29"/>
                </a:solidFill>
                <a:latin typeface="Calibri" pitchFamily="34" charset="0"/>
                <a:ea typeface="Calibri" pitchFamily="34" charset="-122"/>
                <a:cs typeface="Calibri" pitchFamily="34" charset="-120"/>
              </a:rPr>
              <a:t>6 500 €</a:t>
            </a:r>
            <a:endParaRPr lang="fr-FR" sz="1000" dirty="0"/>
          </a:p>
        </p:txBody>
      </p:sp>
      <p:sp>
        <p:nvSpPr>
          <p:cNvPr id="18" name="Shape 18"/>
          <p:cNvSpPr/>
          <p:nvPr/>
        </p:nvSpPr>
        <p:spPr>
          <a:xfrm>
            <a:off x="914400" y="2624328"/>
            <a:ext cx="7040880" cy="9144"/>
          </a:xfrm>
          <a:prstGeom prst="rect">
            <a:avLst/>
          </a:prstGeom>
          <a:solidFill>
            <a:srgbClr val="E3DCD1"/>
          </a:solidFill>
          <a:ln w="12700">
            <a:solidFill>
              <a:srgbClr val="E3DCD1"/>
            </a:solidFill>
            <a:prstDash val="solid"/>
          </a:ln>
        </p:spPr>
      </p:sp>
      <p:sp>
        <p:nvSpPr>
          <p:cNvPr id="19" name="Text 19"/>
          <p:cNvSpPr/>
          <p:nvPr/>
        </p:nvSpPr>
        <p:spPr>
          <a:xfrm>
            <a:off x="914400" y="2679192"/>
            <a:ext cx="3886200" cy="292608"/>
          </a:xfrm>
          <a:prstGeom prst="rect">
            <a:avLst/>
          </a:prstGeom>
          <a:noFill/>
          <a:ln/>
        </p:spPr>
        <p:txBody>
          <a:bodyPr wrap="square" lIns="0" tIns="0" rIns="0" bIns="0" rtlCol="0" anchor="ctr"/>
          <a:lstStyle/>
          <a:p>
            <a:pPr algn="l" indent="0" marL="0">
              <a:buNone/>
            </a:pPr>
            <a:r>
              <a:rPr lang="fr-FR" sz="950" dirty="0">
                <a:solidFill>
                  <a:srgbClr val="5F5F5F"/>
                </a:solidFill>
                <a:latin typeface="Calibri" pitchFamily="34" charset="0"/>
                <a:ea typeface="Calibri" pitchFamily="34" charset="-122"/>
                <a:cs typeface="Calibri" pitchFamily="34" charset="-120"/>
              </a:rPr>
              <a:t>Conception technique &amp; maquettes</a:t>
            </a:r>
            <a:endParaRPr lang="fr-FR" sz="950" dirty="0"/>
          </a:p>
        </p:txBody>
      </p:sp>
      <p:sp>
        <p:nvSpPr>
          <p:cNvPr id="20" name="Shape 20"/>
          <p:cNvSpPr/>
          <p:nvPr/>
        </p:nvSpPr>
        <p:spPr>
          <a:xfrm>
            <a:off x="4892040" y="2743200"/>
            <a:ext cx="566928" cy="182880"/>
          </a:xfrm>
          <a:prstGeom prst="roundRect">
            <a:avLst>
              <a:gd name="adj" fmla="val 25000"/>
            </a:avLst>
          </a:prstGeom>
          <a:solidFill>
            <a:srgbClr val="1A3C29"/>
          </a:solidFill>
          <a:ln w="12700">
            <a:solidFill>
              <a:srgbClr val="1A3C29"/>
            </a:solidFill>
            <a:prstDash val="solid"/>
          </a:ln>
        </p:spPr>
      </p:sp>
      <p:sp>
        <p:nvSpPr>
          <p:cNvPr id="21" name="Text 21"/>
          <p:cNvSpPr/>
          <p:nvPr/>
        </p:nvSpPr>
        <p:spPr>
          <a:xfrm>
            <a:off x="4892040" y="2734056"/>
            <a:ext cx="566928" cy="182880"/>
          </a:xfrm>
          <a:prstGeom prst="rect">
            <a:avLst/>
          </a:prstGeom>
          <a:noFill/>
          <a:ln/>
        </p:spPr>
        <p:txBody>
          <a:bodyPr wrap="square" lIns="0" tIns="0" rIns="0" bIns="0" rtlCol="0" anchor="ctr"/>
          <a:lstStyle/>
          <a:p>
            <a:pPr algn="ctr" indent="0" marL="0">
              <a:buNone/>
            </a:pPr>
            <a:r>
              <a:rPr lang="fr-FR" sz="750" b="1" dirty="0">
                <a:solidFill>
                  <a:srgbClr val="FFFFFF"/>
                </a:solidFill>
                <a:latin typeface="Calibri" pitchFamily="34" charset="0"/>
                <a:ea typeface="Calibri" pitchFamily="34" charset="-122"/>
                <a:cs typeface="Calibri" pitchFamily="34" charset="-120"/>
              </a:rPr>
              <a:t>DEV</a:t>
            </a:r>
            <a:endParaRPr lang="fr-FR" sz="750" dirty="0"/>
          </a:p>
        </p:txBody>
      </p:sp>
      <p:sp>
        <p:nvSpPr>
          <p:cNvPr id="22" name="Text 22"/>
          <p:cNvSpPr/>
          <p:nvPr/>
        </p:nvSpPr>
        <p:spPr>
          <a:xfrm>
            <a:off x="5532120" y="2679192"/>
            <a:ext cx="548640" cy="292608"/>
          </a:xfrm>
          <a:prstGeom prst="rect">
            <a:avLst/>
          </a:prstGeom>
          <a:noFill/>
          <a:ln/>
        </p:spPr>
        <p:txBody>
          <a:bodyPr wrap="square" lIns="0" tIns="0" rIns="0" bIns="0" rtlCol="0" anchor="ctr"/>
          <a:lstStyle/>
          <a:p>
            <a:pPr algn="r" indent="0" marL="0">
              <a:buNone/>
            </a:pPr>
            <a:r>
              <a:rPr lang="fr-FR" sz="950" b="1" dirty="0">
                <a:solidFill>
                  <a:srgbClr val="1A3C29"/>
                </a:solidFill>
                <a:latin typeface="Calibri" pitchFamily="34" charset="0"/>
                <a:ea typeface="Calibri" pitchFamily="34" charset="-122"/>
                <a:cs typeface="Calibri" pitchFamily="34" charset="-120"/>
              </a:rPr>
              <a:t>12 j</a:t>
            </a:r>
            <a:endParaRPr lang="fr-FR" sz="950" dirty="0"/>
          </a:p>
        </p:txBody>
      </p:sp>
      <p:sp>
        <p:nvSpPr>
          <p:cNvPr id="23" name="Text 23"/>
          <p:cNvSpPr/>
          <p:nvPr/>
        </p:nvSpPr>
        <p:spPr>
          <a:xfrm>
            <a:off x="6263640" y="2679192"/>
            <a:ext cx="685800" cy="292608"/>
          </a:xfrm>
          <a:prstGeom prst="rect">
            <a:avLst/>
          </a:prstGeom>
          <a:noFill/>
          <a:ln/>
        </p:spPr>
        <p:txBody>
          <a:bodyPr wrap="square" lIns="0" tIns="0" rIns="0" bIns="0" rtlCol="0" anchor="ctr"/>
          <a:lstStyle/>
          <a:p>
            <a:pPr algn="r" indent="0" marL="0">
              <a:buNone/>
            </a:pPr>
            <a:r>
              <a:rPr lang="fr-FR" sz="900" dirty="0">
                <a:solidFill>
                  <a:srgbClr val="5F5F5F"/>
                </a:solidFill>
                <a:latin typeface="Calibri" pitchFamily="34" charset="0"/>
                <a:ea typeface="Calibri" pitchFamily="34" charset="-122"/>
                <a:cs typeface="Calibri" pitchFamily="34" charset="-120"/>
              </a:rPr>
              <a:t>450 €</a:t>
            </a:r>
            <a:endParaRPr lang="fr-FR" sz="900" dirty="0"/>
          </a:p>
        </p:txBody>
      </p:sp>
      <p:sp>
        <p:nvSpPr>
          <p:cNvPr id="24" name="Text 24"/>
          <p:cNvSpPr/>
          <p:nvPr/>
        </p:nvSpPr>
        <p:spPr>
          <a:xfrm>
            <a:off x="7040880" y="2679192"/>
            <a:ext cx="914400" cy="292608"/>
          </a:xfrm>
          <a:prstGeom prst="rect">
            <a:avLst/>
          </a:prstGeom>
          <a:noFill/>
          <a:ln/>
        </p:spPr>
        <p:txBody>
          <a:bodyPr wrap="square" lIns="0" tIns="0" rIns="0" bIns="0" rtlCol="0" anchor="ctr"/>
          <a:lstStyle/>
          <a:p>
            <a:pPr algn="r" indent="0" marL="0">
              <a:buNone/>
            </a:pPr>
            <a:r>
              <a:rPr lang="fr-FR" sz="1000" b="1" dirty="0">
                <a:solidFill>
                  <a:srgbClr val="1A3C29"/>
                </a:solidFill>
                <a:latin typeface="Calibri" pitchFamily="34" charset="0"/>
                <a:ea typeface="Calibri" pitchFamily="34" charset="-122"/>
                <a:cs typeface="Calibri" pitchFamily="34" charset="-120"/>
              </a:rPr>
              <a:t>5 400 €</a:t>
            </a:r>
            <a:endParaRPr lang="fr-FR" sz="1000" dirty="0"/>
          </a:p>
        </p:txBody>
      </p:sp>
      <p:sp>
        <p:nvSpPr>
          <p:cNvPr id="25" name="Shape 25"/>
          <p:cNvSpPr/>
          <p:nvPr/>
        </p:nvSpPr>
        <p:spPr>
          <a:xfrm>
            <a:off x="914400" y="2953512"/>
            <a:ext cx="7040880" cy="9144"/>
          </a:xfrm>
          <a:prstGeom prst="rect">
            <a:avLst/>
          </a:prstGeom>
          <a:solidFill>
            <a:srgbClr val="E3DCD1"/>
          </a:solidFill>
          <a:ln w="12700">
            <a:solidFill>
              <a:srgbClr val="E3DCD1"/>
            </a:solidFill>
            <a:prstDash val="solid"/>
          </a:ln>
        </p:spPr>
      </p:sp>
      <p:sp>
        <p:nvSpPr>
          <p:cNvPr id="26" name="Text 26"/>
          <p:cNvSpPr/>
          <p:nvPr/>
        </p:nvSpPr>
        <p:spPr>
          <a:xfrm>
            <a:off x="914400" y="3008376"/>
            <a:ext cx="3886200" cy="292608"/>
          </a:xfrm>
          <a:prstGeom prst="rect">
            <a:avLst/>
          </a:prstGeom>
          <a:noFill/>
          <a:ln/>
        </p:spPr>
        <p:txBody>
          <a:bodyPr wrap="square" lIns="0" tIns="0" rIns="0" bIns="0" rtlCol="0" anchor="ctr"/>
          <a:lstStyle/>
          <a:p>
            <a:pPr algn="l" indent="0" marL="0">
              <a:buNone/>
            </a:pPr>
            <a:r>
              <a:rPr lang="fr-FR" sz="950" dirty="0">
                <a:solidFill>
                  <a:srgbClr val="5F5F5F"/>
                </a:solidFill>
                <a:latin typeface="Calibri" pitchFamily="34" charset="0"/>
                <a:ea typeface="Calibri" pitchFamily="34" charset="-122"/>
                <a:cs typeface="Calibri" pitchFamily="34" charset="-120"/>
              </a:rPr>
              <a:t>Développement backend (API, BDD, authentification)</a:t>
            </a:r>
            <a:endParaRPr lang="fr-FR" sz="950" dirty="0"/>
          </a:p>
        </p:txBody>
      </p:sp>
      <p:sp>
        <p:nvSpPr>
          <p:cNvPr id="27" name="Shape 27"/>
          <p:cNvSpPr/>
          <p:nvPr/>
        </p:nvSpPr>
        <p:spPr>
          <a:xfrm>
            <a:off x="4892040" y="3072384"/>
            <a:ext cx="566928" cy="182880"/>
          </a:xfrm>
          <a:prstGeom prst="roundRect">
            <a:avLst>
              <a:gd name="adj" fmla="val 25000"/>
            </a:avLst>
          </a:prstGeom>
          <a:solidFill>
            <a:srgbClr val="1A3C29"/>
          </a:solidFill>
          <a:ln w="12700">
            <a:solidFill>
              <a:srgbClr val="1A3C29"/>
            </a:solidFill>
            <a:prstDash val="solid"/>
          </a:ln>
        </p:spPr>
      </p:sp>
      <p:sp>
        <p:nvSpPr>
          <p:cNvPr id="28" name="Text 28"/>
          <p:cNvSpPr/>
          <p:nvPr/>
        </p:nvSpPr>
        <p:spPr>
          <a:xfrm>
            <a:off x="4892040" y="3063240"/>
            <a:ext cx="566928" cy="182880"/>
          </a:xfrm>
          <a:prstGeom prst="rect">
            <a:avLst/>
          </a:prstGeom>
          <a:noFill/>
          <a:ln/>
        </p:spPr>
        <p:txBody>
          <a:bodyPr wrap="square" lIns="0" tIns="0" rIns="0" bIns="0" rtlCol="0" anchor="ctr"/>
          <a:lstStyle/>
          <a:p>
            <a:pPr algn="ctr" indent="0" marL="0">
              <a:buNone/>
            </a:pPr>
            <a:r>
              <a:rPr lang="fr-FR" sz="750" b="1" dirty="0">
                <a:solidFill>
                  <a:srgbClr val="FFFFFF"/>
                </a:solidFill>
                <a:latin typeface="Calibri" pitchFamily="34" charset="0"/>
                <a:ea typeface="Calibri" pitchFamily="34" charset="-122"/>
                <a:cs typeface="Calibri" pitchFamily="34" charset="-120"/>
              </a:rPr>
              <a:t>DEV</a:t>
            </a:r>
            <a:endParaRPr lang="fr-FR" sz="750" dirty="0"/>
          </a:p>
        </p:txBody>
      </p:sp>
      <p:sp>
        <p:nvSpPr>
          <p:cNvPr id="29" name="Text 29"/>
          <p:cNvSpPr/>
          <p:nvPr/>
        </p:nvSpPr>
        <p:spPr>
          <a:xfrm>
            <a:off x="5532120" y="3008376"/>
            <a:ext cx="548640" cy="292608"/>
          </a:xfrm>
          <a:prstGeom prst="rect">
            <a:avLst/>
          </a:prstGeom>
          <a:noFill/>
          <a:ln/>
        </p:spPr>
        <p:txBody>
          <a:bodyPr wrap="square" lIns="0" tIns="0" rIns="0" bIns="0" rtlCol="0" anchor="ctr"/>
          <a:lstStyle/>
          <a:p>
            <a:pPr algn="r" indent="0" marL="0">
              <a:buNone/>
            </a:pPr>
            <a:r>
              <a:rPr lang="fr-FR" sz="950" b="1" dirty="0">
                <a:solidFill>
                  <a:srgbClr val="1A3C29"/>
                </a:solidFill>
                <a:latin typeface="Calibri" pitchFamily="34" charset="0"/>
                <a:ea typeface="Calibri" pitchFamily="34" charset="-122"/>
                <a:cs typeface="Calibri" pitchFamily="34" charset="-120"/>
              </a:rPr>
              <a:t>34 j</a:t>
            </a:r>
            <a:endParaRPr lang="fr-FR" sz="950" dirty="0"/>
          </a:p>
        </p:txBody>
      </p:sp>
      <p:sp>
        <p:nvSpPr>
          <p:cNvPr id="30" name="Text 30"/>
          <p:cNvSpPr/>
          <p:nvPr/>
        </p:nvSpPr>
        <p:spPr>
          <a:xfrm>
            <a:off x="6263640" y="3008376"/>
            <a:ext cx="685800" cy="292608"/>
          </a:xfrm>
          <a:prstGeom prst="rect">
            <a:avLst/>
          </a:prstGeom>
          <a:noFill/>
          <a:ln/>
        </p:spPr>
        <p:txBody>
          <a:bodyPr wrap="square" lIns="0" tIns="0" rIns="0" bIns="0" rtlCol="0" anchor="ctr"/>
          <a:lstStyle/>
          <a:p>
            <a:pPr algn="r" indent="0" marL="0">
              <a:buNone/>
            </a:pPr>
            <a:r>
              <a:rPr lang="fr-FR" sz="900" dirty="0">
                <a:solidFill>
                  <a:srgbClr val="5F5F5F"/>
                </a:solidFill>
                <a:latin typeface="Calibri" pitchFamily="34" charset="0"/>
                <a:ea typeface="Calibri" pitchFamily="34" charset="-122"/>
                <a:cs typeface="Calibri" pitchFamily="34" charset="-120"/>
              </a:rPr>
              <a:t>450 €</a:t>
            </a:r>
            <a:endParaRPr lang="fr-FR" sz="900" dirty="0"/>
          </a:p>
        </p:txBody>
      </p:sp>
      <p:sp>
        <p:nvSpPr>
          <p:cNvPr id="31" name="Text 31"/>
          <p:cNvSpPr/>
          <p:nvPr/>
        </p:nvSpPr>
        <p:spPr>
          <a:xfrm>
            <a:off x="7040880" y="3008376"/>
            <a:ext cx="914400" cy="292608"/>
          </a:xfrm>
          <a:prstGeom prst="rect">
            <a:avLst/>
          </a:prstGeom>
          <a:noFill/>
          <a:ln/>
        </p:spPr>
        <p:txBody>
          <a:bodyPr wrap="square" lIns="0" tIns="0" rIns="0" bIns="0" rtlCol="0" anchor="ctr"/>
          <a:lstStyle/>
          <a:p>
            <a:pPr algn="r" indent="0" marL="0">
              <a:buNone/>
            </a:pPr>
            <a:r>
              <a:rPr lang="fr-FR" sz="1000" b="1" dirty="0">
                <a:solidFill>
                  <a:srgbClr val="1A3C29"/>
                </a:solidFill>
                <a:latin typeface="Calibri" pitchFamily="34" charset="0"/>
                <a:ea typeface="Calibri" pitchFamily="34" charset="-122"/>
                <a:cs typeface="Calibri" pitchFamily="34" charset="-120"/>
              </a:rPr>
              <a:t>15 300 €</a:t>
            </a:r>
            <a:endParaRPr lang="fr-FR" sz="1000" dirty="0"/>
          </a:p>
        </p:txBody>
      </p:sp>
      <p:sp>
        <p:nvSpPr>
          <p:cNvPr id="32" name="Shape 32"/>
          <p:cNvSpPr/>
          <p:nvPr/>
        </p:nvSpPr>
        <p:spPr>
          <a:xfrm>
            <a:off x="914400" y="3282696"/>
            <a:ext cx="7040880" cy="9144"/>
          </a:xfrm>
          <a:prstGeom prst="rect">
            <a:avLst/>
          </a:prstGeom>
          <a:solidFill>
            <a:srgbClr val="E3DCD1"/>
          </a:solidFill>
          <a:ln w="12700">
            <a:solidFill>
              <a:srgbClr val="E3DCD1"/>
            </a:solidFill>
            <a:prstDash val="solid"/>
          </a:ln>
        </p:spPr>
      </p:sp>
      <p:sp>
        <p:nvSpPr>
          <p:cNvPr id="33" name="Text 33"/>
          <p:cNvSpPr/>
          <p:nvPr/>
        </p:nvSpPr>
        <p:spPr>
          <a:xfrm>
            <a:off x="914400" y="3337560"/>
            <a:ext cx="3886200" cy="292608"/>
          </a:xfrm>
          <a:prstGeom prst="rect">
            <a:avLst/>
          </a:prstGeom>
          <a:noFill/>
          <a:ln/>
        </p:spPr>
        <p:txBody>
          <a:bodyPr wrap="square" lIns="0" tIns="0" rIns="0" bIns="0" rtlCol="0" anchor="ctr"/>
          <a:lstStyle/>
          <a:p>
            <a:pPr algn="l" indent="0" marL="0">
              <a:buNone/>
            </a:pPr>
            <a:r>
              <a:rPr lang="fr-FR" sz="950" dirty="0">
                <a:solidFill>
                  <a:srgbClr val="5F5F5F"/>
                </a:solidFill>
                <a:latin typeface="Calibri" pitchFamily="34" charset="0"/>
                <a:ea typeface="Calibri" pitchFamily="34" charset="-122"/>
                <a:cs typeface="Calibri" pitchFamily="34" charset="-120"/>
              </a:rPr>
              <a:t>Développement frontend web (React)</a:t>
            </a:r>
            <a:endParaRPr lang="fr-FR" sz="950" dirty="0"/>
          </a:p>
        </p:txBody>
      </p:sp>
      <p:sp>
        <p:nvSpPr>
          <p:cNvPr id="34" name="Shape 34"/>
          <p:cNvSpPr/>
          <p:nvPr/>
        </p:nvSpPr>
        <p:spPr>
          <a:xfrm>
            <a:off x="4892040" y="3401568"/>
            <a:ext cx="566928" cy="182880"/>
          </a:xfrm>
          <a:prstGeom prst="roundRect">
            <a:avLst>
              <a:gd name="adj" fmla="val 25000"/>
            </a:avLst>
          </a:prstGeom>
          <a:solidFill>
            <a:srgbClr val="1A3C29"/>
          </a:solidFill>
          <a:ln w="12700">
            <a:solidFill>
              <a:srgbClr val="1A3C29"/>
            </a:solidFill>
            <a:prstDash val="solid"/>
          </a:ln>
        </p:spPr>
      </p:sp>
      <p:sp>
        <p:nvSpPr>
          <p:cNvPr id="35" name="Text 35"/>
          <p:cNvSpPr/>
          <p:nvPr/>
        </p:nvSpPr>
        <p:spPr>
          <a:xfrm>
            <a:off x="4892040" y="3392424"/>
            <a:ext cx="566928" cy="182880"/>
          </a:xfrm>
          <a:prstGeom prst="rect">
            <a:avLst/>
          </a:prstGeom>
          <a:noFill/>
          <a:ln/>
        </p:spPr>
        <p:txBody>
          <a:bodyPr wrap="square" lIns="0" tIns="0" rIns="0" bIns="0" rtlCol="0" anchor="ctr"/>
          <a:lstStyle/>
          <a:p>
            <a:pPr algn="ctr" indent="0" marL="0">
              <a:buNone/>
            </a:pPr>
            <a:r>
              <a:rPr lang="fr-FR" sz="750" b="1" dirty="0">
                <a:solidFill>
                  <a:srgbClr val="FFFFFF"/>
                </a:solidFill>
                <a:latin typeface="Calibri" pitchFamily="34" charset="0"/>
                <a:ea typeface="Calibri" pitchFamily="34" charset="-122"/>
                <a:cs typeface="Calibri" pitchFamily="34" charset="-120"/>
              </a:rPr>
              <a:t>DEV</a:t>
            </a:r>
            <a:endParaRPr lang="fr-FR" sz="750" dirty="0"/>
          </a:p>
        </p:txBody>
      </p:sp>
      <p:sp>
        <p:nvSpPr>
          <p:cNvPr id="36" name="Text 36"/>
          <p:cNvSpPr/>
          <p:nvPr/>
        </p:nvSpPr>
        <p:spPr>
          <a:xfrm>
            <a:off x="5532120" y="3337560"/>
            <a:ext cx="548640" cy="292608"/>
          </a:xfrm>
          <a:prstGeom prst="rect">
            <a:avLst/>
          </a:prstGeom>
          <a:noFill/>
          <a:ln/>
        </p:spPr>
        <p:txBody>
          <a:bodyPr wrap="square" lIns="0" tIns="0" rIns="0" bIns="0" rtlCol="0" anchor="ctr"/>
          <a:lstStyle/>
          <a:p>
            <a:pPr algn="r" indent="0" marL="0">
              <a:buNone/>
            </a:pPr>
            <a:r>
              <a:rPr lang="fr-FR" sz="950" b="1" dirty="0">
                <a:solidFill>
                  <a:srgbClr val="1A3C29"/>
                </a:solidFill>
                <a:latin typeface="Calibri" pitchFamily="34" charset="0"/>
                <a:ea typeface="Calibri" pitchFamily="34" charset="-122"/>
                <a:cs typeface="Calibri" pitchFamily="34" charset="-120"/>
              </a:rPr>
              <a:t>32 j</a:t>
            </a:r>
            <a:endParaRPr lang="fr-FR" sz="950" dirty="0"/>
          </a:p>
        </p:txBody>
      </p:sp>
      <p:sp>
        <p:nvSpPr>
          <p:cNvPr id="37" name="Text 37"/>
          <p:cNvSpPr/>
          <p:nvPr/>
        </p:nvSpPr>
        <p:spPr>
          <a:xfrm>
            <a:off x="6263640" y="3337560"/>
            <a:ext cx="685800" cy="292608"/>
          </a:xfrm>
          <a:prstGeom prst="rect">
            <a:avLst/>
          </a:prstGeom>
          <a:noFill/>
          <a:ln/>
        </p:spPr>
        <p:txBody>
          <a:bodyPr wrap="square" lIns="0" tIns="0" rIns="0" bIns="0" rtlCol="0" anchor="ctr"/>
          <a:lstStyle/>
          <a:p>
            <a:pPr algn="r" indent="0" marL="0">
              <a:buNone/>
            </a:pPr>
            <a:r>
              <a:rPr lang="fr-FR" sz="900" dirty="0">
                <a:solidFill>
                  <a:srgbClr val="5F5F5F"/>
                </a:solidFill>
                <a:latin typeface="Calibri" pitchFamily="34" charset="0"/>
                <a:ea typeface="Calibri" pitchFamily="34" charset="-122"/>
                <a:cs typeface="Calibri" pitchFamily="34" charset="-120"/>
              </a:rPr>
              <a:t>450 €</a:t>
            </a:r>
            <a:endParaRPr lang="fr-FR" sz="900" dirty="0"/>
          </a:p>
        </p:txBody>
      </p:sp>
      <p:sp>
        <p:nvSpPr>
          <p:cNvPr id="38" name="Text 38"/>
          <p:cNvSpPr/>
          <p:nvPr/>
        </p:nvSpPr>
        <p:spPr>
          <a:xfrm>
            <a:off x="7040880" y="3337560"/>
            <a:ext cx="914400" cy="292608"/>
          </a:xfrm>
          <a:prstGeom prst="rect">
            <a:avLst/>
          </a:prstGeom>
          <a:noFill/>
          <a:ln/>
        </p:spPr>
        <p:txBody>
          <a:bodyPr wrap="square" lIns="0" tIns="0" rIns="0" bIns="0" rtlCol="0" anchor="ctr"/>
          <a:lstStyle/>
          <a:p>
            <a:pPr algn="r" indent="0" marL="0">
              <a:buNone/>
            </a:pPr>
            <a:r>
              <a:rPr lang="fr-FR" sz="1000" b="1" dirty="0">
                <a:solidFill>
                  <a:srgbClr val="1A3C29"/>
                </a:solidFill>
                <a:latin typeface="Calibri" pitchFamily="34" charset="0"/>
                <a:ea typeface="Calibri" pitchFamily="34" charset="-122"/>
                <a:cs typeface="Calibri" pitchFamily="34" charset="-120"/>
              </a:rPr>
              <a:t>14 400 €</a:t>
            </a:r>
            <a:endParaRPr lang="fr-FR" sz="1000" dirty="0"/>
          </a:p>
        </p:txBody>
      </p:sp>
      <p:sp>
        <p:nvSpPr>
          <p:cNvPr id="39" name="Shape 39"/>
          <p:cNvSpPr/>
          <p:nvPr/>
        </p:nvSpPr>
        <p:spPr>
          <a:xfrm>
            <a:off x="914400" y="3611880"/>
            <a:ext cx="7040880" cy="9144"/>
          </a:xfrm>
          <a:prstGeom prst="rect">
            <a:avLst/>
          </a:prstGeom>
          <a:solidFill>
            <a:srgbClr val="E3DCD1"/>
          </a:solidFill>
          <a:ln w="12700">
            <a:solidFill>
              <a:srgbClr val="E3DCD1"/>
            </a:solidFill>
            <a:prstDash val="solid"/>
          </a:ln>
        </p:spPr>
      </p:sp>
      <p:sp>
        <p:nvSpPr>
          <p:cNvPr id="40" name="Text 40"/>
          <p:cNvSpPr/>
          <p:nvPr/>
        </p:nvSpPr>
        <p:spPr>
          <a:xfrm>
            <a:off x="914400" y="3666744"/>
            <a:ext cx="3886200" cy="292608"/>
          </a:xfrm>
          <a:prstGeom prst="rect">
            <a:avLst/>
          </a:prstGeom>
          <a:noFill/>
          <a:ln/>
        </p:spPr>
        <p:txBody>
          <a:bodyPr wrap="square" lIns="0" tIns="0" rIns="0" bIns="0" rtlCol="0" anchor="ctr"/>
          <a:lstStyle/>
          <a:p>
            <a:pPr algn="l" indent="0" marL="0">
              <a:buNone/>
            </a:pPr>
            <a:r>
              <a:rPr lang="fr-FR" sz="950" dirty="0">
                <a:solidFill>
                  <a:srgbClr val="5F5F5F"/>
                </a:solidFill>
                <a:latin typeface="Calibri" pitchFamily="34" charset="0"/>
                <a:ea typeface="Calibri" pitchFamily="34" charset="-122"/>
                <a:cs typeface="Calibri" pitchFamily="34" charset="-120"/>
              </a:rPr>
              <a:t>Application mobile</a:t>
            </a:r>
            <a:endParaRPr lang="fr-FR" sz="950" dirty="0"/>
          </a:p>
        </p:txBody>
      </p:sp>
      <p:sp>
        <p:nvSpPr>
          <p:cNvPr id="41" name="Shape 41"/>
          <p:cNvSpPr/>
          <p:nvPr/>
        </p:nvSpPr>
        <p:spPr>
          <a:xfrm>
            <a:off x="4892040" y="3730752"/>
            <a:ext cx="566928" cy="182880"/>
          </a:xfrm>
          <a:prstGeom prst="roundRect">
            <a:avLst>
              <a:gd name="adj" fmla="val 25000"/>
            </a:avLst>
          </a:prstGeom>
          <a:solidFill>
            <a:srgbClr val="1A3C29"/>
          </a:solidFill>
          <a:ln w="12700">
            <a:solidFill>
              <a:srgbClr val="1A3C29"/>
            </a:solidFill>
            <a:prstDash val="solid"/>
          </a:ln>
        </p:spPr>
      </p:sp>
      <p:sp>
        <p:nvSpPr>
          <p:cNvPr id="42" name="Text 42"/>
          <p:cNvSpPr/>
          <p:nvPr/>
        </p:nvSpPr>
        <p:spPr>
          <a:xfrm>
            <a:off x="4892040" y="3721608"/>
            <a:ext cx="566928" cy="182880"/>
          </a:xfrm>
          <a:prstGeom prst="rect">
            <a:avLst/>
          </a:prstGeom>
          <a:noFill/>
          <a:ln/>
        </p:spPr>
        <p:txBody>
          <a:bodyPr wrap="square" lIns="0" tIns="0" rIns="0" bIns="0" rtlCol="0" anchor="ctr"/>
          <a:lstStyle/>
          <a:p>
            <a:pPr algn="ctr" indent="0" marL="0">
              <a:buNone/>
            </a:pPr>
            <a:r>
              <a:rPr lang="fr-FR" sz="750" b="1" dirty="0">
                <a:solidFill>
                  <a:srgbClr val="FFFFFF"/>
                </a:solidFill>
                <a:latin typeface="Calibri" pitchFamily="34" charset="0"/>
                <a:ea typeface="Calibri" pitchFamily="34" charset="-122"/>
                <a:cs typeface="Calibri" pitchFamily="34" charset="-120"/>
              </a:rPr>
              <a:t>DEV</a:t>
            </a:r>
            <a:endParaRPr lang="fr-FR" sz="750" dirty="0"/>
          </a:p>
        </p:txBody>
      </p:sp>
      <p:sp>
        <p:nvSpPr>
          <p:cNvPr id="43" name="Text 43"/>
          <p:cNvSpPr/>
          <p:nvPr/>
        </p:nvSpPr>
        <p:spPr>
          <a:xfrm>
            <a:off x="5532120" y="3666744"/>
            <a:ext cx="548640" cy="292608"/>
          </a:xfrm>
          <a:prstGeom prst="rect">
            <a:avLst/>
          </a:prstGeom>
          <a:noFill/>
          <a:ln/>
        </p:spPr>
        <p:txBody>
          <a:bodyPr wrap="square" lIns="0" tIns="0" rIns="0" bIns="0" rtlCol="0" anchor="ctr"/>
          <a:lstStyle/>
          <a:p>
            <a:pPr algn="r" indent="0" marL="0">
              <a:buNone/>
            </a:pPr>
            <a:r>
              <a:rPr lang="fr-FR" sz="950" b="1" dirty="0">
                <a:solidFill>
                  <a:srgbClr val="1A3C29"/>
                </a:solidFill>
                <a:latin typeface="Calibri" pitchFamily="34" charset="0"/>
                <a:ea typeface="Calibri" pitchFamily="34" charset="-122"/>
                <a:cs typeface="Calibri" pitchFamily="34" charset="-120"/>
              </a:rPr>
              <a:t>14 j</a:t>
            </a:r>
            <a:endParaRPr lang="fr-FR" sz="950" dirty="0"/>
          </a:p>
        </p:txBody>
      </p:sp>
      <p:sp>
        <p:nvSpPr>
          <p:cNvPr id="44" name="Text 44"/>
          <p:cNvSpPr/>
          <p:nvPr/>
        </p:nvSpPr>
        <p:spPr>
          <a:xfrm>
            <a:off x="6263640" y="3666744"/>
            <a:ext cx="685800" cy="292608"/>
          </a:xfrm>
          <a:prstGeom prst="rect">
            <a:avLst/>
          </a:prstGeom>
          <a:noFill/>
          <a:ln/>
        </p:spPr>
        <p:txBody>
          <a:bodyPr wrap="square" lIns="0" tIns="0" rIns="0" bIns="0" rtlCol="0" anchor="ctr"/>
          <a:lstStyle/>
          <a:p>
            <a:pPr algn="r" indent="0" marL="0">
              <a:buNone/>
            </a:pPr>
            <a:r>
              <a:rPr lang="fr-FR" sz="900" dirty="0">
                <a:solidFill>
                  <a:srgbClr val="5F5F5F"/>
                </a:solidFill>
                <a:latin typeface="Calibri" pitchFamily="34" charset="0"/>
                <a:ea typeface="Calibri" pitchFamily="34" charset="-122"/>
                <a:cs typeface="Calibri" pitchFamily="34" charset="-120"/>
              </a:rPr>
              <a:t>450 €</a:t>
            </a:r>
            <a:endParaRPr lang="fr-FR" sz="900" dirty="0"/>
          </a:p>
        </p:txBody>
      </p:sp>
      <p:sp>
        <p:nvSpPr>
          <p:cNvPr id="45" name="Text 45"/>
          <p:cNvSpPr/>
          <p:nvPr/>
        </p:nvSpPr>
        <p:spPr>
          <a:xfrm>
            <a:off x="7040880" y="3666744"/>
            <a:ext cx="914400" cy="292608"/>
          </a:xfrm>
          <a:prstGeom prst="rect">
            <a:avLst/>
          </a:prstGeom>
          <a:noFill/>
          <a:ln/>
        </p:spPr>
        <p:txBody>
          <a:bodyPr wrap="square" lIns="0" tIns="0" rIns="0" bIns="0" rtlCol="0" anchor="ctr"/>
          <a:lstStyle/>
          <a:p>
            <a:pPr algn="r" indent="0" marL="0">
              <a:buNone/>
            </a:pPr>
            <a:r>
              <a:rPr lang="fr-FR" sz="1000" b="1" dirty="0">
                <a:solidFill>
                  <a:srgbClr val="1A3C29"/>
                </a:solidFill>
                <a:latin typeface="Calibri" pitchFamily="34" charset="0"/>
                <a:ea typeface="Calibri" pitchFamily="34" charset="-122"/>
                <a:cs typeface="Calibri" pitchFamily="34" charset="-120"/>
              </a:rPr>
              <a:t>6 300 €</a:t>
            </a:r>
            <a:endParaRPr lang="fr-FR" sz="1000" dirty="0"/>
          </a:p>
        </p:txBody>
      </p:sp>
      <p:sp>
        <p:nvSpPr>
          <p:cNvPr id="46" name="Shape 46"/>
          <p:cNvSpPr/>
          <p:nvPr/>
        </p:nvSpPr>
        <p:spPr>
          <a:xfrm>
            <a:off x="914400" y="3941064"/>
            <a:ext cx="7040880" cy="9144"/>
          </a:xfrm>
          <a:prstGeom prst="rect">
            <a:avLst/>
          </a:prstGeom>
          <a:solidFill>
            <a:srgbClr val="E3DCD1"/>
          </a:solidFill>
          <a:ln w="12700">
            <a:solidFill>
              <a:srgbClr val="E3DCD1"/>
            </a:solidFill>
            <a:prstDash val="solid"/>
          </a:ln>
        </p:spPr>
      </p:sp>
      <p:sp>
        <p:nvSpPr>
          <p:cNvPr id="47" name="Text 47"/>
          <p:cNvSpPr/>
          <p:nvPr/>
        </p:nvSpPr>
        <p:spPr>
          <a:xfrm>
            <a:off x="914400" y="3995928"/>
            <a:ext cx="3886200" cy="292608"/>
          </a:xfrm>
          <a:prstGeom prst="rect">
            <a:avLst/>
          </a:prstGeom>
          <a:noFill/>
          <a:ln/>
        </p:spPr>
        <p:txBody>
          <a:bodyPr wrap="square" lIns="0" tIns="0" rIns="0" bIns="0" rtlCol="0" anchor="ctr"/>
          <a:lstStyle/>
          <a:p>
            <a:pPr algn="l" indent="0" marL="0">
              <a:buNone/>
            </a:pPr>
            <a:r>
              <a:rPr lang="fr-FR" sz="950" dirty="0">
                <a:solidFill>
                  <a:srgbClr val="5F5F5F"/>
                </a:solidFill>
                <a:latin typeface="Calibri" pitchFamily="34" charset="0"/>
                <a:ea typeface="Calibri" pitchFamily="34" charset="-122"/>
                <a:cs typeface="Calibri" pitchFamily="34" charset="-120"/>
              </a:rPr>
              <a:t>Tests &amp; recette (43 tests automatisés)</a:t>
            </a:r>
            <a:endParaRPr lang="fr-FR" sz="950" dirty="0"/>
          </a:p>
        </p:txBody>
      </p:sp>
      <p:sp>
        <p:nvSpPr>
          <p:cNvPr id="48" name="Shape 48"/>
          <p:cNvSpPr/>
          <p:nvPr/>
        </p:nvSpPr>
        <p:spPr>
          <a:xfrm>
            <a:off x="4892040" y="4059936"/>
            <a:ext cx="566928" cy="182880"/>
          </a:xfrm>
          <a:prstGeom prst="roundRect">
            <a:avLst>
              <a:gd name="adj" fmla="val 25000"/>
            </a:avLst>
          </a:prstGeom>
          <a:solidFill>
            <a:srgbClr val="1A3C29"/>
          </a:solidFill>
          <a:ln w="12700">
            <a:solidFill>
              <a:srgbClr val="1A3C29"/>
            </a:solidFill>
            <a:prstDash val="solid"/>
          </a:ln>
        </p:spPr>
      </p:sp>
      <p:sp>
        <p:nvSpPr>
          <p:cNvPr id="49" name="Text 49"/>
          <p:cNvSpPr/>
          <p:nvPr/>
        </p:nvSpPr>
        <p:spPr>
          <a:xfrm>
            <a:off x="4892040" y="4050792"/>
            <a:ext cx="566928" cy="182880"/>
          </a:xfrm>
          <a:prstGeom prst="rect">
            <a:avLst/>
          </a:prstGeom>
          <a:noFill/>
          <a:ln/>
        </p:spPr>
        <p:txBody>
          <a:bodyPr wrap="square" lIns="0" tIns="0" rIns="0" bIns="0" rtlCol="0" anchor="ctr"/>
          <a:lstStyle/>
          <a:p>
            <a:pPr algn="ctr" indent="0" marL="0">
              <a:buNone/>
            </a:pPr>
            <a:r>
              <a:rPr lang="fr-FR" sz="750" b="1" dirty="0">
                <a:solidFill>
                  <a:srgbClr val="FFFFFF"/>
                </a:solidFill>
                <a:latin typeface="Calibri" pitchFamily="34" charset="0"/>
                <a:ea typeface="Calibri" pitchFamily="34" charset="-122"/>
                <a:cs typeface="Calibri" pitchFamily="34" charset="-120"/>
              </a:rPr>
              <a:t>DEV</a:t>
            </a:r>
            <a:endParaRPr lang="fr-FR" sz="750" dirty="0"/>
          </a:p>
        </p:txBody>
      </p:sp>
      <p:sp>
        <p:nvSpPr>
          <p:cNvPr id="50" name="Text 50"/>
          <p:cNvSpPr/>
          <p:nvPr/>
        </p:nvSpPr>
        <p:spPr>
          <a:xfrm>
            <a:off x="5532120" y="3995928"/>
            <a:ext cx="548640" cy="292608"/>
          </a:xfrm>
          <a:prstGeom prst="rect">
            <a:avLst/>
          </a:prstGeom>
          <a:noFill/>
          <a:ln/>
        </p:spPr>
        <p:txBody>
          <a:bodyPr wrap="square" lIns="0" tIns="0" rIns="0" bIns="0" rtlCol="0" anchor="ctr"/>
          <a:lstStyle/>
          <a:p>
            <a:pPr algn="r" indent="0" marL="0">
              <a:buNone/>
            </a:pPr>
            <a:r>
              <a:rPr lang="fr-FR" sz="950" b="1" dirty="0">
                <a:solidFill>
                  <a:srgbClr val="1A3C29"/>
                </a:solidFill>
                <a:latin typeface="Calibri" pitchFamily="34" charset="0"/>
                <a:ea typeface="Calibri" pitchFamily="34" charset="-122"/>
                <a:cs typeface="Calibri" pitchFamily="34" charset="-120"/>
              </a:rPr>
              <a:t>12 j</a:t>
            </a:r>
            <a:endParaRPr lang="fr-FR" sz="950" dirty="0"/>
          </a:p>
        </p:txBody>
      </p:sp>
      <p:sp>
        <p:nvSpPr>
          <p:cNvPr id="51" name="Text 51"/>
          <p:cNvSpPr/>
          <p:nvPr/>
        </p:nvSpPr>
        <p:spPr>
          <a:xfrm>
            <a:off x="6263640" y="3995928"/>
            <a:ext cx="685800" cy="292608"/>
          </a:xfrm>
          <a:prstGeom prst="rect">
            <a:avLst/>
          </a:prstGeom>
          <a:noFill/>
          <a:ln/>
        </p:spPr>
        <p:txBody>
          <a:bodyPr wrap="square" lIns="0" tIns="0" rIns="0" bIns="0" rtlCol="0" anchor="ctr"/>
          <a:lstStyle/>
          <a:p>
            <a:pPr algn="r" indent="0" marL="0">
              <a:buNone/>
            </a:pPr>
            <a:r>
              <a:rPr lang="fr-FR" sz="900" dirty="0">
                <a:solidFill>
                  <a:srgbClr val="5F5F5F"/>
                </a:solidFill>
                <a:latin typeface="Calibri" pitchFamily="34" charset="0"/>
                <a:ea typeface="Calibri" pitchFamily="34" charset="-122"/>
                <a:cs typeface="Calibri" pitchFamily="34" charset="-120"/>
              </a:rPr>
              <a:t>450 €</a:t>
            </a:r>
            <a:endParaRPr lang="fr-FR" sz="900" dirty="0"/>
          </a:p>
        </p:txBody>
      </p:sp>
      <p:sp>
        <p:nvSpPr>
          <p:cNvPr id="52" name="Text 52"/>
          <p:cNvSpPr/>
          <p:nvPr/>
        </p:nvSpPr>
        <p:spPr>
          <a:xfrm>
            <a:off x="7040880" y="3995928"/>
            <a:ext cx="914400" cy="292608"/>
          </a:xfrm>
          <a:prstGeom prst="rect">
            <a:avLst/>
          </a:prstGeom>
          <a:noFill/>
          <a:ln/>
        </p:spPr>
        <p:txBody>
          <a:bodyPr wrap="square" lIns="0" tIns="0" rIns="0" bIns="0" rtlCol="0" anchor="ctr"/>
          <a:lstStyle/>
          <a:p>
            <a:pPr algn="r" indent="0" marL="0">
              <a:buNone/>
            </a:pPr>
            <a:r>
              <a:rPr lang="fr-FR" sz="1000" b="1" dirty="0">
                <a:solidFill>
                  <a:srgbClr val="1A3C29"/>
                </a:solidFill>
                <a:latin typeface="Calibri" pitchFamily="34" charset="0"/>
                <a:ea typeface="Calibri" pitchFamily="34" charset="-122"/>
                <a:cs typeface="Calibri" pitchFamily="34" charset="-120"/>
              </a:rPr>
              <a:t>5 400 €</a:t>
            </a:r>
            <a:endParaRPr lang="fr-FR" sz="1000" dirty="0"/>
          </a:p>
        </p:txBody>
      </p:sp>
      <p:sp>
        <p:nvSpPr>
          <p:cNvPr id="53" name="Shape 53"/>
          <p:cNvSpPr/>
          <p:nvPr/>
        </p:nvSpPr>
        <p:spPr>
          <a:xfrm>
            <a:off x="914400" y="4270248"/>
            <a:ext cx="7040880" cy="9144"/>
          </a:xfrm>
          <a:prstGeom prst="rect">
            <a:avLst/>
          </a:prstGeom>
          <a:solidFill>
            <a:srgbClr val="E3DCD1"/>
          </a:solidFill>
          <a:ln w="12700">
            <a:solidFill>
              <a:srgbClr val="E3DCD1"/>
            </a:solidFill>
            <a:prstDash val="solid"/>
          </a:ln>
        </p:spPr>
      </p:sp>
      <p:sp>
        <p:nvSpPr>
          <p:cNvPr id="54" name="Text 54"/>
          <p:cNvSpPr/>
          <p:nvPr/>
        </p:nvSpPr>
        <p:spPr>
          <a:xfrm>
            <a:off x="914400" y="4325112"/>
            <a:ext cx="3886200" cy="292608"/>
          </a:xfrm>
          <a:prstGeom prst="rect">
            <a:avLst/>
          </a:prstGeom>
          <a:noFill/>
          <a:ln/>
        </p:spPr>
        <p:txBody>
          <a:bodyPr wrap="square" lIns="0" tIns="0" rIns="0" bIns="0" rtlCol="0" anchor="ctr"/>
          <a:lstStyle/>
          <a:p>
            <a:pPr algn="l" indent="0" marL="0">
              <a:buNone/>
            </a:pPr>
            <a:r>
              <a:rPr lang="fr-FR" sz="950" dirty="0">
                <a:solidFill>
                  <a:srgbClr val="5F5F5F"/>
                </a:solidFill>
                <a:latin typeface="Calibri" pitchFamily="34" charset="0"/>
                <a:ea typeface="Calibri" pitchFamily="34" charset="-122"/>
                <a:cs typeface="Calibri" pitchFamily="34" charset="-120"/>
              </a:rPr>
              <a:t>Déploiement &amp; CI/CD (Docker, GitHub Actions)</a:t>
            </a:r>
            <a:endParaRPr lang="fr-FR" sz="950" dirty="0"/>
          </a:p>
        </p:txBody>
      </p:sp>
      <p:sp>
        <p:nvSpPr>
          <p:cNvPr id="55" name="Shape 55"/>
          <p:cNvSpPr/>
          <p:nvPr/>
        </p:nvSpPr>
        <p:spPr>
          <a:xfrm>
            <a:off x="4892040" y="4389120"/>
            <a:ext cx="566928" cy="182880"/>
          </a:xfrm>
          <a:prstGeom prst="roundRect">
            <a:avLst>
              <a:gd name="adj" fmla="val 25000"/>
            </a:avLst>
          </a:prstGeom>
          <a:solidFill>
            <a:srgbClr val="8AA595"/>
          </a:solidFill>
          <a:ln w="12700">
            <a:solidFill>
              <a:srgbClr val="8AA595"/>
            </a:solidFill>
            <a:prstDash val="solid"/>
          </a:ln>
        </p:spPr>
      </p:sp>
      <p:sp>
        <p:nvSpPr>
          <p:cNvPr id="56" name="Text 56"/>
          <p:cNvSpPr/>
          <p:nvPr/>
        </p:nvSpPr>
        <p:spPr>
          <a:xfrm>
            <a:off x="4892040" y="4379976"/>
            <a:ext cx="566928" cy="182880"/>
          </a:xfrm>
          <a:prstGeom prst="rect">
            <a:avLst/>
          </a:prstGeom>
          <a:noFill/>
          <a:ln/>
        </p:spPr>
        <p:txBody>
          <a:bodyPr wrap="square" lIns="0" tIns="0" rIns="0" bIns="0" rtlCol="0" anchor="ctr"/>
          <a:lstStyle/>
          <a:p>
            <a:pPr algn="ctr" indent="0" marL="0">
              <a:buNone/>
            </a:pPr>
            <a:r>
              <a:rPr lang="fr-FR" sz="750" b="1" dirty="0">
                <a:solidFill>
                  <a:srgbClr val="FFFFFF"/>
                </a:solidFill>
                <a:latin typeface="Calibri" pitchFamily="34" charset="0"/>
                <a:ea typeface="Calibri" pitchFamily="34" charset="-122"/>
                <a:cs typeface="Calibri" pitchFamily="34" charset="-120"/>
              </a:rPr>
              <a:t>OPS</a:t>
            </a:r>
            <a:endParaRPr lang="fr-FR" sz="750" dirty="0"/>
          </a:p>
        </p:txBody>
      </p:sp>
      <p:sp>
        <p:nvSpPr>
          <p:cNvPr id="57" name="Text 57"/>
          <p:cNvSpPr/>
          <p:nvPr/>
        </p:nvSpPr>
        <p:spPr>
          <a:xfrm>
            <a:off x="5532120" y="4325112"/>
            <a:ext cx="548640" cy="292608"/>
          </a:xfrm>
          <a:prstGeom prst="rect">
            <a:avLst/>
          </a:prstGeom>
          <a:noFill/>
          <a:ln/>
        </p:spPr>
        <p:txBody>
          <a:bodyPr wrap="square" lIns="0" tIns="0" rIns="0" bIns="0" rtlCol="0" anchor="ctr"/>
          <a:lstStyle/>
          <a:p>
            <a:pPr algn="r" indent="0" marL="0">
              <a:buNone/>
            </a:pPr>
            <a:r>
              <a:rPr lang="fr-FR" sz="950" b="1" dirty="0">
                <a:solidFill>
                  <a:srgbClr val="1A3C29"/>
                </a:solidFill>
                <a:latin typeface="Calibri" pitchFamily="34" charset="0"/>
                <a:ea typeface="Calibri" pitchFamily="34" charset="-122"/>
                <a:cs typeface="Calibri" pitchFamily="34" charset="-120"/>
              </a:rPr>
              <a:t>9 j</a:t>
            </a:r>
            <a:endParaRPr lang="fr-FR" sz="950" dirty="0"/>
          </a:p>
        </p:txBody>
      </p:sp>
      <p:sp>
        <p:nvSpPr>
          <p:cNvPr id="58" name="Text 58"/>
          <p:cNvSpPr/>
          <p:nvPr/>
        </p:nvSpPr>
        <p:spPr>
          <a:xfrm>
            <a:off x="6263640" y="4325112"/>
            <a:ext cx="685800" cy="292608"/>
          </a:xfrm>
          <a:prstGeom prst="rect">
            <a:avLst/>
          </a:prstGeom>
          <a:noFill/>
          <a:ln/>
        </p:spPr>
        <p:txBody>
          <a:bodyPr wrap="square" lIns="0" tIns="0" rIns="0" bIns="0" rtlCol="0" anchor="ctr"/>
          <a:lstStyle/>
          <a:p>
            <a:pPr algn="r" indent="0" marL="0">
              <a:buNone/>
            </a:pPr>
            <a:r>
              <a:rPr lang="fr-FR" sz="900" dirty="0">
                <a:solidFill>
                  <a:srgbClr val="5F5F5F"/>
                </a:solidFill>
                <a:latin typeface="Calibri" pitchFamily="34" charset="0"/>
                <a:ea typeface="Calibri" pitchFamily="34" charset="-122"/>
                <a:cs typeface="Calibri" pitchFamily="34" charset="-120"/>
              </a:rPr>
              <a:t>550 €</a:t>
            </a:r>
            <a:endParaRPr lang="fr-FR" sz="900" dirty="0"/>
          </a:p>
        </p:txBody>
      </p:sp>
      <p:sp>
        <p:nvSpPr>
          <p:cNvPr id="59" name="Text 59"/>
          <p:cNvSpPr/>
          <p:nvPr/>
        </p:nvSpPr>
        <p:spPr>
          <a:xfrm>
            <a:off x="7040880" y="4325112"/>
            <a:ext cx="914400" cy="292608"/>
          </a:xfrm>
          <a:prstGeom prst="rect">
            <a:avLst/>
          </a:prstGeom>
          <a:noFill/>
          <a:ln/>
        </p:spPr>
        <p:txBody>
          <a:bodyPr wrap="square" lIns="0" tIns="0" rIns="0" bIns="0" rtlCol="0" anchor="ctr"/>
          <a:lstStyle/>
          <a:p>
            <a:pPr algn="r" indent="0" marL="0">
              <a:buNone/>
            </a:pPr>
            <a:r>
              <a:rPr lang="fr-FR" sz="1000" b="1" dirty="0">
                <a:solidFill>
                  <a:srgbClr val="1A3C29"/>
                </a:solidFill>
                <a:latin typeface="Calibri" pitchFamily="34" charset="0"/>
                <a:ea typeface="Calibri" pitchFamily="34" charset="-122"/>
                <a:cs typeface="Calibri" pitchFamily="34" charset="-120"/>
              </a:rPr>
              <a:t>4 950 €</a:t>
            </a:r>
            <a:endParaRPr lang="fr-FR" sz="1000" dirty="0"/>
          </a:p>
        </p:txBody>
      </p:sp>
      <p:sp>
        <p:nvSpPr>
          <p:cNvPr id="60" name="Shape 60"/>
          <p:cNvSpPr/>
          <p:nvPr/>
        </p:nvSpPr>
        <p:spPr>
          <a:xfrm>
            <a:off x="914400" y="4599432"/>
            <a:ext cx="7040880" cy="9144"/>
          </a:xfrm>
          <a:prstGeom prst="rect">
            <a:avLst/>
          </a:prstGeom>
          <a:solidFill>
            <a:srgbClr val="E3DCD1"/>
          </a:solidFill>
          <a:ln w="12700">
            <a:solidFill>
              <a:srgbClr val="E3DCD1"/>
            </a:solidFill>
            <a:prstDash val="solid"/>
          </a:ln>
        </p:spPr>
      </p:sp>
      <p:sp>
        <p:nvSpPr>
          <p:cNvPr id="61" name="Text 61"/>
          <p:cNvSpPr/>
          <p:nvPr/>
        </p:nvSpPr>
        <p:spPr>
          <a:xfrm>
            <a:off x="914400" y="4654296"/>
            <a:ext cx="3886200" cy="292608"/>
          </a:xfrm>
          <a:prstGeom prst="rect">
            <a:avLst/>
          </a:prstGeom>
          <a:noFill/>
          <a:ln/>
        </p:spPr>
        <p:txBody>
          <a:bodyPr wrap="square" lIns="0" tIns="0" rIns="0" bIns="0" rtlCol="0" anchor="ctr"/>
          <a:lstStyle/>
          <a:p>
            <a:pPr algn="l" indent="0" marL="0">
              <a:buNone/>
            </a:pPr>
            <a:r>
              <a:rPr lang="fr-FR" sz="950" dirty="0">
                <a:solidFill>
                  <a:srgbClr val="5F5F5F"/>
                </a:solidFill>
                <a:latin typeface="Calibri" pitchFamily="34" charset="0"/>
                <a:ea typeface="Calibri" pitchFamily="34" charset="-122"/>
                <a:cs typeface="Calibri" pitchFamily="34" charset="-120"/>
              </a:rPr>
              <a:t>Sécurisation &amp; conformité RGPD</a:t>
            </a:r>
            <a:endParaRPr lang="fr-FR" sz="950" dirty="0"/>
          </a:p>
        </p:txBody>
      </p:sp>
      <p:sp>
        <p:nvSpPr>
          <p:cNvPr id="62" name="Shape 62"/>
          <p:cNvSpPr/>
          <p:nvPr/>
        </p:nvSpPr>
        <p:spPr>
          <a:xfrm>
            <a:off x="4892040" y="4718304"/>
            <a:ext cx="566928" cy="182880"/>
          </a:xfrm>
          <a:prstGeom prst="roundRect">
            <a:avLst>
              <a:gd name="adj" fmla="val 25000"/>
            </a:avLst>
          </a:prstGeom>
          <a:solidFill>
            <a:srgbClr val="8AA595"/>
          </a:solidFill>
          <a:ln w="12700">
            <a:solidFill>
              <a:srgbClr val="8AA595"/>
            </a:solidFill>
            <a:prstDash val="solid"/>
          </a:ln>
        </p:spPr>
      </p:sp>
      <p:sp>
        <p:nvSpPr>
          <p:cNvPr id="63" name="Text 63"/>
          <p:cNvSpPr/>
          <p:nvPr/>
        </p:nvSpPr>
        <p:spPr>
          <a:xfrm>
            <a:off x="4892040" y="4709160"/>
            <a:ext cx="566928" cy="182880"/>
          </a:xfrm>
          <a:prstGeom prst="rect">
            <a:avLst/>
          </a:prstGeom>
          <a:noFill/>
          <a:ln/>
        </p:spPr>
        <p:txBody>
          <a:bodyPr wrap="square" lIns="0" tIns="0" rIns="0" bIns="0" rtlCol="0" anchor="ctr"/>
          <a:lstStyle/>
          <a:p>
            <a:pPr algn="ctr" indent="0" marL="0">
              <a:buNone/>
            </a:pPr>
            <a:r>
              <a:rPr lang="fr-FR" sz="750" b="1" dirty="0">
                <a:solidFill>
                  <a:srgbClr val="FFFFFF"/>
                </a:solidFill>
                <a:latin typeface="Calibri" pitchFamily="34" charset="0"/>
                <a:ea typeface="Calibri" pitchFamily="34" charset="-122"/>
                <a:cs typeface="Calibri" pitchFamily="34" charset="-120"/>
              </a:rPr>
              <a:t>OPS</a:t>
            </a:r>
            <a:endParaRPr lang="fr-FR" sz="750" dirty="0"/>
          </a:p>
        </p:txBody>
      </p:sp>
      <p:sp>
        <p:nvSpPr>
          <p:cNvPr id="64" name="Text 64"/>
          <p:cNvSpPr/>
          <p:nvPr/>
        </p:nvSpPr>
        <p:spPr>
          <a:xfrm>
            <a:off x="5532120" y="4654296"/>
            <a:ext cx="548640" cy="292608"/>
          </a:xfrm>
          <a:prstGeom prst="rect">
            <a:avLst/>
          </a:prstGeom>
          <a:noFill/>
          <a:ln/>
        </p:spPr>
        <p:txBody>
          <a:bodyPr wrap="square" lIns="0" tIns="0" rIns="0" bIns="0" rtlCol="0" anchor="ctr"/>
          <a:lstStyle/>
          <a:p>
            <a:pPr algn="r" indent="0" marL="0">
              <a:buNone/>
            </a:pPr>
            <a:r>
              <a:rPr lang="fr-FR" sz="950" b="1" dirty="0">
                <a:solidFill>
                  <a:srgbClr val="1A3C29"/>
                </a:solidFill>
                <a:latin typeface="Calibri" pitchFamily="34" charset="0"/>
                <a:ea typeface="Calibri" pitchFamily="34" charset="-122"/>
                <a:cs typeface="Calibri" pitchFamily="34" charset="-120"/>
              </a:rPr>
              <a:t>6 j</a:t>
            </a:r>
            <a:endParaRPr lang="fr-FR" sz="950" dirty="0"/>
          </a:p>
        </p:txBody>
      </p:sp>
      <p:sp>
        <p:nvSpPr>
          <p:cNvPr id="65" name="Text 65"/>
          <p:cNvSpPr/>
          <p:nvPr/>
        </p:nvSpPr>
        <p:spPr>
          <a:xfrm>
            <a:off x="6263640" y="4654296"/>
            <a:ext cx="685800" cy="292608"/>
          </a:xfrm>
          <a:prstGeom prst="rect">
            <a:avLst/>
          </a:prstGeom>
          <a:noFill/>
          <a:ln/>
        </p:spPr>
        <p:txBody>
          <a:bodyPr wrap="square" lIns="0" tIns="0" rIns="0" bIns="0" rtlCol="0" anchor="ctr"/>
          <a:lstStyle/>
          <a:p>
            <a:pPr algn="r" indent="0" marL="0">
              <a:buNone/>
            </a:pPr>
            <a:r>
              <a:rPr lang="fr-FR" sz="900" dirty="0">
                <a:solidFill>
                  <a:srgbClr val="5F5F5F"/>
                </a:solidFill>
                <a:latin typeface="Calibri" pitchFamily="34" charset="0"/>
                <a:ea typeface="Calibri" pitchFamily="34" charset="-122"/>
                <a:cs typeface="Calibri" pitchFamily="34" charset="-120"/>
              </a:rPr>
              <a:t>550 €</a:t>
            </a:r>
            <a:endParaRPr lang="fr-FR" sz="900" dirty="0"/>
          </a:p>
        </p:txBody>
      </p:sp>
      <p:sp>
        <p:nvSpPr>
          <p:cNvPr id="66" name="Text 66"/>
          <p:cNvSpPr/>
          <p:nvPr/>
        </p:nvSpPr>
        <p:spPr>
          <a:xfrm>
            <a:off x="7040880" y="4654296"/>
            <a:ext cx="914400" cy="292608"/>
          </a:xfrm>
          <a:prstGeom prst="rect">
            <a:avLst/>
          </a:prstGeom>
          <a:noFill/>
          <a:ln/>
        </p:spPr>
        <p:txBody>
          <a:bodyPr wrap="square" lIns="0" tIns="0" rIns="0" bIns="0" rtlCol="0" anchor="ctr"/>
          <a:lstStyle/>
          <a:p>
            <a:pPr algn="r" indent="0" marL="0">
              <a:buNone/>
            </a:pPr>
            <a:r>
              <a:rPr lang="fr-FR" sz="1000" b="1" dirty="0">
                <a:solidFill>
                  <a:srgbClr val="1A3C29"/>
                </a:solidFill>
                <a:latin typeface="Calibri" pitchFamily="34" charset="0"/>
                <a:ea typeface="Calibri" pitchFamily="34" charset="-122"/>
                <a:cs typeface="Calibri" pitchFamily="34" charset="-120"/>
              </a:rPr>
              <a:t>3 300 €</a:t>
            </a:r>
            <a:endParaRPr lang="fr-FR" sz="1000" dirty="0"/>
          </a:p>
        </p:txBody>
      </p:sp>
      <p:sp>
        <p:nvSpPr>
          <p:cNvPr id="67" name="Shape 67"/>
          <p:cNvSpPr/>
          <p:nvPr/>
        </p:nvSpPr>
        <p:spPr>
          <a:xfrm>
            <a:off x="914400" y="4928616"/>
            <a:ext cx="7040880" cy="9144"/>
          </a:xfrm>
          <a:prstGeom prst="rect">
            <a:avLst/>
          </a:prstGeom>
          <a:solidFill>
            <a:srgbClr val="E3DCD1"/>
          </a:solidFill>
          <a:ln w="12700">
            <a:solidFill>
              <a:srgbClr val="E3DCD1"/>
            </a:solidFill>
            <a:prstDash val="solid"/>
          </a:ln>
        </p:spPr>
      </p:sp>
      <p:sp>
        <p:nvSpPr>
          <p:cNvPr id="68" name="Text 68"/>
          <p:cNvSpPr/>
          <p:nvPr/>
        </p:nvSpPr>
        <p:spPr>
          <a:xfrm>
            <a:off x="914400" y="4983480"/>
            <a:ext cx="3886200" cy="292608"/>
          </a:xfrm>
          <a:prstGeom prst="rect">
            <a:avLst/>
          </a:prstGeom>
          <a:noFill/>
          <a:ln/>
        </p:spPr>
        <p:txBody>
          <a:bodyPr wrap="square" lIns="0" tIns="0" rIns="0" bIns="0" rtlCol="0" anchor="ctr"/>
          <a:lstStyle/>
          <a:p>
            <a:pPr algn="l" indent="0" marL="0">
              <a:buNone/>
            </a:pPr>
            <a:r>
              <a:rPr lang="fr-FR" sz="950" dirty="0">
                <a:solidFill>
                  <a:srgbClr val="5F5F5F"/>
                </a:solidFill>
                <a:latin typeface="Calibri" pitchFamily="34" charset="0"/>
                <a:ea typeface="Calibri" pitchFamily="34" charset="-122"/>
                <a:cs typeface="Calibri" pitchFamily="34" charset="-120"/>
              </a:rPr>
              <a:t>Documentation &amp; transfert de compétences</a:t>
            </a:r>
            <a:endParaRPr lang="fr-FR" sz="950" dirty="0"/>
          </a:p>
        </p:txBody>
      </p:sp>
      <p:sp>
        <p:nvSpPr>
          <p:cNvPr id="69" name="Shape 69"/>
          <p:cNvSpPr/>
          <p:nvPr/>
        </p:nvSpPr>
        <p:spPr>
          <a:xfrm>
            <a:off x="4892040" y="5047488"/>
            <a:ext cx="566928" cy="182880"/>
          </a:xfrm>
          <a:prstGeom prst="roundRect">
            <a:avLst>
              <a:gd name="adj" fmla="val 25000"/>
            </a:avLst>
          </a:prstGeom>
          <a:solidFill>
            <a:srgbClr val="C3612D"/>
          </a:solidFill>
          <a:ln w="12700">
            <a:solidFill>
              <a:srgbClr val="C3612D"/>
            </a:solidFill>
            <a:prstDash val="solid"/>
          </a:ln>
        </p:spPr>
      </p:sp>
      <p:sp>
        <p:nvSpPr>
          <p:cNvPr id="70" name="Text 70"/>
          <p:cNvSpPr/>
          <p:nvPr/>
        </p:nvSpPr>
        <p:spPr>
          <a:xfrm>
            <a:off x="4892040" y="5038344"/>
            <a:ext cx="566928" cy="182880"/>
          </a:xfrm>
          <a:prstGeom prst="rect">
            <a:avLst/>
          </a:prstGeom>
          <a:noFill/>
          <a:ln/>
        </p:spPr>
        <p:txBody>
          <a:bodyPr wrap="square" lIns="0" tIns="0" rIns="0" bIns="0" rtlCol="0" anchor="ctr"/>
          <a:lstStyle/>
          <a:p>
            <a:pPr algn="ctr" indent="0" marL="0">
              <a:buNone/>
            </a:pPr>
            <a:r>
              <a:rPr lang="fr-FR" sz="750" b="1" dirty="0">
                <a:solidFill>
                  <a:srgbClr val="FFFFFF"/>
                </a:solidFill>
                <a:latin typeface="Calibri" pitchFamily="34" charset="0"/>
                <a:ea typeface="Calibri" pitchFamily="34" charset="-122"/>
                <a:cs typeface="Calibri" pitchFamily="34" charset="-120"/>
              </a:rPr>
              <a:t>CP</a:t>
            </a:r>
            <a:endParaRPr lang="fr-FR" sz="750" dirty="0"/>
          </a:p>
        </p:txBody>
      </p:sp>
      <p:sp>
        <p:nvSpPr>
          <p:cNvPr id="71" name="Text 71"/>
          <p:cNvSpPr/>
          <p:nvPr/>
        </p:nvSpPr>
        <p:spPr>
          <a:xfrm>
            <a:off x="5532120" y="4983480"/>
            <a:ext cx="548640" cy="292608"/>
          </a:xfrm>
          <a:prstGeom prst="rect">
            <a:avLst/>
          </a:prstGeom>
          <a:noFill/>
          <a:ln/>
        </p:spPr>
        <p:txBody>
          <a:bodyPr wrap="square" lIns="0" tIns="0" rIns="0" bIns="0" rtlCol="0" anchor="ctr"/>
          <a:lstStyle/>
          <a:p>
            <a:pPr algn="r" indent="0" marL="0">
              <a:buNone/>
            </a:pPr>
            <a:r>
              <a:rPr lang="fr-FR" sz="950" b="1" dirty="0">
                <a:solidFill>
                  <a:srgbClr val="1A3C29"/>
                </a:solidFill>
                <a:latin typeface="Calibri" pitchFamily="34" charset="0"/>
                <a:ea typeface="Calibri" pitchFamily="34" charset="-122"/>
                <a:cs typeface="Calibri" pitchFamily="34" charset="-120"/>
              </a:rPr>
              <a:t>5 j</a:t>
            </a:r>
            <a:endParaRPr lang="fr-FR" sz="950" dirty="0"/>
          </a:p>
        </p:txBody>
      </p:sp>
      <p:sp>
        <p:nvSpPr>
          <p:cNvPr id="72" name="Text 72"/>
          <p:cNvSpPr/>
          <p:nvPr/>
        </p:nvSpPr>
        <p:spPr>
          <a:xfrm>
            <a:off x="6263640" y="4983480"/>
            <a:ext cx="685800" cy="292608"/>
          </a:xfrm>
          <a:prstGeom prst="rect">
            <a:avLst/>
          </a:prstGeom>
          <a:noFill/>
          <a:ln/>
        </p:spPr>
        <p:txBody>
          <a:bodyPr wrap="square" lIns="0" tIns="0" rIns="0" bIns="0" rtlCol="0" anchor="ctr"/>
          <a:lstStyle/>
          <a:p>
            <a:pPr algn="r" indent="0" marL="0">
              <a:buNone/>
            </a:pPr>
            <a:r>
              <a:rPr lang="fr-FR" sz="900" dirty="0">
                <a:solidFill>
                  <a:srgbClr val="5F5F5F"/>
                </a:solidFill>
                <a:latin typeface="Calibri" pitchFamily="34" charset="0"/>
                <a:ea typeface="Calibri" pitchFamily="34" charset="-122"/>
                <a:cs typeface="Calibri" pitchFamily="34" charset="-120"/>
              </a:rPr>
              <a:t>650 €</a:t>
            </a:r>
            <a:endParaRPr lang="fr-FR" sz="900" dirty="0"/>
          </a:p>
        </p:txBody>
      </p:sp>
      <p:sp>
        <p:nvSpPr>
          <p:cNvPr id="73" name="Text 73"/>
          <p:cNvSpPr/>
          <p:nvPr/>
        </p:nvSpPr>
        <p:spPr>
          <a:xfrm>
            <a:off x="7040880" y="4983480"/>
            <a:ext cx="914400" cy="292608"/>
          </a:xfrm>
          <a:prstGeom prst="rect">
            <a:avLst/>
          </a:prstGeom>
          <a:noFill/>
          <a:ln/>
        </p:spPr>
        <p:txBody>
          <a:bodyPr wrap="square" lIns="0" tIns="0" rIns="0" bIns="0" rtlCol="0" anchor="ctr"/>
          <a:lstStyle/>
          <a:p>
            <a:pPr algn="r" indent="0" marL="0">
              <a:buNone/>
            </a:pPr>
            <a:r>
              <a:rPr lang="fr-FR" sz="1000" b="1" dirty="0">
                <a:solidFill>
                  <a:srgbClr val="1A3C29"/>
                </a:solidFill>
                <a:latin typeface="Calibri" pitchFamily="34" charset="0"/>
                <a:ea typeface="Calibri" pitchFamily="34" charset="-122"/>
                <a:cs typeface="Calibri" pitchFamily="34" charset="-120"/>
              </a:rPr>
              <a:t>3 250 €</a:t>
            </a:r>
            <a:endParaRPr lang="fr-FR" sz="1000" dirty="0"/>
          </a:p>
        </p:txBody>
      </p:sp>
      <p:sp>
        <p:nvSpPr>
          <p:cNvPr id="74" name="Shape 74"/>
          <p:cNvSpPr/>
          <p:nvPr/>
        </p:nvSpPr>
        <p:spPr>
          <a:xfrm>
            <a:off x="914400" y="5257800"/>
            <a:ext cx="7040880" cy="9144"/>
          </a:xfrm>
          <a:prstGeom prst="rect">
            <a:avLst/>
          </a:prstGeom>
          <a:solidFill>
            <a:srgbClr val="E3DCD1"/>
          </a:solidFill>
          <a:ln w="12700">
            <a:solidFill>
              <a:srgbClr val="E3DCD1"/>
            </a:solidFill>
            <a:prstDash val="solid"/>
          </a:ln>
        </p:spPr>
      </p:sp>
      <p:sp>
        <p:nvSpPr>
          <p:cNvPr id="75" name="Text 75"/>
          <p:cNvSpPr/>
          <p:nvPr/>
        </p:nvSpPr>
        <p:spPr>
          <a:xfrm>
            <a:off x="914400" y="5312664"/>
            <a:ext cx="3886200" cy="292608"/>
          </a:xfrm>
          <a:prstGeom prst="rect">
            <a:avLst/>
          </a:prstGeom>
          <a:noFill/>
          <a:ln/>
        </p:spPr>
        <p:txBody>
          <a:bodyPr wrap="square" lIns="0" tIns="0" rIns="0" bIns="0" rtlCol="0" anchor="ctr"/>
          <a:lstStyle/>
          <a:p>
            <a:pPr algn="l" indent="0" marL="0">
              <a:buNone/>
            </a:pPr>
            <a:r>
              <a:rPr lang="fr-FR" sz="950" dirty="0">
                <a:solidFill>
                  <a:srgbClr val="5F5F5F"/>
                </a:solidFill>
                <a:latin typeface="Calibri" pitchFamily="34" charset="0"/>
                <a:ea typeface="Calibri" pitchFamily="34" charset="-122"/>
                <a:cs typeface="Calibri" pitchFamily="34" charset="-120"/>
              </a:rPr>
              <a:t>Pilotage, comités de suivi &amp; recette client</a:t>
            </a:r>
            <a:endParaRPr lang="fr-FR" sz="950" dirty="0"/>
          </a:p>
        </p:txBody>
      </p:sp>
      <p:sp>
        <p:nvSpPr>
          <p:cNvPr id="76" name="Shape 76"/>
          <p:cNvSpPr/>
          <p:nvPr/>
        </p:nvSpPr>
        <p:spPr>
          <a:xfrm>
            <a:off x="4892040" y="5376672"/>
            <a:ext cx="566928" cy="182880"/>
          </a:xfrm>
          <a:prstGeom prst="roundRect">
            <a:avLst>
              <a:gd name="adj" fmla="val 25000"/>
            </a:avLst>
          </a:prstGeom>
          <a:solidFill>
            <a:srgbClr val="C3612D"/>
          </a:solidFill>
          <a:ln w="12700">
            <a:solidFill>
              <a:srgbClr val="C3612D"/>
            </a:solidFill>
            <a:prstDash val="solid"/>
          </a:ln>
        </p:spPr>
      </p:sp>
      <p:sp>
        <p:nvSpPr>
          <p:cNvPr id="77" name="Text 77"/>
          <p:cNvSpPr/>
          <p:nvPr/>
        </p:nvSpPr>
        <p:spPr>
          <a:xfrm>
            <a:off x="4892040" y="5367528"/>
            <a:ext cx="566928" cy="182880"/>
          </a:xfrm>
          <a:prstGeom prst="rect">
            <a:avLst/>
          </a:prstGeom>
          <a:noFill/>
          <a:ln/>
        </p:spPr>
        <p:txBody>
          <a:bodyPr wrap="square" lIns="0" tIns="0" rIns="0" bIns="0" rtlCol="0" anchor="ctr"/>
          <a:lstStyle/>
          <a:p>
            <a:pPr algn="ctr" indent="0" marL="0">
              <a:buNone/>
            </a:pPr>
            <a:r>
              <a:rPr lang="fr-FR" sz="750" b="1" dirty="0">
                <a:solidFill>
                  <a:srgbClr val="FFFFFF"/>
                </a:solidFill>
                <a:latin typeface="Calibri" pitchFamily="34" charset="0"/>
                <a:ea typeface="Calibri" pitchFamily="34" charset="-122"/>
                <a:cs typeface="Calibri" pitchFamily="34" charset="-120"/>
              </a:rPr>
              <a:t>CP</a:t>
            </a:r>
            <a:endParaRPr lang="fr-FR" sz="750" dirty="0"/>
          </a:p>
        </p:txBody>
      </p:sp>
      <p:sp>
        <p:nvSpPr>
          <p:cNvPr id="78" name="Text 78"/>
          <p:cNvSpPr/>
          <p:nvPr/>
        </p:nvSpPr>
        <p:spPr>
          <a:xfrm>
            <a:off x="5532120" y="5312664"/>
            <a:ext cx="548640" cy="292608"/>
          </a:xfrm>
          <a:prstGeom prst="rect">
            <a:avLst/>
          </a:prstGeom>
          <a:noFill/>
          <a:ln/>
        </p:spPr>
        <p:txBody>
          <a:bodyPr wrap="square" lIns="0" tIns="0" rIns="0" bIns="0" rtlCol="0" anchor="ctr"/>
          <a:lstStyle/>
          <a:p>
            <a:pPr algn="r" indent="0" marL="0">
              <a:buNone/>
            </a:pPr>
            <a:r>
              <a:rPr lang="fr-FR" sz="950" b="1" dirty="0">
                <a:solidFill>
                  <a:srgbClr val="1A3C29"/>
                </a:solidFill>
                <a:latin typeface="Calibri" pitchFamily="34" charset="0"/>
                <a:ea typeface="Calibri" pitchFamily="34" charset="-122"/>
                <a:cs typeface="Calibri" pitchFamily="34" charset="-120"/>
              </a:rPr>
              <a:t>8 j</a:t>
            </a:r>
            <a:endParaRPr lang="fr-FR" sz="950" dirty="0"/>
          </a:p>
        </p:txBody>
      </p:sp>
      <p:sp>
        <p:nvSpPr>
          <p:cNvPr id="79" name="Text 79"/>
          <p:cNvSpPr/>
          <p:nvPr/>
        </p:nvSpPr>
        <p:spPr>
          <a:xfrm>
            <a:off x="6263640" y="5312664"/>
            <a:ext cx="685800" cy="292608"/>
          </a:xfrm>
          <a:prstGeom prst="rect">
            <a:avLst/>
          </a:prstGeom>
          <a:noFill/>
          <a:ln/>
        </p:spPr>
        <p:txBody>
          <a:bodyPr wrap="square" lIns="0" tIns="0" rIns="0" bIns="0" rtlCol="0" anchor="ctr"/>
          <a:lstStyle/>
          <a:p>
            <a:pPr algn="r" indent="0" marL="0">
              <a:buNone/>
            </a:pPr>
            <a:r>
              <a:rPr lang="fr-FR" sz="900" dirty="0">
                <a:solidFill>
                  <a:srgbClr val="5F5F5F"/>
                </a:solidFill>
                <a:latin typeface="Calibri" pitchFamily="34" charset="0"/>
                <a:ea typeface="Calibri" pitchFamily="34" charset="-122"/>
                <a:cs typeface="Calibri" pitchFamily="34" charset="-120"/>
              </a:rPr>
              <a:t>650 €</a:t>
            </a:r>
            <a:endParaRPr lang="fr-FR" sz="900" dirty="0"/>
          </a:p>
        </p:txBody>
      </p:sp>
      <p:sp>
        <p:nvSpPr>
          <p:cNvPr id="80" name="Text 80"/>
          <p:cNvSpPr/>
          <p:nvPr/>
        </p:nvSpPr>
        <p:spPr>
          <a:xfrm>
            <a:off x="7040880" y="5312664"/>
            <a:ext cx="914400" cy="292608"/>
          </a:xfrm>
          <a:prstGeom prst="rect">
            <a:avLst/>
          </a:prstGeom>
          <a:noFill/>
          <a:ln/>
        </p:spPr>
        <p:txBody>
          <a:bodyPr wrap="square" lIns="0" tIns="0" rIns="0" bIns="0" rtlCol="0" anchor="ctr"/>
          <a:lstStyle/>
          <a:p>
            <a:pPr algn="r" indent="0" marL="0">
              <a:buNone/>
            </a:pPr>
            <a:r>
              <a:rPr lang="fr-FR" sz="1000" b="1" dirty="0">
                <a:solidFill>
                  <a:srgbClr val="1A3C29"/>
                </a:solidFill>
                <a:latin typeface="Calibri" pitchFamily="34" charset="0"/>
                <a:ea typeface="Calibri" pitchFamily="34" charset="-122"/>
                <a:cs typeface="Calibri" pitchFamily="34" charset="-120"/>
              </a:rPr>
              <a:t>5 200 €</a:t>
            </a:r>
            <a:endParaRPr lang="fr-FR" sz="1000" dirty="0"/>
          </a:p>
        </p:txBody>
      </p:sp>
      <p:sp>
        <p:nvSpPr>
          <p:cNvPr id="81" name="Shape 81"/>
          <p:cNvSpPr/>
          <p:nvPr/>
        </p:nvSpPr>
        <p:spPr>
          <a:xfrm>
            <a:off x="914400" y="5632704"/>
            <a:ext cx="7040880" cy="18288"/>
          </a:xfrm>
          <a:prstGeom prst="rect">
            <a:avLst/>
          </a:prstGeom>
          <a:solidFill>
            <a:srgbClr val="1A3C29"/>
          </a:solidFill>
          <a:ln w="12700">
            <a:solidFill>
              <a:srgbClr val="1A3C29"/>
            </a:solidFill>
            <a:prstDash val="solid"/>
          </a:ln>
        </p:spPr>
      </p:sp>
      <p:sp>
        <p:nvSpPr>
          <p:cNvPr id="82" name="Text 82"/>
          <p:cNvSpPr/>
          <p:nvPr/>
        </p:nvSpPr>
        <p:spPr>
          <a:xfrm>
            <a:off x="914400" y="5705856"/>
            <a:ext cx="4206240" cy="329184"/>
          </a:xfrm>
          <a:prstGeom prst="rect">
            <a:avLst/>
          </a:prstGeom>
          <a:noFill/>
          <a:ln/>
        </p:spPr>
        <p:txBody>
          <a:bodyPr wrap="square" lIns="0" tIns="0" rIns="0" bIns="0" rtlCol="0" anchor="ctr"/>
          <a:lstStyle/>
          <a:p>
            <a:pPr algn="l" indent="0" marL="0">
              <a:buNone/>
            </a:pPr>
            <a:r>
              <a:rPr lang="fr-FR" sz="1100" b="1" dirty="0">
                <a:solidFill>
                  <a:srgbClr val="1A3C29"/>
                </a:solidFill>
                <a:latin typeface="Calibri" pitchFamily="34" charset="0"/>
                <a:ea typeface="Calibri" pitchFamily="34" charset="-122"/>
                <a:cs typeface="Calibri" pitchFamily="34" charset="-120"/>
              </a:rPr>
              <a:t>TOTAL — enveloppe respectée</a:t>
            </a:r>
            <a:endParaRPr lang="fr-FR" sz="1100" dirty="0"/>
          </a:p>
        </p:txBody>
      </p:sp>
      <p:sp>
        <p:nvSpPr>
          <p:cNvPr id="83" name="Text 83"/>
          <p:cNvSpPr/>
          <p:nvPr/>
        </p:nvSpPr>
        <p:spPr>
          <a:xfrm>
            <a:off x="5532120" y="5705856"/>
            <a:ext cx="548640" cy="329184"/>
          </a:xfrm>
          <a:prstGeom prst="rect">
            <a:avLst/>
          </a:prstGeom>
          <a:noFill/>
          <a:ln/>
        </p:spPr>
        <p:txBody>
          <a:bodyPr wrap="square" lIns="0" tIns="0" rIns="0" bIns="0" rtlCol="0" anchor="ctr"/>
          <a:lstStyle/>
          <a:p>
            <a:pPr algn="r" indent="0" marL="0">
              <a:buNone/>
            </a:pPr>
            <a:r>
              <a:rPr lang="fr-FR" sz="1100" b="1" dirty="0">
                <a:solidFill>
                  <a:srgbClr val="1A3C29"/>
                </a:solidFill>
                <a:latin typeface="Calibri" pitchFamily="34" charset="0"/>
                <a:ea typeface="Calibri" pitchFamily="34" charset="-122"/>
                <a:cs typeface="Calibri" pitchFamily="34" charset="-120"/>
              </a:rPr>
              <a:t>142 j</a:t>
            </a:r>
            <a:endParaRPr lang="fr-FR" sz="1100" dirty="0"/>
          </a:p>
        </p:txBody>
      </p:sp>
      <p:sp>
        <p:nvSpPr>
          <p:cNvPr id="84" name="Text 84"/>
          <p:cNvSpPr/>
          <p:nvPr/>
        </p:nvSpPr>
        <p:spPr>
          <a:xfrm>
            <a:off x="7040880" y="5705856"/>
            <a:ext cx="914400" cy="329184"/>
          </a:xfrm>
          <a:prstGeom prst="rect">
            <a:avLst/>
          </a:prstGeom>
          <a:noFill/>
          <a:ln/>
        </p:spPr>
        <p:txBody>
          <a:bodyPr wrap="square" lIns="0" tIns="0" rIns="0" bIns="0" rtlCol="0" anchor="ctr"/>
          <a:lstStyle/>
          <a:p>
            <a:pPr algn="r" indent="0" marL="0">
              <a:buNone/>
            </a:pPr>
            <a:r>
              <a:rPr lang="fr-FR" sz="1150" b="1" dirty="0">
                <a:solidFill>
                  <a:srgbClr val="C3612D"/>
                </a:solidFill>
                <a:latin typeface="Calibri" pitchFamily="34" charset="0"/>
                <a:ea typeface="Calibri" pitchFamily="34" charset="-122"/>
                <a:cs typeface="Calibri" pitchFamily="34" charset="-120"/>
              </a:rPr>
              <a:t>70 000 €</a:t>
            </a:r>
            <a:endParaRPr lang="fr-FR" sz="1150" dirty="0"/>
          </a:p>
        </p:txBody>
      </p:sp>
      <p:sp>
        <p:nvSpPr>
          <p:cNvPr id="85" name="Shape 85"/>
          <p:cNvSpPr/>
          <p:nvPr/>
        </p:nvSpPr>
        <p:spPr>
          <a:xfrm>
            <a:off x="8503920" y="1874520"/>
            <a:ext cx="3017520" cy="1600200"/>
          </a:xfrm>
          <a:prstGeom prst="roundRect">
            <a:avLst>
              <a:gd name="adj" fmla="val 2727"/>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86" name="Shape 86"/>
          <p:cNvSpPr/>
          <p:nvPr/>
        </p:nvSpPr>
        <p:spPr>
          <a:xfrm>
            <a:off x="8503920" y="1874520"/>
            <a:ext cx="82296" cy="1600200"/>
          </a:xfrm>
          <a:prstGeom prst="rect">
            <a:avLst/>
          </a:prstGeom>
          <a:solidFill>
            <a:srgbClr val="C3612D"/>
          </a:solidFill>
          <a:ln w="12700">
            <a:solidFill>
              <a:srgbClr val="C3612D"/>
            </a:solidFill>
            <a:prstDash val="solid"/>
          </a:ln>
        </p:spPr>
      </p:sp>
      <p:sp>
        <p:nvSpPr>
          <p:cNvPr id="87" name="Text 87"/>
          <p:cNvSpPr/>
          <p:nvPr/>
        </p:nvSpPr>
        <p:spPr>
          <a:xfrm>
            <a:off x="8778240" y="2029968"/>
            <a:ext cx="2468880" cy="274320"/>
          </a:xfrm>
          <a:prstGeom prst="rect">
            <a:avLst/>
          </a:prstGeom>
          <a:noFill/>
          <a:ln/>
        </p:spPr>
        <p:txBody>
          <a:bodyPr wrap="square" lIns="0" tIns="0" rIns="0" bIns="0" rtlCol="0" anchor="ctr"/>
          <a:lstStyle/>
          <a:p>
            <a:pPr algn="l" indent="0" marL="0">
              <a:buNone/>
            </a:pPr>
            <a:r>
              <a:rPr lang="fr-FR" sz="1100" b="1" dirty="0">
                <a:solidFill>
                  <a:srgbClr val="1A3C29"/>
                </a:solidFill>
                <a:latin typeface="Calibri" pitchFamily="34" charset="0"/>
                <a:ea typeface="Calibri" pitchFamily="34" charset="-122"/>
                <a:cs typeface="Calibri" pitchFamily="34" charset="-120"/>
              </a:rPr>
              <a:t>Taux journaliers</a:t>
            </a:r>
            <a:endParaRPr lang="fr-FR" sz="1100" dirty="0"/>
          </a:p>
        </p:txBody>
      </p:sp>
      <p:sp>
        <p:nvSpPr>
          <p:cNvPr id="88" name="Text 88"/>
          <p:cNvSpPr/>
          <p:nvPr/>
        </p:nvSpPr>
        <p:spPr>
          <a:xfrm>
            <a:off x="8778240" y="2395728"/>
            <a:ext cx="1737360" cy="274320"/>
          </a:xfrm>
          <a:prstGeom prst="rect">
            <a:avLst/>
          </a:prstGeom>
          <a:noFill/>
          <a:ln/>
        </p:spPr>
        <p:txBody>
          <a:bodyPr wrap="square" lIns="0" tIns="0" rIns="0" bIns="0" rtlCol="0" anchor="ctr"/>
          <a:lstStyle/>
          <a:p>
            <a:pPr algn="l" indent="0" marL="0">
              <a:buNone/>
            </a:pPr>
            <a:r>
              <a:rPr lang="fr-FR" sz="950" dirty="0">
                <a:solidFill>
                  <a:srgbClr val="5F5F5F"/>
                </a:solidFill>
                <a:latin typeface="Calibri" pitchFamily="34" charset="0"/>
                <a:ea typeface="Calibri" pitchFamily="34" charset="-122"/>
                <a:cs typeface="Calibri" pitchFamily="34" charset="-120"/>
              </a:rPr>
              <a:t>Chef de projet</a:t>
            </a:r>
            <a:endParaRPr lang="fr-FR" sz="950" dirty="0"/>
          </a:p>
        </p:txBody>
      </p:sp>
      <p:sp>
        <p:nvSpPr>
          <p:cNvPr id="89" name="Text 89"/>
          <p:cNvSpPr/>
          <p:nvPr/>
        </p:nvSpPr>
        <p:spPr>
          <a:xfrm>
            <a:off x="10515600" y="2395728"/>
            <a:ext cx="731520" cy="274320"/>
          </a:xfrm>
          <a:prstGeom prst="rect">
            <a:avLst/>
          </a:prstGeom>
          <a:noFill/>
          <a:ln/>
        </p:spPr>
        <p:txBody>
          <a:bodyPr wrap="square" lIns="0" tIns="0" rIns="0" bIns="0" rtlCol="0" anchor="ctr"/>
          <a:lstStyle/>
          <a:p>
            <a:pPr algn="r" indent="0" marL="0">
              <a:buNone/>
            </a:pPr>
            <a:r>
              <a:rPr lang="fr-FR" sz="950" b="1" dirty="0">
                <a:solidFill>
                  <a:srgbClr val="1A3C29"/>
                </a:solidFill>
                <a:latin typeface="Calibri" pitchFamily="34" charset="0"/>
                <a:ea typeface="Calibri" pitchFamily="34" charset="-122"/>
                <a:cs typeface="Calibri" pitchFamily="34" charset="-120"/>
              </a:rPr>
              <a:t>650 €</a:t>
            </a:r>
            <a:endParaRPr lang="fr-FR" sz="950" dirty="0"/>
          </a:p>
        </p:txBody>
      </p:sp>
      <p:sp>
        <p:nvSpPr>
          <p:cNvPr id="90" name="Text 90"/>
          <p:cNvSpPr/>
          <p:nvPr/>
        </p:nvSpPr>
        <p:spPr>
          <a:xfrm>
            <a:off x="8778240" y="2706624"/>
            <a:ext cx="1737360" cy="274320"/>
          </a:xfrm>
          <a:prstGeom prst="rect">
            <a:avLst/>
          </a:prstGeom>
          <a:noFill/>
          <a:ln/>
        </p:spPr>
        <p:txBody>
          <a:bodyPr wrap="square" lIns="0" tIns="0" rIns="0" bIns="0" rtlCol="0" anchor="ctr"/>
          <a:lstStyle/>
          <a:p>
            <a:pPr algn="l" indent="0" marL="0">
              <a:buNone/>
            </a:pPr>
            <a:r>
              <a:rPr lang="fr-FR" sz="950" dirty="0">
                <a:solidFill>
                  <a:srgbClr val="5F5F5F"/>
                </a:solidFill>
                <a:latin typeface="Calibri" pitchFamily="34" charset="0"/>
                <a:ea typeface="Calibri" pitchFamily="34" charset="-122"/>
                <a:cs typeface="Calibri" pitchFamily="34" charset="-120"/>
              </a:rPr>
              <a:t>Développeur</a:t>
            </a:r>
            <a:endParaRPr lang="fr-FR" sz="950" dirty="0"/>
          </a:p>
        </p:txBody>
      </p:sp>
      <p:sp>
        <p:nvSpPr>
          <p:cNvPr id="91" name="Text 91"/>
          <p:cNvSpPr/>
          <p:nvPr/>
        </p:nvSpPr>
        <p:spPr>
          <a:xfrm>
            <a:off x="10515600" y="2706624"/>
            <a:ext cx="731520" cy="274320"/>
          </a:xfrm>
          <a:prstGeom prst="rect">
            <a:avLst/>
          </a:prstGeom>
          <a:noFill/>
          <a:ln/>
        </p:spPr>
        <p:txBody>
          <a:bodyPr wrap="square" lIns="0" tIns="0" rIns="0" bIns="0" rtlCol="0" anchor="ctr"/>
          <a:lstStyle/>
          <a:p>
            <a:pPr algn="r" indent="0" marL="0">
              <a:buNone/>
            </a:pPr>
            <a:r>
              <a:rPr lang="fr-FR" sz="950" b="1" dirty="0">
                <a:solidFill>
                  <a:srgbClr val="1A3C29"/>
                </a:solidFill>
                <a:latin typeface="Calibri" pitchFamily="34" charset="0"/>
                <a:ea typeface="Calibri" pitchFamily="34" charset="-122"/>
                <a:cs typeface="Calibri" pitchFamily="34" charset="-120"/>
              </a:rPr>
              <a:t>450 €</a:t>
            </a:r>
            <a:endParaRPr lang="fr-FR" sz="950" dirty="0"/>
          </a:p>
        </p:txBody>
      </p:sp>
      <p:sp>
        <p:nvSpPr>
          <p:cNvPr id="92" name="Text 92"/>
          <p:cNvSpPr/>
          <p:nvPr/>
        </p:nvSpPr>
        <p:spPr>
          <a:xfrm>
            <a:off x="8778240" y="3017520"/>
            <a:ext cx="1737360" cy="274320"/>
          </a:xfrm>
          <a:prstGeom prst="rect">
            <a:avLst/>
          </a:prstGeom>
          <a:noFill/>
          <a:ln/>
        </p:spPr>
        <p:txBody>
          <a:bodyPr wrap="square" lIns="0" tIns="0" rIns="0" bIns="0" rtlCol="0" anchor="ctr"/>
          <a:lstStyle/>
          <a:p>
            <a:pPr algn="l" indent="0" marL="0">
              <a:buNone/>
            </a:pPr>
            <a:r>
              <a:rPr lang="fr-FR" sz="950" dirty="0">
                <a:solidFill>
                  <a:srgbClr val="5F5F5F"/>
                </a:solidFill>
                <a:latin typeface="Calibri" pitchFamily="34" charset="0"/>
                <a:ea typeface="Calibri" pitchFamily="34" charset="-122"/>
                <a:cs typeface="Calibri" pitchFamily="34" charset="-120"/>
              </a:rPr>
              <a:t>DevOps / sécurité</a:t>
            </a:r>
            <a:endParaRPr lang="fr-FR" sz="950" dirty="0"/>
          </a:p>
        </p:txBody>
      </p:sp>
      <p:sp>
        <p:nvSpPr>
          <p:cNvPr id="93" name="Text 93"/>
          <p:cNvSpPr/>
          <p:nvPr/>
        </p:nvSpPr>
        <p:spPr>
          <a:xfrm>
            <a:off x="10515600" y="3017520"/>
            <a:ext cx="731520" cy="274320"/>
          </a:xfrm>
          <a:prstGeom prst="rect">
            <a:avLst/>
          </a:prstGeom>
          <a:noFill/>
          <a:ln/>
        </p:spPr>
        <p:txBody>
          <a:bodyPr wrap="square" lIns="0" tIns="0" rIns="0" bIns="0" rtlCol="0" anchor="ctr"/>
          <a:lstStyle/>
          <a:p>
            <a:pPr algn="r" indent="0" marL="0">
              <a:buNone/>
            </a:pPr>
            <a:r>
              <a:rPr lang="fr-FR" sz="950" b="1" dirty="0">
                <a:solidFill>
                  <a:srgbClr val="1A3C29"/>
                </a:solidFill>
                <a:latin typeface="Calibri" pitchFamily="34" charset="0"/>
                <a:ea typeface="Calibri" pitchFamily="34" charset="-122"/>
                <a:cs typeface="Calibri" pitchFamily="34" charset="-120"/>
              </a:rPr>
              <a:t>550 €</a:t>
            </a:r>
            <a:endParaRPr lang="fr-FR" sz="950" dirty="0"/>
          </a:p>
        </p:txBody>
      </p:sp>
      <p:sp>
        <p:nvSpPr>
          <p:cNvPr id="94" name="Shape 94"/>
          <p:cNvSpPr/>
          <p:nvPr/>
        </p:nvSpPr>
        <p:spPr>
          <a:xfrm>
            <a:off x="8503920" y="3611880"/>
            <a:ext cx="3017520" cy="1600200"/>
          </a:xfrm>
          <a:prstGeom prst="roundRect">
            <a:avLst>
              <a:gd name="adj" fmla="val 2727"/>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95" name="Shape 95"/>
          <p:cNvSpPr/>
          <p:nvPr/>
        </p:nvSpPr>
        <p:spPr>
          <a:xfrm>
            <a:off x="8503920" y="3611880"/>
            <a:ext cx="82296" cy="1600200"/>
          </a:xfrm>
          <a:prstGeom prst="rect">
            <a:avLst/>
          </a:prstGeom>
          <a:solidFill>
            <a:srgbClr val="1A3C29"/>
          </a:solidFill>
          <a:ln w="12700">
            <a:solidFill>
              <a:srgbClr val="1A3C29"/>
            </a:solidFill>
            <a:prstDash val="solid"/>
          </a:ln>
        </p:spPr>
      </p:sp>
      <p:sp>
        <p:nvSpPr>
          <p:cNvPr id="96" name="Text 96"/>
          <p:cNvSpPr/>
          <p:nvPr/>
        </p:nvSpPr>
        <p:spPr>
          <a:xfrm>
            <a:off x="8778240" y="3767328"/>
            <a:ext cx="2468880" cy="274320"/>
          </a:xfrm>
          <a:prstGeom prst="rect">
            <a:avLst/>
          </a:prstGeom>
          <a:noFill/>
          <a:ln/>
        </p:spPr>
        <p:txBody>
          <a:bodyPr wrap="square" lIns="0" tIns="0" rIns="0" bIns="0" rtlCol="0" anchor="ctr"/>
          <a:lstStyle/>
          <a:p>
            <a:pPr algn="l" indent="0" marL="0">
              <a:buNone/>
            </a:pPr>
            <a:r>
              <a:rPr lang="fr-FR" sz="1100" b="1" dirty="0">
                <a:solidFill>
                  <a:srgbClr val="1A3C29"/>
                </a:solidFill>
                <a:latin typeface="Calibri" pitchFamily="34" charset="0"/>
                <a:ea typeface="Calibri" pitchFamily="34" charset="-122"/>
                <a:cs typeface="Calibri" pitchFamily="34" charset="-120"/>
              </a:rPr>
              <a:t>Répartition</a:t>
            </a:r>
            <a:endParaRPr lang="fr-FR" sz="1100" dirty="0"/>
          </a:p>
        </p:txBody>
      </p:sp>
      <p:sp>
        <p:nvSpPr>
          <p:cNvPr id="97" name="Text 97"/>
          <p:cNvSpPr/>
          <p:nvPr/>
        </p:nvSpPr>
        <p:spPr>
          <a:xfrm>
            <a:off x="8778240" y="4133088"/>
            <a:ext cx="1828800" cy="274320"/>
          </a:xfrm>
          <a:prstGeom prst="rect">
            <a:avLst/>
          </a:prstGeom>
          <a:noFill/>
          <a:ln/>
        </p:spPr>
        <p:txBody>
          <a:bodyPr wrap="square" lIns="0" tIns="0" rIns="0" bIns="0" rtlCol="0" anchor="ctr"/>
          <a:lstStyle/>
          <a:p>
            <a:pPr algn="l" indent="0" marL="0">
              <a:buNone/>
            </a:pPr>
            <a:r>
              <a:rPr lang="fr-FR" sz="950" dirty="0">
                <a:solidFill>
                  <a:srgbClr val="5F5F5F"/>
                </a:solidFill>
                <a:latin typeface="Calibri" pitchFamily="34" charset="0"/>
                <a:ea typeface="Calibri" pitchFamily="34" charset="-122"/>
                <a:cs typeface="Calibri" pitchFamily="34" charset="-120"/>
              </a:rPr>
              <a:t>Développement &amp; tests</a:t>
            </a:r>
            <a:endParaRPr lang="fr-FR" sz="950" dirty="0"/>
          </a:p>
        </p:txBody>
      </p:sp>
      <p:sp>
        <p:nvSpPr>
          <p:cNvPr id="98" name="Text 98"/>
          <p:cNvSpPr/>
          <p:nvPr/>
        </p:nvSpPr>
        <p:spPr>
          <a:xfrm>
            <a:off x="10607040" y="4133088"/>
            <a:ext cx="640080" cy="274320"/>
          </a:xfrm>
          <a:prstGeom prst="rect">
            <a:avLst/>
          </a:prstGeom>
          <a:noFill/>
          <a:ln/>
        </p:spPr>
        <p:txBody>
          <a:bodyPr wrap="square" lIns="0" tIns="0" rIns="0" bIns="0" rtlCol="0" anchor="ctr"/>
          <a:lstStyle/>
          <a:p>
            <a:pPr algn="r" indent="0" marL="0">
              <a:buNone/>
            </a:pPr>
            <a:r>
              <a:rPr lang="fr-FR" sz="950" b="1" dirty="0">
                <a:solidFill>
                  <a:srgbClr val="1A3C29"/>
                </a:solidFill>
                <a:latin typeface="Calibri" pitchFamily="34" charset="0"/>
                <a:ea typeface="Calibri" pitchFamily="34" charset="-122"/>
                <a:cs typeface="Calibri" pitchFamily="34" charset="-120"/>
              </a:rPr>
              <a:t>67 %</a:t>
            </a:r>
            <a:endParaRPr lang="fr-FR" sz="950" dirty="0"/>
          </a:p>
        </p:txBody>
      </p:sp>
      <p:sp>
        <p:nvSpPr>
          <p:cNvPr id="99" name="Text 99"/>
          <p:cNvSpPr/>
          <p:nvPr/>
        </p:nvSpPr>
        <p:spPr>
          <a:xfrm>
            <a:off x="8778240" y="4443984"/>
            <a:ext cx="1828800" cy="274320"/>
          </a:xfrm>
          <a:prstGeom prst="rect">
            <a:avLst/>
          </a:prstGeom>
          <a:noFill/>
          <a:ln/>
        </p:spPr>
        <p:txBody>
          <a:bodyPr wrap="square" lIns="0" tIns="0" rIns="0" bIns="0" rtlCol="0" anchor="ctr"/>
          <a:lstStyle/>
          <a:p>
            <a:pPr algn="l" indent="0" marL="0">
              <a:buNone/>
            </a:pPr>
            <a:r>
              <a:rPr lang="fr-FR" sz="950" dirty="0">
                <a:solidFill>
                  <a:srgbClr val="5F5F5F"/>
                </a:solidFill>
                <a:latin typeface="Calibri" pitchFamily="34" charset="0"/>
                <a:ea typeface="Calibri" pitchFamily="34" charset="-122"/>
                <a:cs typeface="Calibri" pitchFamily="34" charset="-120"/>
              </a:rPr>
              <a:t>Analyse &amp; pilotage</a:t>
            </a:r>
            <a:endParaRPr lang="fr-FR" sz="950" dirty="0"/>
          </a:p>
        </p:txBody>
      </p:sp>
      <p:sp>
        <p:nvSpPr>
          <p:cNvPr id="100" name="Text 100"/>
          <p:cNvSpPr/>
          <p:nvPr/>
        </p:nvSpPr>
        <p:spPr>
          <a:xfrm>
            <a:off x="10607040" y="4443984"/>
            <a:ext cx="640080" cy="274320"/>
          </a:xfrm>
          <a:prstGeom prst="rect">
            <a:avLst/>
          </a:prstGeom>
          <a:noFill/>
          <a:ln/>
        </p:spPr>
        <p:txBody>
          <a:bodyPr wrap="square" lIns="0" tIns="0" rIns="0" bIns="0" rtlCol="0" anchor="ctr"/>
          <a:lstStyle/>
          <a:p>
            <a:pPr algn="r" indent="0" marL="0">
              <a:buNone/>
            </a:pPr>
            <a:r>
              <a:rPr lang="fr-FR" sz="950" b="1" dirty="0">
                <a:solidFill>
                  <a:srgbClr val="1A3C29"/>
                </a:solidFill>
                <a:latin typeface="Calibri" pitchFamily="34" charset="0"/>
                <a:ea typeface="Calibri" pitchFamily="34" charset="-122"/>
                <a:cs typeface="Calibri" pitchFamily="34" charset="-120"/>
              </a:rPr>
              <a:t>21 %</a:t>
            </a:r>
            <a:endParaRPr lang="fr-FR" sz="950" dirty="0"/>
          </a:p>
        </p:txBody>
      </p:sp>
      <p:sp>
        <p:nvSpPr>
          <p:cNvPr id="101" name="Text 101"/>
          <p:cNvSpPr/>
          <p:nvPr/>
        </p:nvSpPr>
        <p:spPr>
          <a:xfrm>
            <a:off x="8778240" y="4754880"/>
            <a:ext cx="1828800" cy="274320"/>
          </a:xfrm>
          <a:prstGeom prst="rect">
            <a:avLst/>
          </a:prstGeom>
          <a:noFill/>
          <a:ln/>
        </p:spPr>
        <p:txBody>
          <a:bodyPr wrap="square" lIns="0" tIns="0" rIns="0" bIns="0" rtlCol="0" anchor="ctr"/>
          <a:lstStyle/>
          <a:p>
            <a:pPr algn="l" indent="0" marL="0">
              <a:buNone/>
            </a:pPr>
            <a:r>
              <a:rPr lang="fr-FR" sz="950" dirty="0">
                <a:solidFill>
                  <a:srgbClr val="5F5F5F"/>
                </a:solidFill>
                <a:latin typeface="Calibri" pitchFamily="34" charset="0"/>
                <a:ea typeface="Calibri" pitchFamily="34" charset="-122"/>
                <a:cs typeface="Calibri" pitchFamily="34" charset="-120"/>
              </a:rPr>
              <a:t>Déploiement &amp; sécurité</a:t>
            </a:r>
            <a:endParaRPr lang="fr-FR" sz="950" dirty="0"/>
          </a:p>
        </p:txBody>
      </p:sp>
      <p:sp>
        <p:nvSpPr>
          <p:cNvPr id="102" name="Text 102"/>
          <p:cNvSpPr/>
          <p:nvPr/>
        </p:nvSpPr>
        <p:spPr>
          <a:xfrm>
            <a:off x="10607040" y="4754880"/>
            <a:ext cx="640080" cy="274320"/>
          </a:xfrm>
          <a:prstGeom prst="rect">
            <a:avLst/>
          </a:prstGeom>
          <a:noFill/>
          <a:ln/>
        </p:spPr>
        <p:txBody>
          <a:bodyPr wrap="square" lIns="0" tIns="0" rIns="0" bIns="0" rtlCol="0" anchor="ctr"/>
          <a:lstStyle/>
          <a:p>
            <a:pPr algn="r" indent="0" marL="0">
              <a:buNone/>
            </a:pPr>
            <a:r>
              <a:rPr lang="fr-FR" sz="950" b="1" dirty="0">
                <a:solidFill>
                  <a:srgbClr val="1A3C29"/>
                </a:solidFill>
                <a:latin typeface="Calibri" pitchFamily="34" charset="0"/>
                <a:ea typeface="Calibri" pitchFamily="34" charset="-122"/>
                <a:cs typeface="Calibri" pitchFamily="34" charset="-120"/>
              </a:rPr>
              <a:t>12 %</a:t>
            </a:r>
            <a:endParaRPr lang="fr-FR" sz="950" dirty="0"/>
          </a:p>
        </p:txBody>
      </p:sp>
      <p:sp>
        <p:nvSpPr>
          <p:cNvPr id="103" name="Shape 103"/>
          <p:cNvSpPr/>
          <p:nvPr/>
        </p:nvSpPr>
        <p:spPr>
          <a:xfrm>
            <a:off x="8503920" y="5349240"/>
            <a:ext cx="3017520" cy="822960"/>
          </a:xfrm>
          <a:prstGeom prst="roundRect">
            <a:avLst>
              <a:gd name="adj" fmla="val 2727"/>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104" name="Shape 104"/>
          <p:cNvSpPr/>
          <p:nvPr/>
        </p:nvSpPr>
        <p:spPr>
          <a:xfrm>
            <a:off x="8503920" y="5349240"/>
            <a:ext cx="82296" cy="822960"/>
          </a:xfrm>
          <a:prstGeom prst="rect">
            <a:avLst/>
          </a:prstGeom>
          <a:solidFill>
            <a:srgbClr val="8AA595"/>
          </a:solidFill>
          <a:ln w="12700">
            <a:solidFill>
              <a:srgbClr val="8AA595"/>
            </a:solidFill>
            <a:prstDash val="solid"/>
          </a:ln>
        </p:spPr>
      </p:sp>
      <p:sp>
        <p:nvSpPr>
          <p:cNvPr id="105" name="Text 105"/>
          <p:cNvSpPr/>
          <p:nvPr/>
        </p:nvSpPr>
        <p:spPr>
          <a:xfrm>
            <a:off x="8778240" y="5468112"/>
            <a:ext cx="2468880" cy="256032"/>
          </a:xfrm>
          <a:prstGeom prst="rect">
            <a:avLst/>
          </a:prstGeom>
          <a:noFill/>
          <a:ln/>
        </p:spPr>
        <p:txBody>
          <a:bodyPr wrap="square" lIns="0" tIns="0" rIns="0" bIns="0" rtlCol="0" anchor="ctr"/>
          <a:lstStyle/>
          <a:p>
            <a:pPr algn="l" indent="0" marL="0">
              <a:buNone/>
            </a:pPr>
            <a:r>
              <a:rPr lang="fr-FR" sz="1100" b="1" dirty="0">
                <a:solidFill>
                  <a:srgbClr val="1A3C29"/>
                </a:solidFill>
                <a:latin typeface="Calibri" pitchFamily="34" charset="0"/>
                <a:ea typeface="Calibri" pitchFamily="34" charset="-122"/>
                <a:cs typeface="Calibri" pitchFamily="34" charset="-120"/>
              </a:rPr>
              <a:t>Hors enveloppe projet</a:t>
            </a:r>
            <a:endParaRPr lang="fr-FR" sz="1100" dirty="0"/>
          </a:p>
        </p:txBody>
      </p:sp>
      <p:sp>
        <p:nvSpPr>
          <p:cNvPr id="106" name="Text 106"/>
          <p:cNvSpPr/>
          <p:nvPr/>
        </p:nvSpPr>
        <p:spPr>
          <a:xfrm>
            <a:off x="8778240" y="5724144"/>
            <a:ext cx="2468880" cy="365760"/>
          </a:xfrm>
          <a:prstGeom prst="rect">
            <a:avLst/>
          </a:prstGeom>
          <a:noFill/>
          <a:ln/>
        </p:spPr>
        <p:txBody>
          <a:bodyPr wrap="square" lIns="0" tIns="0" rIns="0" bIns="0" rtlCol="0" anchor="ctr"/>
          <a:lstStyle/>
          <a:p>
            <a:pPr algn="l" indent="0" marL="0">
              <a:buNone/>
            </a:pPr>
            <a:r>
              <a:rPr lang="fr-FR" sz="850" dirty="0">
                <a:solidFill>
                  <a:srgbClr val="5F5F5F"/>
                </a:solidFill>
                <a:latin typeface="Calibri" pitchFamily="34" charset="0"/>
                <a:ea typeface="Calibri" pitchFamily="34" charset="-122"/>
                <a:cs typeface="Calibri" pitchFamily="34" charset="-120"/>
              </a:rPr>
              <a:t>Outils 0 € (GitHub, Jira, Docker) · hébergement ≈ 30 €/mois · maintenance au forfait</a:t>
            </a:r>
            <a:endParaRPr lang="fr-FR" sz="850" dirty="0"/>
          </a:p>
        </p:txBody>
      </p:sp>
      <p:sp>
        <p:nvSpPr>
          <p:cNvPr id="107" name="Shape 107"/>
          <p:cNvSpPr/>
          <p:nvPr/>
        </p:nvSpPr>
        <p:spPr>
          <a:xfrm>
            <a:off x="0" y="6355080"/>
            <a:ext cx="12188952" cy="502920"/>
          </a:xfrm>
          <a:prstGeom prst="rect">
            <a:avLst/>
          </a:prstGeom>
          <a:solidFill>
            <a:srgbClr val="1A3C29"/>
          </a:solidFill>
          <a:ln w="12700">
            <a:solidFill>
              <a:srgbClr val="1A3C29"/>
            </a:solidFill>
            <a:prstDash val="solid"/>
          </a:ln>
        </p:spPr>
      </p:sp>
      <p:sp>
        <p:nvSpPr>
          <p:cNvPr id="108" name="Text 108"/>
          <p:cNvSpPr/>
          <p:nvPr/>
        </p:nvSpPr>
        <p:spPr>
          <a:xfrm>
            <a:off x="502920" y="6382512"/>
            <a:ext cx="4572000" cy="237744"/>
          </a:xfrm>
          <a:prstGeom prst="rect">
            <a:avLst/>
          </a:prstGeom>
          <a:noFill/>
          <a:ln/>
        </p:spPr>
        <p:txBody>
          <a:bodyPr wrap="square" lIns="0" tIns="0" rIns="0" bIns="0" rtlCol="0" anchor="ctr"/>
          <a:lstStyle/>
          <a:p>
            <a:pPr algn="l" indent="0" marL="0">
              <a:buNone/>
            </a:pPr>
            <a:r>
              <a:rPr lang="fr-FR" sz="1000" b="1" dirty="0">
                <a:solidFill>
                  <a:srgbClr val="FFFFFF"/>
                </a:solidFill>
                <a:latin typeface="Calibri" pitchFamily="34" charset="0"/>
                <a:ea typeface="Calibri" pitchFamily="34" charset="-122"/>
                <a:cs typeface="Calibri" pitchFamily="34" charset="-120"/>
              </a:rPr>
              <a:t>RENOIR&amp;ALINE</a:t>
            </a:r>
            <a:endParaRPr lang="fr-FR" sz="1000" dirty="0"/>
          </a:p>
        </p:txBody>
      </p:sp>
      <p:sp>
        <p:nvSpPr>
          <p:cNvPr id="109" name="Text 109"/>
          <p:cNvSpPr/>
          <p:nvPr/>
        </p:nvSpPr>
        <p:spPr>
          <a:xfrm>
            <a:off x="502920" y="6601968"/>
            <a:ext cx="4572000" cy="182880"/>
          </a:xfrm>
          <a:prstGeom prst="rect">
            <a:avLst/>
          </a:prstGeom>
          <a:noFill/>
          <a:ln/>
        </p:spPr>
        <p:txBody>
          <a:bodyPr wrap="square" lIns="0" tIns="0" rIns="0" bIns="0" rtlCol="0" anchor="ctr"/>
          <a:lstStyle/>
          <a:p>
            <a:pPr algn="l" indent="0" marL="0">
              <a:buNone/>
            </a:pPr>
            <a:r>
              <a:rPr lang="fr-FR" sz="700" spc="200" kern="0" dirty="0">
                <a:solidFill>
                  <a:srgbClr val="8AA595"/>
                </a:solidFill>
                <a:latin typeface="Calibri" pitchFamily="34" charset="0"/>
                <a:ea typeface="Calibri" pitchFamily="34" charset="-122"/>
                <a:cs typeface="Calibri" pitchFamily="34" charset="-120"/>
              </a:rPr>
              <a:t>CONSTRUCTEUR DE SITE WEB</a:t>
            </a:r>
            <a:endParaRPr lang="fr-FR" sz="700" dirty="0"/>
          </a:p>
        </p:txBody>
      </p:sp>
      <p:sp>
        <p:nvSpPr>
          <p:cNvPr id="110" name="Text 110"/>
          <p:cNvSpPr/>
          <p:nvPr/>
        </p:nvSpPr>
        <p:spPr>
          <a:xfrm>
            <a:off x="10241280" y="6419088"/>
            <a:ext cx="1417320" cy="365760"/>
          </a:xfrm>
          <a:prstGeom prst="rect">
            <a:avLst/>
          </a:prstGeom>
          <a:noFill/>
          <a:ln/>
        </p:spPr>
        <p:txBody>
          <a:bodyPr wrap="square" lIns="0" tIns="0" rIns="0" bIns="0" rtlCol="0" anchor="ctr"/>
          <a:lstStyle/>
          <a:p>
            <a:pPr algn="r" indent="0" marL="0">
              <a:buNone/>
            </a:pPr>
            <a:r>
              <a:rPr lang="fr-FR" sz="1000" b="1" dirty="0">
                <a:solidFill>
                  <a:srgbClr val="FFFFFF"/>
                </a:solidFill>
                <a:latin typeface="Calibri" pitchFamily="34" charset="0"/>
                <a:ea typeface="Calibri" pitchFamily="34" charset="-122"/>
                <a:cs typeface="Calibri" pitchFamily="34" charset="-120"/>
              </a:rPr>
              <a:t>Page 18/21</a:t>
            </a:r>
            <a:endParaRPr lang="fr-FR"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F1ECE6"/>
        </a:solidFill>
      </p:bgPr>
    </p:bg>
    <p:spTree>
      <p:nvGrpSpPr>
        <p:cNvPr id="1" name=""/>
        <p:cNvGrpSpPr/>
        <p:nvPr/>
      </p:nvGrpSpPr>
      <p:grpSpPr>
        <a:xfrm>
          <a:off x="0" y="0"/>
          <a:ext cx="0" cy="0"/>
          <a:chOff x="0" y="0"/>
          <a:chExt cx="0" cy="0"/>
        </a:xfrm>
      </p:grpSpPr>
      <p:sp>
        <p:nvSpPr>
          <p:cNvPr id="2" name="Text 0"/>
          <p:cNvSpPr/>
          <p:nvPr/>
        </p:nvSpPr>
        <p:spPr>
          <a:xfrm>
            <a:off x="640080" y="384048"/>
            <a:ext cx="10881360" cy="292608"/>
          </a:xfrm>
          <a:prstGeom prst="rect">
            <a:avLst/>
          </a:prstGeom>
          <a:noFill/>
          <a:ln/>
        </p:spPr>
        <p:txBody>
          <a:bodyPr wrap="square" lIns="0" tIns="0" rIns="0" bIns="0" rtlCol="0" anchor="ctr"/>
          <a:lstStyle/>
          <a:p>
            <a:pPr indent="0" marL="0">
              <a:buNone/>
            </a:pPr>
            <a:r>
              <a:rPr lang="en-US" sz="1300" b="1" dirty="0">
                <a:solidFill>
                  <a:srgbClr val="C3612D"/>
                </a:solidFill>
                <a:latin typeface="Calibri" pitchFamily="34" charset="0"/>
                <a:ea typeface="Calibri" pitchFamily="34" charset="-122"/>
                <a:cs typeface="Calibri" pitchFamily="34" charset="-120"/>
              </a:rPr>
              <a:t>Pérennité</a:t>
            </a:r>
            <a:endParaRPr lang="en-US" sz="1300" dirty="0"/>
          </a:p>
        </p:txBody>
      </p:sp>
      <p:sp>
        <p:nvSpPr>
          <p:cNvPr id="3" name="Text 1"/>
          <p:cNvSpPr/>
          <p:nvPr/>
        </p:nvSpPr>
        <p:spPr>
          <a:xfrm>
            <a:off x="640080" y="713232"/>
            <a:ext cx="10881360" cy="822960"/>
          </a:xfrm>
          <a:prstGeom prst="rect">
            <a:avLst/>
          </a:prstGeom>
          <a:noFill/>
          <a:ln/>
        </p:spPr>
        <p:txBody>
          <a:bodyPr wrap="square" lIns="0" tIns="0" rIns="0" bIns="0" rtlCol="0" anchor="ctr"/>
          <a:lstStyle/>
          <a:p>
            <a:pPr indent="0" marL="0">
              <a:buNone/>
            </a:pPr>
            <a:r>
              <a:rPr lang="en-US" sz="3400" b="1" dirty="0">
                <a:solidFill>
                  <a:srgbClr val="1A3C29"/>
                </a:solidFill>
                <a:latin typeface="Calibri" pitchFamily="34" charset="0"/>
                <a:ea typeface="Calibri" pitchFamily="34" charset="-122"/>
                <a:cs typeface="Calibri" pitchFamily="34" charset="-120"/>
              </a:rPr>
              <a:t>L’après-projet &amp; perspectives</a:t>
            </a:r>
            <a:endParaRPr lang="en-US" sz="3400" dirty="0"/>
          </a:p>
        </p:txBody>
      </p:sp>
      <p:sp>
        <p:nvSpPr>
          <p:cNvPr id="4" name="Shape 2"/>
          <p:cNvSpPr/>
          <p:nvPr/>
        </p:nvSpPr>
        <p:spPr>
          <a:xfrm>
            <a:off x="640080" y="1920240"/>
            <a:ext cx="5349240" cy="1691640"/>
          </a:xfrm>
          <a:prstGeom prst="roundRect">
            <a:avLst>
              <a:gd name="adj" fmla="val 3243"/>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5" name="Shape 3"/>
          <p:cNvSpPr/>
          <p:nvPr/>
        </p:nvSpPr>
        <p:spPr>
          <a:xfrm>
            <a:off x="640080" y="1920240"/>
            <a:ext cx="118872" cy="1691640"/>
          </a:xfrm>
          <a:prstGeom prst="rect">
            <a:avLst/>
          </a:prstGeom>
          <a:solidFill>
            <a:srgbClr val="C3612D"/>
          </a:solidFill>
          <a:ln w="12700">
            <a:solidFill>
              <a:srgbClr val="C3612D"/>
            </a:solidFill>
            <a:prstDash val="solid"/>
          </a:ln>
        </p:spPr>
      </p:sp>
      <p:sp>
        <p:nvSpPr>
          <p:cNvPr id="6" name="Text 4"/>
          <p:cNvSpPr/>
          <p:nvPr/>
        </p:nvSpPr>
        <p:spPr>
          <a:xfrm>
            <a:off x="960120" y="2194560"/>
            <a:ext cx="4846320" cy="457200"/>
          </a:xfrm>
          <a:prstGeom prst="rect">
            <a:avLst/>
          </a:prstGeom>
          <a:noFill/>
          <a:ln/>
        </p:spPr>
        <p:txBody>
          <a:bodyPr wrap="square" lIns="0" tIns="0" rIns="0" bIns="0" rtlCol="0" anchor="ctr"/>
          <a:lstStyle/>
          <a:p>
            <a:pPr indent="0" marL="0">
              <a:buNone/>
            </a:pPr>
            <a:r>
              <a:rPr lang="en-US" sz="1800" b="1" dirty="0">
                <a:solidFill>
                  <a:srgbClr val="1A3C29"/>
                </a:solidFill>
                <a:latin typeface="Calibri" pitchFamily="34" charset="0"/>
                <a:ea typeface="Calibri" pitchFamily="34" charset="-122"/>
                <a:cs typeface="Calibri" pitchFamily="34" charset="-120"/>
              </a:rPr>
              <a:t>Maintenance corrective</a:t>
            </a:r>
            <a:endParaRPr lang="en-US" sz="1800" dirty="0"/>
          </a:p>
        </p:txBody>
      </p:sp>
      <p:sp>
        <p:nvSpPr>
          <p:cNvPr id="7" name="Text 5"/>
          <p:cNvSpPr/>
          <p:nvPr/>
        </p:nvSpPr>
        <p:spPr>
          <a:xfrm>
            <a:off x="960120" y="2743200"/>
            <a:ext cx="4846320" cy="731520"/>
          </a:xfrm>
          <a:prstGeom prst="rect">
            <a:avLst/>
          </a:prstGeom>
          <a:noFill/>
          <a:ln/>
        </p:spPr>
        <p:txBody>
          <a:bodyPr wrap="square" lIns="0" tIns="0" rIns="0" bIns="0" rtlCol="0" anchor="ctr"/>
          <a:lstStyle/>
          <a:p>
            <a:pPr indent="0" marL="0">
              <a:buNone/>
            </a:pPr>
            <a:r>
              <a:rPr lang="en-US" sz="1300" dirty="0">
                <a:solidFill>
                  <a:srgbClr val="5F5F5F"/>
                </a:solidFill>
                <a:latin typeface="Calibri" pitchFamily="34" charset="0"/>
                <a:ea typeface="Calibri" pitchFamily="34" charset="-122"/>
                <a:cs typeface="Calibri" pitchFamily="34" charset="-120"/>
              </a:rPr>
              <a:t>Support via l’outil de tickets, dans le respect des SLA</a:t>
            </a:r>
            <a:endParaRPr lang="en-US" sz="1300" dirty="0"/>
          </a:p>
        </p:txBody>
      </p:sp>
      <p:sp>
        <p:nvSpPr>
          <p:cNvPr id="8" name="Shape 6"/>
          <p:cNvSpPr/>
          <p:nvPr/>
        </p:nvSpPr>
        <p:spPr>
          <a:xfrm>
            <a:off x="6172200" y="1920240"/>
            <a:ext cx="5349240" cy="1691640"/>
          </a:xfrm>
          <a:prstGeom prst="roundRect">
            <a:avLst>
              <a:gd name="adj" fmla="val 3243"/>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9" name="Shape 7"/>
          <p:cNvSpPr/>
          <p:nvPr/>
        </p:nvSpPr>
        <p:spPr>
          <a:xfrm>
            <a:off x="6172200" y="1920240"/>
            <a:ext cx="118872" cy="1691640"/>
          </a:xfrm>
          <a:prstGeom prst="rect">
            <a:avLst/>
          </a:prstGeom>
          <a:solidFill>
            <a:srgbClr val="296E4A"/>
          </a:solidFill>
          <a:ln w="12700">
            <a:solidFill>
              <a:srgbClr val="296E4A"/>
            </a:solidFill>
            <a:prstDash val="solid"/>
          </a:ln>
        </p:spPr>
      </p:sp>
      <p:sp>
        <p:nvSpPr>
          <p:cNvPr id="10" name="Text 8"/>
          <p:cNvSpPr/>
          <p:nvPr/>
        </p:nvSpPr>
        <p:spPr>
          <a:xfrm>
            <a:off x="6492240" y="2194560"/>
            <a:ext cx="4846320" cy="457200"/>
          </a:xfrm>
          <a:prstGeom prst="rect">
            <a:avLst/>
          </a:prstGeom>
          <a:noFill/>
          <a:ln/>
        </p:spPr>
        <p:txBody>
          <a:bodyPr wrap="square" lIns="0" tIns="0" rIns="0" bIns="0" rtlCol="0" anchor="ctr"/>
          <a:lstStyle/>
          <a:p>
            <a:pPr indent="0" marL="0">
              <a:buNone/>
            </a:pPr>
            <a:r>
              <a:rPr lang="en-US" sz="1800" b="1" dirty="0">
                <a:solidFill>
                  <a:srgbClr val="1A3C29"/>
                </a:solidFill>
                <a:latin typeface="Calibri" pitchFamily="34" charset="0"/>
                <a:ea typeface="Calibri" pitchFamily="34" charset="-122"/>
                <a:cs typeface="Calibri" pitchFamily="34" charset="-120"/>
              </a:rPr>
              <a:t>Maintenance évolutive</a:t>
            </a:r>
            <a:endParaRPr lang="en-US" sz="1800" dirty="0"/>
          </a:p>
        </p:txBody>
      </p:sp>
      <p:sp>
        <p:nvSpPr>
          <p:cNvPr id="11" name="Text 9"/>
          <p:cNvSpPr/>
          <p:nvPr/>
        </p:nvSpPr>
        <p:spPr>
          <a:xfrm>
            <a:off x="6492240" y="2743200"/>
            <a:ext cx="4846320" cy="731520"/>
          </a:xfrm>
          <a:prstGeom prst="rect">
            <a:avLst/>
          </a:prstGeom>
          <a:noFill/>
          <a:ln/>
        </p:spPr>
        <p:txBody>
          <a:bodyPr wrap="square" lIns="0" tIns="0" rIns="0" bIns="0" rtlCol="0" anchor="ctr"/>
          <a:lstStyle/>
          <a:p>
            <a:pPr indent="0" marL="0">
              <a:buNone/>
            </a:pPr>
            <a:r>
              <a:rPr lang="en-US" sz="1300" dirty="0">
                <a:solidFill>
                  <a:srgbClr val="5F5F5F"/>
                </a:solidFill>
                <a:latin typeface="Calibri" pitchFamily="34" charset="0"/>
                <a:ea typeface="Calibri" pitchFamily="34" charset="-122"/>
                <a:cs typeface="Calibri" pitchFamily="34" charset="-120"/>
              </a:rPr>
              <a:t>Nouvelles fonctionnalités à la demande du client</a:t>
            </a:r>
            <a:endParaRPr lang="en-US" sz="1300" dirty="0"/>
          </a:p>
        </p:txBody>
      </p:sp>
      <p:sp>
        <p:nvSpPr>
          <p:cNvPr id="12" name="Shape 10"/>
          <p:cNvSpPr/>
          <p:nvPr/>
        </p:nvSpPr>
        <p:spPr>
          <a:xfrm>
            <a:off x="640080" y="3794760"/>
            <a:ext cx="5349240" cy="1691640"/>
          </a:xfrm>
          <a:prstGeom prst="roundRect">
            <a:avLst>
              <a:gd name="adj" fmla="val 3243"/>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13" name="Shape 11"/>
          <p:cNvSpPr/>
          <p:nvPr/>
        </p:nvSpPr>
        <p:spPr>
          <a:xfrm>
            <a:off x="640080" y="3794760"/>
            <a:ext cx="118872" cy="1691640"/>
          </a:xfrm>
          <a:prstGeom prst="rect">
            <a:avLst/>
          </a:prstGeom>
          <a:solidFill>
            <a:srgbClr val="1A3C29"/>
          </a:solidFill>
          <a:ln w="12700">
            <a:solidFill>
              <a:srgbClr val="1A3C29"/>
            </a:solidFill>
            <a:prstDash val="solid"/>
          </a:ln>
        </p:spPr>
      </p:sp>
      <p:sp>
        <p:nvSpPr>
          <p:cNvPr id="14" name="Text 12"/>
          <p:cNvSpPr/>
          <p:nvPr/>
        </p:nvSpPr>
        <p:spPr>
          <a:xfrm>
            <a:off x="960120" y="4069080"/>
            <a:ext cx="4846320" cy="457200"/>
          </a:xfrm>
          <a:prstGeom prst="rect">
            <a:avLst/>
          </a:prstGeom>
          <a:noFill/>
          <a:ln/>
        </p:spPr>
        <p:txBody>
          <a:bodyPr wrap="square" lIns="0" tIns="0" rIns="0" bIns="0" rtlCol="0" anchor="ctr"/>
          <a:lstStyle/>
          <a:p>
            <a:pPr indent="0" marL="0">
              <a:buNone/>
            </a:pPr>
            <a:r>
              <a:rPr lang="en-US" sz="1800" b="1" dirty="0">
                <a:solidFill>
                  <a:srgbClr val="1A3C29"/>
                </a:solidFill>
                <a:latin typeface="Calibri" pitchFamily="34" charset="0"/>
                <a:ea typeface="Calibri" pitchFamily="34" charset="-122"/>
                <a:cs typeface="Calibri" pitchFamily="34" charset="-120"/>
              </a:rPr>
              <a:t>Veille technologique</a:t>
            </a:r>
            <a:endParaRPr lang="en-US" sz="1800" dirty="0"/>
          </a:p>
        </p:txBody>
      </p:sp>
      <p:sp>
        <p:nvSpPr>
          <p:cNvPr id="15" name="Text 13"/>
          <p:cNvSpPr/>
          <p:nvPr/>
        </p:nvSpPr>
        <p:spPr>
          <a:xfrm>
            <a:off x="960120" y="4617720"/>
            <a:ext cx="4846320" cy="731520"/>
          </a:xfrm>
          <a:prstGeom prst="rect">
            <a:avLst/>
          </a:prstGeom>
          <a:noFill/>
          <a:ln/>
        </p:spPr>
        <p:txBody>
          <a:bodyPr wrap="square" lIns="0" tIns="0" rIns="0" bIns="0" rtlCol="0" anchor="ctr"/>
          <a:lstStyle/>
          <a:p>
            <a:pPr indent="0" marL="0">
              <a:buNone/>
            </a:pPr>
            <a:r>
              <a:rPr lang="en-US" sz="1300" dirty="0">
                <a:solidFill>
                  <a:srgbClr val="5F5F5F"/>
                </a:solidFill>
                <a:latin typeface="Calibri" pitchFamily="34" charset="0"/>
                <a:ea typeface="Calibri" pitchFamily="34" charset="-122"/>
                <a:cs typeface="Calibri" pitchFamily="34" charset="-120"/>
              </a:rPr>
              <a:t>Mises à jour de sécurité et des dépendances</a:t>
            </a:r>
            <a:endParaRPr lang="en-US" sz="1300" dirty="0"/>
          </a:p>
        </p:txBody>
      </p:sp>
      <p:sp>
        <p:nvSpPr>
          <p:cNvPr id="16" name="Shape 14"/>
          <p:cNvSpPr/>
          <p:nvPr/>
        </p:nvSpPr>
        <p:spPr>
          <a:xfrm>
            <a:off x="6172200" y="3794760"/>
            <a:ext cx="5349240" cy="1691640"/>
          </a:xfrm>
          <a:prstGeom prst="roundRect">
            <a:avLst>
              <a:gd name="adj" fmla="val 3243"/>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17" name="Shape 15"/>
          <p:cNvSpPr/>
          <p:nvPr/>
        </p:nvSpPr>
        <p:spPr>
          <a:xfrm>
            <a:off x="6172200" y="3794760"/>
            <a:ext cx="118872" cy="1691640"/>
          </a:xfrm>
          <a:prstGeom prst="rect">
            <a:avLst/>
          </a:prstGeom>
          <a:solidFill>
            <a:srgbClr val="C3612D"/>
          </a:solidFill>
          <a:ln w="12700">
            <a:solidFill>
              <a:srgbClr val="C3612D"/>
            </a:solidFill>
            <a:prstDash val="solid"/>
          </a:ln>
        </p:spPr>
      </p:sp>
      <p:sp>
        <p:nvSpPr>
          <p:cNvPr id="18" name="Text 16"/>
          <p:cNvSpPr/>
          <p:nvPr/>
        </p:nvSpPr>
        <p:spPr>
          <a:xfrm>
            <a:off x="6492240" y="4069080"/>
            <a:ext cx="4846320" cy="457200"/>
          </a:xfrm>
          <a:prstGeom prst="rect">
            <a:avLst/>
          </a:prstGeom>
          <a:noFill/>
          <a:ln/>
        </p:spPr>
        <p:txBody>
          <a:bodyPr wrap="square" lIns="0" tIns="0" rIns="0" bIns="0" rtlCol="0" anchor="ctr"/>
          <a:lstStyle/>
          <a:p>
            <a:pPr indent="0" marL="0">
              <a:buNone/>
            </a:pPr>
            <a:r>
              <a:rPr lang="en-US" sz="1800" b="1" dirty="0">
                <a:solidFill>
                  <a:srgbClr val="1A3C29"/>
                </a:solidFill>
                <a:latin typeface="Calibri" pitchFamily="34" charset="0"/>
                <a:ea typeface="Calibri" pitchFamily="34" charset="-122"/>
                <a:cs typeface="Calibri" pitchFamily="34" charset="-120"/>
              </a:rPr>
              <a:t>Évolutions envisagées</a:t>
            </a:r>
            <a:endParaRPr lang="en-US" sz="1800" dirty="0"/>
          </a:p>
        </p:txBody>
      </p:sp>
      <p:sp>
        <p:nvSpPr>
          <p:cNvPr id="19" name="Text 17"/>
          <p:cNvSpPr/>
          <p:nvPr/>
        </p:nvSpPr>
        <p:spPr>
          <a:xfrm>
            <a:off x="6492240" y="4617720"/>
            <a:ext cx="4846320" cy="731520"/>
          </a:xfrm>
          <a:prstGeom prst="rect">
            <a:avLst/>
          </a:prstGeom>
          <a:noFill/>
          <a:ln/>
        </p:spPr>
        <p:txBody>
          <a:bodyPr wrap="square" lIns="0" tIns="0" rIns="0" bIns="0" rtlCol="0" anchor="ctr"/>
          <a:lstStyle/>
          <a:p>
            <a:pPr indent="0" marL="0">
              <a:buNone/>
            </a:pPr>
            <a:r>
              <a:rPr lang="en-US" sz="1300" dirty="0">
                <a:solidFill>
                  <a:srgbClr val="5F5F5F"/>
                </a:solidFill>
                <a:latin typeface="Calibri" pitchFamily="34" charset="0"/>
                <a:ea typeface="Calibri" pitchFamily="34" charset="-122"/>
                <a:cs typeface="Calibri" pitchFamily="34" charset="-120"/>
              </a:rPr>
              <a:t>Passage en production, montée en charge, enrichissement mobile</a:t>
            </a:r>
            <a:endParaRPr lang="en-US" sz="1300" dirty="0"/>
          </a:p>
        </p:txBody>
      </p:sp>
      <p:sp>
        <p:nvSpPr>
          <p:cNvPr id="20" name="Shape 18"/>
          <p:cNvSpPr/>
          <p:nvPr/>
        </p:nvSpPr>
        <p:spPr>
          <a:xfrm>
            <a:off x="0" y="6355080"/>
            <a:ext cx="12188952" cy="502920"/>
          </a:xfrm>
          <a:prstGeom prst="rect">
            <a:avLst/>
          </a:prstGeom>
          <a:solidFill>
            <a:srgbClr val="1A3C29"/>
          </a:solidFill>
          <a:ln w="12700">
            <a:solidFill>
              <a:srgbClr val="1A3C29"/>
            </a:solidFill>
            <a:prstDash val="solid"/>
          </a:ln>
        </p:spPr>
      </p:sp>
      <p:sp>
        <p:nvSpPr>
          <p:cNvPr id="21" name="Text 19"/>
          <p:cNvSpPr/>
          <p:nvPr/>
        </p:nvSpPr>
        <p:spPr>
          <a:xfrm>
            <a:off x="502920" y="6382512"/>
            <a:ext cx="4572000" cy="237744"/>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RENOIR&amp;ALINE</a:t>
            </a:r>
            <a:endParaRPr lang="en-US" sz="1000" dirty="0"/>
          </a:p>
        </p:txBody>
      </p:sp>
      <p:sp>
        <p:nvSpPr>
          <p:cNvPr id="22" name="Text 20"/>
          <p:cNvSpPr/>
          <p:nvPr/>
        </p:nvSpPr>
        <p:spPr>
          <a:xfrm>
            <a:off x="502920" y="6601968"/>
            <a:ext cx="4572000" cy="182880"/>
          </a:xfrm>
          <a:prstGeom prst="rect">
            <a:avLst/>
          </a:prstGeom>
          <a:noFill/>
          <a:ln/>
        </p:spPr>
        <p:txBody>
          <a:bodyPr wrap="square" lIns="0" tIns="0" rIns="0" bIns="0" rtlCol="0" anchor="ctr"/>
          <a:lstStyle/>
          <a:p>
            <a:pPr indent="0" marL="0">
              <a:buNone/>
            </a:pPr>
            <a:r>
              <a:rPr lang="en-US" sz="700" spc="200" kern="0" dirty="0">
                <a:solidFill>
                  <a:srgbClr val="8AA595"/>
                </a:solidFill>
                <a:latin typeface="Calibri" pitchFamily="34" charset="0"/>
                <a:ea typeface="Calibri" pitchFamily="34" charset="-122"/>
                <a:cs typeface="Calibri" pitchFamily="34" charset="-120"/>
              </a:rPr>
              <a:t>CONSTRUCTEUR DE SITE WEB</a:t>
            </a:r>
            <a:endParaRPr lang="en-US" sz="700" dirty="0"/>
          </a:p>
        </p:txBody>
      </p:sp>
      <p:sp>
        <p:nvSpPr>
          <p:cNvPr id="23" name="Text 21"/>
          <p:cNvSpPr/>
          <p:nvPr/>
        </p:nvSpPr>
        <p:spPr>
          <a:xfrm>
            <a:off x="10241280" y="6419088"/>
            <a:ext cx="1417320" cy="365760"/>
          </a:xfrm>
          <a:prstGeom prst="rect">
            <a:avLst/>
          </a:prstGeom>
          <a:noFill/>
          <a:ln/>
        </p:spPr>
        <p:txBody>
          <a:bodyPr wrap="square" lIns="0" tIns="0" rIns="0" bIns="0" rtlCol="0" anchor="ctr"/>
          <a:lstStyle/>
          <a:p>
            <a:pPr algn="r" indent="0" marL="0">
              <a:buNone/>
            </a:pPr>
            <a:r>
              <a:rPr lang="en-US" sz="1000" b="1" dirty="0">
                <a:solidFill>
                  <a:srgbClr val="FFFFFF"/>
                </a:solidFill>
                <a:latin typeface="Calibri" pitchFamily="34" charset="0"/>
                <a:ea typeface="Calibri" pitchFamily="34" charset="-122"/>
                <a:cs typeface="Calibri" pitchFamily="34" charset="-120"/>
              </a:rPr>
              <a:t>Page 19/21</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bg>
      <p:bgPr>
        <a:solidFill>
          <a:srgbClr val="F1ECE6"/>
        </a:solidFill>
      </p:bgPr>
    </p:bg>
    <p:spTree>
      <p:nvGrpSpPr>
        <p:cNvPr id="1" name=""/>
        <p:cNvGrpSpPr/>
        <p:nvPr/>
      </p:nvGrpSpPr>
      <p:grpSpPr>
        <a:xfrm>
          <a:off x="0" y="0"/>
          <a:ext cx="0" cy="0"/>
          <a:chOff x="0" y="0"/>
          <a:chExt cx="0" cy="0"/>
        </a:xfrm>
      </p:grpSpPr>
      <p:sp>
        <p:nvSpPr>
          <p:cNvPr id="2" name="Text 0"/>
          <p:cNvSpPr/>
          <p:nvPr/>
        </p:nvSpPr>
        <p:spPr>
          <a:xfrm>
            <a:off x="640080" y="384048"/>
            <a:ext cx="10881360" cy="292608"/>
          </a:xfrm>
          <a:prstGeom prst="rect">
            <a:avLst/>
          </a:prstGeom>
          <a:noFill/>
          <a:ln/>
        </p:spPr>
        <p:txBody>
          <a:bodyPr wrap="square" lIns="0" tIns="0" rIns="0" bIns="0" rtlCol="0" anchor="ctr"/>
          <a:lstStyle/>
          <a:p>
            <a:pPr indent="0" marL="0">
              <a:buNone/>
            </a:pPr>
            <a:r>
              <a:rPr lang="en-US" sz="1300" b="1" dirty="0">
                <a:solidFill>
                  <a:srgbClr val="C3612D"/>
                </a:solidFill>
                <a:latin typeface="Calibri" pitchFamily="34" charset="0"/>
                <a:ea typeface="Calibri" pitchFamily="34" charset="-122"/>
                <a:cs typeface="Calibri" pitchFamily="34" charset="-120"/>
              </a:rPr>
              <a:t>Démonstration</a:t>
            </a:r>
            <a:endParaRPr lang="en-US" sz="1300" dirty="0"/>
          </a:p>
        </p:txBody>
      </p:sp>
      <p:sp>
        <p:nvSpPr>
          <p:cNvPr id="3" name="Text 1"/>
          <p:cNvSpPr/>
          <p:nvPr/>
        </p:nvSpPr>
        <p:spPr>
          <a:xfrm>
            <a:off x="640080" y="713232"/>
            <a:ext cx="10881360" cy="822960"/>
          </a:xfrm>
          <a:prstGeom prst="rect">
            <a:avLst/>
          </a:prstGeom>
          <a:noFill/>
          <a:ln/>
        </p:spPr>
        <p:txBody>
          <a:bodyPr wrap="square" lIns="0" tIns="0" rIns="0" bIns="0" rtlCol="0" anchor="ctr"/>
          <a:lstStyle/>
          <a:p>
            <a:pPr indent="0" marL="0">
              <a:buNone/>
            </a:pPr>
            <a:r>
              <a:rPr lang="en-US" sz="3400" b="1" dirty="0">
                <a:solidFill>
                  <a:srgbClr val="1A3C29"/>
                </a:solidFill>
                <a:latin typeface="Calibri" pitchFamily="34" charset="0"/>
                <a:ea typeface="Calibri" pitchFamily="34" charset="-122"/>
                <a:cs typeface="Calibri" pitchFamily="34" charset="-120"/>
              </a:rPr>
              <a:t>Ce que nous allons montrer</a:t>
            </a:r>
            <a:endParaRPr lang="en-US" sz="3400" dirty="0"/>
          </a:p>
        </p:txBody>
      </p:sp>
      <p:sp>
        <p:nvSpPr>
          <p:cNvPr id="4" name="Shape 2"/>
          <p:cNvSpPr/>
          <p:nvPr/>
        </p:nvSpPr>
        <p:spPr>
          <a:xfrm>
            <a:off x="640080" y="2011680"/>
            <a:ext cx="3429000" cy="2743200"/>
          </a:xfrm>
          <a:prstGeom prst="roundRect">
            <a:avLst>
              <a:gd name="adj" fmla="val 2000"/>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5" name="Shape 3"/>
          <p:cNvSpPr/>
          <p:nvPr/>
        </p:nvSpPr>
        <p:spPr>
          <a:xfrm>
            <a:off x="1938528" y="2286000"/>
            <a:ext cx="822960" cy="822960"/>
          </a:xfrm>
          <a:prstGeom prst="ellipse">
            <a:avLst/>
          </a:prstGeom>
          <a:solidFill>
            <a:srgbClr val="C3612D"/>
          </a:solidFill>
          <a:ln w="12700">
            <a:solidFill>
              <a:srgbClr val="C3612D"/>
            </a:solidFill>
            <a:prstDash val="solid"/>
          </a:ln>
        </p:spPr>
      </p:sp>
      <p:sp>
        <p:nvSpPr>
          <p:cNvPr id="6" name="Text 4"/>
          <p:cNvSpPr/>
          <p:nvPr/>
        </p:nvSpPr>
        <p:spPr>
          <a:xfrm>
            <a:off x="1938528" y="2286000"/>
            <a:ext cx="822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1</a:t>
            </a:r>
            <a:endParaRPr lang="en-US" sz="2600" dirty="0"/>
          </a:p>
        </p:txBody>
      </p:sp>
      <p:sp>
        <p:nvSpPr>
          <p:cNvPr id="7" name="Text 5"/>
          <p:cNvSpPr/>
          <p:nvPr/>
        </p:nvSpPr>
        <p:spPr>
          <a:xfrm>
            <a:off x="822960" y="3246120"/>
            <a:ext cx="3063240" cy="457200"/>
          </a:xfrm>
          <a:prstGeom prst="rect">
            <a:avLst/>
          </a:prstGeom>
          <a:noFill/>
          <a:ln/>
        </p:spPr>
        <p:txBody>
          <a:bodyPr wrap="square" lIns="0" tIns="0" rIns="0" bIns="0" rtlCol="0" anchor="ctr"/>
          <a:lstStyle/>
          <a:p>
            <a:pPr algn="ctr" indent="0" marL="0">
              <a:buNone/>
            </a:pPr>
            <a:r>
              <a:rPr lang="en-US" sz="1600" b="1" dirty="0">
                <a:solidFill>
                  <a:srgbClr val="1A3C29"/>
                </a:solidFill>
                <a:latin typeface="Calibri" pitchFamily="34" charset="0"/>
                <a:ea typeface="Calibri" pitchFamily="34" charset="-122"/>
                <a:cs typeface="Calibri" pitchFamily="34" charset="-120"/>
              </a:rPr>
              <a:t>Intégration continue</a:t>
            </a:r>
            <a:endParaRPr lang="en-US" sz="1600" dirty="0"/>
          </a:p>
        </p:txBody>
      </p:sp>
      <p:sp>
        <p:nvSpPr>
          <p:cNvPr id="8" name="Text 6"/>
          <p:cNvSpPr/>
          <p:nvPr/>
        </p:nvSpPr>
        <p:spPr>
          <a:xfrm>
            <a:off x="868680" y="3749040"/>
            <a:ext cx="2971800" cy="822960"/>
          </a:xfrm>
          <a:prstGeom prst="rect">
            <a:avLst/>
          </a:prstGeom>
          <a:noFill/>
          <a:ln/>
        </p:spPr>
        <p:txBody>
          <a:bodyPr wrap="square" lIns="0" tIns="0" rIns="0" bIns="0" rtlCol="0" anchor="ctr"/>
          <a:lstStyle/>
          <a:p>
            <a:pPr algn="ctr" indent="0" marL="0">
              <a:buNone/>
            </a:pPr>
            <a:r>
              <a:rPr lang="en-US" sz="1250" dirty="0">
                <a:solidFill>
                  <a:srgbClr val="5F5F5F"/>
                </a:solidFill>
                <a:latin typeface="Calibri" pitchFamily="34" charset="0"/>
                <a:ea typeface="Calibri" pitchFamily="34" charset="-122"/>
                <a:cs typeface="Calibri" pitchFamily="34" charset="-120"/>
              </a:rPr>
              <a:t>La Pull Request et ses vérifications automatiques au vert</a:t>
            </a:r>
            <a:endParaRPr lang="en-US" sz="1250" dirty="0"/>
          </a:p>
        </p:txBody>
      </p:sp>
      <p:sp>
        <p:nvSpPr>
          <p:cNvPr id="9" name="Shape 7"/>
          <p:cNvSpPr/>
          <p:nvPr/>
        </p:nvSpPr>
        <p:spPr>
          <a:xfrm>
            <a:off x="4389120" y="2011680"/>
            <a:ext cx="3429000" cy="2743200"/>
          </a:xfrm>
          <a:prstGeom prst="roundRect">
            <a:avLst>
              <a:gd name="adj" fmla="val 2000"/>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10" name="Shape 8"/>
          <p:cNvSpPr/>
          <p:nvPr/>
        </p:nvSpPr>
        <p:spPr>
          <a:xfrm>
            <a:off x="5687568" y="2286000"/>
            <a:ext cx="822960" cy="822960"/>
          </a:xfrm>
          <a:prstGeom prst="ellipse">
            <a:avLst/>
          </a:prstGeom>
          <a:solidFill>
            <a:srgbClr val="296E4A"/>
          </a:solidFill>
          <a:ln w="12700">
            <a:solidFill>
              <a:srgbClr val="296E4A"/>
            </a:solidFill>
            <a:prstDash val="solid"/>
          </a:ln>
        </p:spPr>
      </p:sp>
      <p:sp>
        <p:nvSpPr>
          <p:cNvPr id="11" name="Text 9"/>
          <p:cNvSpPr/>
          <p:nvPr/>
        </p:nvSpPr>
        <p:spPr>
          <a:xfrm>
            <a:off x="5687568" y="2286000"/>
            <a:ext cx="822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2</a:t>
            </a:r>
            <a:endParaRPr lang="en-US" sz="2600" dirty="0"/>
          </a:p>
        </p:txBody>
      </p:sp>
      <p:sp>
        <p:nvSpPr>
          <p:cNvPr id="12" name="Text 10"/>
          <p:cNvSpPr/>
          <p:nvPr/>
        </p:nvSpPr>
        <p:spPr>
          <a:xfrm>
            <a:off x="4572000" y="3246120"/>
            <a:ext cx="3063240" cy="457200"/>
          </a:xfrm>
          <a:prstGeom prst="rect">
            <a:avLst/>
          </a:prstGeom>
          <a:noFill/>
          <a:ln/>
        </p:spPr>
        <p:txBody>
          <a:bodyPr wrap="square" lIns="0" tIns="0" rIns="0" bIns="0" rtlCol="0" anchor="ctr"/>
          <a:lstStyle/>
          <a:p>
            <a:pPr algn="ctr" indent="0" marL="0">
              <a:buNone/>
            </a:pPr>
            <a:r>
              <a:rPr lang="en-US" sz="1600" b="1" dirty="0">
                <a:solidFill>
                  <a:srgbClr val="1A3C29"/>
                </a:solidFill>
                <a:latin typeface="Calibri" pitchFamily="34" charset="0"/>
                <a:ea typeface="Calibri" pitchFamily="34" charset="-122"/>
                <a:cs typeface="Calibri" pitchFamily="34" charset="-120"/>
              </a:rPr>
              <a:t>Environnement Docker</a:t>
            </a:r>
            <a:endParaRPr lang="en-US" sz="1600" dirty="0"/>
          </a:p>
        </p:txBody>
      </p:sp>
      <p:sp>
        <p:nvSpPr>
          <p:cNvPr id="13" name="Text 11"/>
          <p:cNvSpPr/>
          <p:nvPr/>
        </p:nvSpPr>
        <p:spPr>
          <a:xfrm>
            <a:off x="4617720" y="3749040"/>
            <a:ext cx="2971800" cy="822960"/>
          </a:xfrm>
          <a:prstGeom prst="rect">
            <a:avLst/>
          </a:prstGeom>
          <a:noFill/>
          <a:ln/>
        </p:spPr>
        <p:txBody>
          <a:bodyPr wrap="square" lIns="0" tIns="0" rIns="0" bIns="0" rtlCol="0" anchor="ctr"/>
          <a:lstStyle/>
          <a:p>
            <a:pPr algn="ctr" indent="0" marL="0">
              <a:buNone/>
            </a:pPr>
            <a:r>
              <a:rPr lang="en-US" sz="1250" dirty="0">
                <a:solidFill>
                  <a:srgbClr val="5F5F5F"/>
                </a:solidFill>
                <a:latin typeface="Calibri" pitchFamily="34" charset="0"/>
                <a:ea typeface="Calibri" pitchFamily="34" charset="-122"/>
                <a:cs typeface="Calibri" pitchFamily="34" charset="-120"/>
              </a:rPr>
              <a:t>Les 3 conteneurs actifs et l’application dans le navigateur</a:t>
            </a:r>
            <a:endParaRPr lang="en-US" sz="1250" dirty="0"/>
          </a:p>
        </p:txBody>
      </p:sp>
      <p:sp>
        <p:nvSpPr>
          <p:cNvPr id="14" name="Shape 12"/>
          <p:cNvSpPr/>
          <p:nvPr/>
        </p:nvSpPr>
        <p:spPr>
          <a:xfrm>
            <a:off x="8138160" y="2011680"/>
            <a:ext cx="3429000" cy="2743200"/>
          </a:xfrm>
          <a:prstGeom prst="roundRect">
            <a:avLst>
              <a:gd name="adj" fmla="val 2000"/>
            </a:avLst>
          </a:prstGeom>
          <a:solidFill>
            <a:srgbClr val="FFFFFF"/>
          </a:solidFill>
          <a:ln w="12700">
            <a:solidFill>
              <a:srgbClr val="E3DCD1"/>
            </a:solidFill>
            <a:prstDash val="solid"/>
          </a:ln>
          <a:effectLst>
            <a:outerShdw sx="100000" sy="100000" kx="0" ky="0" algn="bl" rotWithShape="0" blurRad="88900" dist="38100" dir="5400000">
              <a:srgbClr val="000000">
                <a:alpha val="12000"/>
              </a:srgbClr>
            </a:outerShdw>
          </a:effectLst>
        </p:spPr>
      </p:sp>
      <p:sp>
        <p:nvSpPr>
          <p:cNvPr id="15" name="Shape 13"/>
          <p:cNvSpPr/>
          <p:nvPr/>
        </p:nvSpPr>
        <p:spPr>
          <a:xfrm>
            <a:off x="9436608" y="2286000"/>
            <a:ext cx="822960" cy="822960"/>
          </a:xfrm>
          <a:prstGeom prst="ellipse">
            <a:avLst/>
          </a:prstGeom>
          <a:solidFill>
            <a:srgbClr val="1A3C29"/>
          </a:solidFill>
          <a:ln w="12700">
            <a:solidFill>
              <a:srgbClr val="1A3C29"/>
            </a:solidFill>
            <a:prstDash val="solid"/>
          </a:ln>
        </p:spPr>
      </p:sp>
      <p:sp>
        <p:nvSpPr>
          <p:cNvPr id="16" name="Text 14"/>
          <p:cNvSpPr/>
          <p:nvPr/>
        </p:nvSpPr>
        <p:spPr>
          <a:xfrm>
            <a:off x="9436608" y="2286000"/>
            <a:ext cx="822960" cy="82296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3</a:t>
            </a:r>
            <a:endParaRPr lang="en-US" sz="2600" dirty="0"/>
          </a:p>
        </p:txBody>
      </p:sp>
      <p:sp>
        <p:nvSpPr>
          <p:cNvPr id="17" name="Text 15"/>
          <p:cNvSpPr/>
          <p:nvPr/>
        </p:nvSpPr>
        <p:spPr>
          <a:xfrm>
            <a:off x="8321040" y="3246120"/>
            <a:ext cx="3063240" cy="457200"/>
          </a:xfrm>
          <a:prstGeom prst="rect">
            <a:avLst/>
          </a:prstGeom>
          <a:noFill/>
          <a:ln/>
        </p:spPr>
        <p:txBody>
          <a:bodyPr wrap="square" lIns="0" tIns="0" rIns="0" bIns="0" rtlCol="0" anchor="ctr"/>
          <a:lstStyle/>
          <a:p>
            <a:pPr algn="ctr" indent="0" marL="0">
              <a:buNone/>
            </a:pPr>
            <a:r>
              <a:rPr lang="en-US" sz="1600" b="1" dirty="0">
                <a:solidFill>
                  <a:srgbClr val="1A3C29"/>
                </a:solidFill>
                <a:latin typeface="Calibri" pitchFamily="34" charset="0"/>
                <a:ea typeface="Calibri" pitchFamily="34" charset="-122"/>
                <a:cs typeface="Calibri" pitchFamily="34" charset="-120"/>
              </a:rPr>
              <a:t>Ticketing Jira</a:t>
            </a:r>
            <a:endParaRPr lang="en-US" sz="1600" dirty="0"/>
          </a:p>
        </p:txBody>
      </p:sp>
      <p:sp>
        <p:nvSpPr>
          <p:cNvPr id="18" name="Text 16"/>
          <p:cNvSpPr/>
          <p:nvPr/>
        </p:nvSpPr>
        <p:spPr>
          <a:xfrm>
            <a:off x="8366760" y="3749040"/>
            <a:ext cx="2971800" cy="822960"/>
          </a:xfrm>
          <a:prstGeom prst="rect">
            <a:avLst/>
          </a:prstGeom>
          <a:noFill/>
          <a:ln/>
        </p:spPr>
        <p:txBody>
          <a:bodyPr wrap="square" lIns="0" tIns="0" rIns="0" bIns="0" rtlCol="0" anchor="ctr"/>
          <a:lstStyle/>
          <a:p>
            <a:pPr algn="ctr" indent="0" marL="0">
              <a:buNone/>
            </a:pPr>
            <a:r>
              <a:rPr lang="en-US" sz="1250" dirty="0">
                <a:solidFill>
                  <a:srgbClr val="5F5F5F"/>
                </a:solidFill>
                <a:latin typeface="Calibri" pitchFamily="34" charset="0"/>
                <a:ea typeface="Calibri" pitchFamily="34" charset="-122"/>
                <a:cs typeface="Calibri" pitchFamily="34" charset="-120"/>
              </a:rPr>
              <a:t>Le tableau des tickets, priorités et le tableau de bord</a:t>
            </a:r>
            <a:endParaRPr lang="en-US" sz="1250" dirty="0"/>
          </a:p>
        </p:txBody>
      </p:sp>
      <p:sp>
        <p:nvSpPr>
          <p:cNvPr id="19" name="Shape 17"/>
          <p:cNvSpPr/>
          <p:nvPr/>
        </p:nvSpPr>
        <p:spPr>
          <a:xfrm>
            <a:off x="0" y="6355080"/>
            <a:ext cx="12188952" cy="502920"/>
          </a:xfrm>
          <a:prstGeom prst="rect">
            <a:avLst/>
          </a:prstGeom>
          <a:solidFill>
            <a:srgbClr val="1A3C29"/>
          </a:solidFill>
          <a:ln w="12700">
            <a:solidFill>
              <a:srgbClr val="1A3C29"/>
            </a:solidFill>
            <a:prstDash val="solid"/>
          </a:ln>
        </p:spPr>
      </p:sp>
      <p:sp>
        <p:nvSpPr>
          <p:cNvPr id="20" name="Text 18"/>
          <p:cNvSpPr/>
          <p:nvPr/>
        </p:nvSpPr>
        <p:spPr>
          <a:xfrm>
            <a:off x="502920" y="6382512"/>
            <a:ext cx="4572000" cy="237744"/>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RENOIR&amp;ALINE</a:t>
            </a:r>
            <a:endParaRPr lang="en-US" sz="1000" dirty="0"/>
          </a:p>
        </p:txBody>
      </p:sp>
      <p:sp>
        <p:nvSpPr>
          <p:cNvPr id="21" name="Text 19"/>
          <p:cNvSpPr/>
          <p:nvPr/>
        </p:nvSpPr>
        <p:spPr>
          <a:xfrm>
            <a:off x="502920" y="6601968"/>
            <a:ext cx="4572000" cy="182880"/>
          </a:xfrm>
          <a:prstGeom prst="rect">
            <a:avLst/>
          </a:prstGeom>
          <a:noFill/>
          <a:ln/>
        </p:spPr>
        <p:txBody>
          <a:bodyPr wrap="square" lIns="0" tIns="0" rIns="0" bIns="0" rtlCol="0" anchor="ctr"/>
          <a:lstStyle/>
          <a:p>
            <a:pPr indent="0" marL="0">
              <a:buNone/>
            </a:pPr>
            <a:r>
              <a:rPr lang="en-US" sz="700" spc="200" kern="0" dirty="0">
                <a:solidFill>
                  <a:srgbClr val="8AA595"/>
                </a:solidFill>
                <a:latin typeface="Calibri" pitchFamily="34" charset="0"/>
                <a:ea typeface="Calibri" pitchFamily="34" charset="-122"/>
                <a:cs typeface="Calibri" pitchFamily="34" charset="-120"/>
              </a:rPr>
              <a:t>CONSTRUCTEUR DE SITE WEB</a:t>
            </a:r>
            <a:endParaRPr lang="en-US" sz="700" dirty="0"/>
          </a:p>
        </p:txBody>
      </p:sp>
      <p:sp>
        <p:nvSpPr>
          <p:cNvPr id="22" name="Text 20"/>
          <p:cNvSpPr/>
          <p:nvPr/>
        </p:nvSpPr>
        <p:spPr>
          <a:xfrm>
            <a:off x="10241280" y="6419088"/>
            <a:ext cx="1417320" cy="365760"/>
          </a:xfrm>
          <a:prstGeom prst="rect">
            <a:avLst/>
          </a:prstGeom>
          <a:noFill/>
          <a:ln/>
        </p:spPr>
        <p:txBody>
          <a:bodyPr wrap="square" lIns="0" tIns="0" rIns="0" bIns="0" rtlCol="0" anchor="ctr"/>
          <a:lstStyle/>
          <a:p>
            <a:pPr algn="r" indent="0" marL="0">
              <a:buNone/>
            </a:pPr>
            <a:r>
              <a:rPr lang="en-US" sz="1000" b="1" dirty="0">
                <a:solidFill>
                  <a:srgbClr val="FFFFFF"/>
                </a:solidFill>
                <a:latin typeface="Calibri" pitchFamily="34" charset="0"/>
                <a:ea typeface="Calibri" pitchFamily="34" charset="-122"/>
                <a:cs typeface="Calibri" pitchFamily="34" charset="-120"/>
              </a:rPr>
              <a:t>Page 20/21</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bg>
      <p:bgPr>
        <a:solidFill>
          <a:srgbClr val="1A3C29"/>
        </a:solidFill>
      </p:bgPr>
    </p:bg>
    <p:spTree>
      <p:nvGrpSpPr>
        <p:cNvPr id="1" name=""/>
        <p:cNvGrpSpPr/>
        <p:nvPr/>
      </p:nvGrpSpPr>
      <p:grpSpPr>
        <a:xfrm>
          <a:off x="0" y="0"/>
          <a:ext cx="0" cy="0"/>
          <a:chOff x="0" y="0"/>
          <a:chExt cx="0" cy="0"/>
        </a:xfrm>
      </p:grpSpPr>
      <p:sp>
        <p:nvSpPr>
          <p:cNvPr id="2" name="Shape 0"/>
          <p:cNvSpPr/>
          <p:nvPr/>
        </p:nvSpPr>
        <p:spPr>
          <a:xfrm>
            <a:off x="676656" y="1371600"/>
            <a:ext cx="914400" cy="64008"/>
          </a:xfrm>
          <a:prstGeom prst="rect">
            <a:avLst/>
          </a:prstGeom>
          <a:solidFill>
            <a:srgbClr val="C3612D"/>
          </a:solidFill>
          <a:ln w="12700">
            <a:solidFill>
              <a:srgbClr val="C3612D"/>
            </a:solidFill>
            <a:prstDash val="solid"/>
          </a:ln>
        </p:spPr>
      </p:sp>
      <p:sp>
        <p:nvSpPr>
          <p:cNvPr id="3" name="Text 1"/>
          <p:cNvSpPr/>
          <p:nvPr/>
        </p:nvSpPr>
        <p:spPr>
          <a:xfrm>
            <a:off x="640080" y="1554480"/>
            <a:ext cx="10058400" cy="91440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Conclusion</a:t>
            </a:r>
            <a:endParaRPr lang="en-US" sz="4000" dirty="0"/>
          </a:p>
        </p:txBody>
      </p:sp>
      <p:sp>
        <p:nvSpPr>
          <p:cNvPr id="4" name="Text 2"/>
          <p:cNvSpPr/>
          <p:nvPr/>
        </p:nvSpPr>
        <p:spPr>
          <a:xfrm>
            <a:off x="822960" y="2743200"/>
            <a:ext cx="9601200" cy="1828800"/>
          </a:xfrm>
          <a:prstGeom prst="rect">
            <a:avLst/>
          </a:prstGeom>
          <a:noFill/>
          <a:ln/>
        </p:spPr>
        <p:txBody>
          <a:bodyPr wrap="square" lIns="0" tIns="0" rIns="0" bIns="0" rtlCol="0" anchor="ctr"/>
          <a:lstStyle/>
          <a:p>
            <a:pPr marL="342900" indent="-342900">
              <a:spcAft>
                <a:spcPts val="1200"/>
              </a:spcAft>
              <a:buSzPct val="100000"/>
              <a:buChar char="•"/>
            </a:pPr>
            <a:r>
              <a:rPr lang="en-US" sz="1700" dirty="0">
                <a:solidFill>
                  <a:srgbClr val="D9D2C7"/>
                </a:solidFill>
                <a:latin typeface="Calibri" pitchFamily="34" charset="0"/>
                <a:ea typeface="Calibri" pitchFamily="34" charset="-122"/>
                <a:cs typeface="Calibri" pitchFamily="34" charset="-120"/>
              </a:rPr>
              <a:t>Un déploiement automatisé et reproductible (Docker + CI/CD)</a:t>
            </a:r>
            <a:endParaRPr lang="en-US" sz="1700" dirty="0"/>
          </a:p>
          <a:p>
            <a:pPr marL="342900" indent="-342900">
              <a:spcAft>
                <a:spcPts val="1200"/>
              </a:spcAft>
              <a:buSzPct val="100000"/>
              <a:buChar char="•"/>
            </a:pPr>
            <a:r>
              <a:rPr lang="en-US" sz="1700" dirty="0">
                <a:solidFill>
                  <a:srgbClr val="D9D2C7"/>
                </a:solidFill>
                <a:latin typeface="Calibri" pitchFamily="34" charset="0"/>
                <a:ea typeface="Calibri" pitchFamily="34" charset="-122"/>
                <a:cs typeface="Calibri" pitchFamily="34" charset="-120"/>
              </a:rPr>
              <a:t>Une maintenance outillée et méthodique (ticketing, SLA, veille)</a:t>
            </a:r>
            <a:endParaRPr lang="en-US" sz="1700" dirty="0"/>
          </a:p>
          <a:p>
            <a:pPr marL="342900" indent="-342900">
              <a:spcAft>
                <a:spcPts val="1200"/>
              </a:spcAft>
              <a:buSzPct val="100000"/>
              <a:buChar char="•"/>
            </a:pPr>
            <a:r>
              <a:rPr lang="en-US" sz="1700" dirty="0">
                <a:solidFill>
                  <a:srgbClr val="D9D2C7"/>
                </a:solidFill>
                <a:latin typeface="Calibri" pitchFamily="34" charset="0"/>
                <a:ea typeface="Calibri" pitchFamily="34" charset="-122"/>
                <a:cs typeface="Calibri" pitchFamily="34" charset="-120"/>
              </a:rPr>
              <a:t>Une sécurité au niveau des données de santé (RGPD, gestion de crise)</a:t>
            </a:r>
            <a:endParaRPr lang="en-US" sz="1700" dirty="0"/>
          </a:p>
        </p:txBody>
      </p:sp>
      <p:sp>
        <p:nvSpPr>
          <p:cNvPr id="5" name="Text 3"/>
          <p:cNvSpPr/>
          <p:nvPr/>
        </p:nvSpPr>
        <p:spPr>
          <a:xfrm>
            <a:off x="640080" y="5029200"/>
            <a:ext cx="10058400" cy="548640"/>
          </a:xfrm>
          <a:prstGeom prst="rect">
            <a:avLst/>
          </a:prstGeom>
          <a:noFill/>
          <a:ln/>
        </p:spPr>
        <p:txBody>
          <a:bodyPr wrap="square" lIns="0" tIns="0" rIns="0" bIns="0" rtlCol="0" anchor="ctr"/>
          <a:lstStyle/>
          <a:p>
            <a:pPr indent="0" marL="0">
              <a:buNone/>
            </a:pPr>
            <a:r>
              <a:rPr lang="en-US" sz="2200" i="1" dirty="0">
                <a:solidFill>
                  <a:srgbClr val="C3612D"/>
                </a:solidFill>
                <a:latin typeface="Calibri" pitchFamily="34" charset="0"/>
                <a:ea typeface="Calibri" pitchFamily="34" charset="-122"/>
                <a:cs typeface="Calibri" pitchFamily="34" charset="-120"/>
              </a:rPr>
              <a:t>Merci de votre attention</a:t>
            </a:r>
            <a:endParaRPr lang="en-US" sz="2200" dirty="0"/>
          </a:p>
        </p:txBody>
      </p:sp>
      <p:sp>
        <p:nvSpPr>
          <p:cNvPr id="6" name="Text 4"/>
          <p:cNvSpPr/>
          <p:nvPr/>
        </p:nvSpPr>
        <p:spPr>
          <a:xfrm>
            <a:off x="640080" y="6035040"/>
            <a:ext cx="7315200" cy="320040"/>
          </a:xfrm>
          <a:prstGeom prst="rect">
            <a:avLst/>
          </a:prstGeom>
          <a:noFill/>
          <a:ln/>
        </p:spPr>
        <p:txBody>
          <a:bodyPr wrap="square" lIns="0" tIns="0" rIns="0" bIns="0" rtlCol="0" anchor="ctr"/>
          <a:lstStyle/>
          <a:p>
            <a:pPr indent="0" marL="0">
              <a:buNone/>
            </a:pPr>
            <a:r>
              <a:rPr lang="en-US" sz="1200" b="1" spc="200" kern="0" dirty="0">
                <a:solidFill>
                  <a:srgbClr val="8AA595"/>
                </a:solidFill>
                <a:latin typeface="Calibri" pitchFamily="34" charset="0"/>
                <a:ea typeface="Calibri" pitchFamily="34" charset="-122"/>
                <a:cs typeface="Calibri" pitchFamily="34" charset="-120"/>
              </a:rPr>
              <a:t>RENOIR&amp;ALINE  ·  Lisa Drie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Renoir&amp;Aline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Projet CESIZen — Bloc 3</dc:title>
  <dc:subject>PptxGenJS Presentation</dc:subject>
  <dc:creator>Lisa Drie</dc:creator>
  <cp:lastModifiedBy>Lisa Drie</cp:lastModifiedBy>
  <cp:revision>1</cp:revision>
  <dcterms:created xsi:type="dcterms:W3CDTF">2026-07-20T13:47:59Z</dcterms:created>
  <dcterms:modified xsi:type="dcterms:W3CDTF">2026-07-20T13:47:59Z</dcterms:modified>
</cp:coreProperties>
</file>